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eff5d21261e41f1" /><Relationship Type="http://schemas.openxmlformats.org/officeDocument/2006/relationships/extended-properties" Target="/docProps/app.xml" Id="R3c94681bef93475a" /><Relationship Type="http://schemas.openxmlformats.org/officeDocument/2006/relationships/officeDocument" Target="/ppt/presentation.xml" Id="R42266afa8a334d12" /></Relationships>
</file>

<file path=ppt/presentation.xml><?xml version="1.0" encoding="utf-8"?>
<p:presentation xmlns:p="http://schemas.openxmlformats.org/presentationml/2006/main">
  <p:sldMasterIdLst>
    <p:sldMasterId xmlns:r="http://schemas.openxmlformats.org/officeDocument/2006/relationships" id="2147483648" r:id="R59d75e2aecc64c98"/>
  </p:sldMasterIdLst>
  <p:notesMasterIdLst>
    <p:notesMasterId xmlns:r="http://schemas.openxmlformats.org/officeDocument/2006/relationships" r:id="Rde92a5a15938437b"/>
  </p:notesMasterIdLst>
  <p:sldIdLst>
    <p:sldId xmlns:r="http://schemas.openxmlformats.org/officeDocument/2006/relationships" id="256" r:id="Ra5469a870ecf4915"/>
    <p:sldId xmlns:r="http://schemas.openxmlformats.org/officeDocument/2006/relationships" id="257" r:id="R8b889006e26d40db"/>
    <p:sldId xmlns:r="http://schemas.openxmlformats.org/officeDocument/2006/relationships" id="258" r:id="R86fdf157ce694f25"/>
    <p:sldId xmlns:r="http://schemas.openxmlformats.org/officeDocument/2006/relationships" id="259" r:id="Red16a27b6a6c4c5e"/>
    <p:sldId xmlns:r="http://schemas.openxmlformats.org/officeDocument/2006/relationships" id="260" r:id="R3509b85b4a73468c"/>
    <p:sldId xmlns:r="http://schemas.openxmlformats.org/officeDocument/2006/relationships" id="261" r:id="R952c0f6209fa4c3f"/>
    <p:sldId xmlns:r="http://schemas.openxmlformats.org/officeDocument/2006/relationships" id="262" r:id="R60623d8f2c1546be"/>
    <p:sldId xmlns:r="http://schemas.openxmlformats.org/officeDocument/2006/relationships" id="263" r:id="R73f5e44626e3457d"/>
    <p:sldId xmlns:r="http://schemas.openxmlformats.org/officeDocument/2006/relationships" id="264" r:id="R44ff50c9dc464916"/>
    <p:sldId xmlns:r="http://schemas.openxmlformats.org/officeDocument/2006/relationships" id="265" r:id="R0e0b81a6a6ef4e9f"/>
    <p:sldId xmlns:r="http://schemas.openxmlformats.org/officeDocument/2006/relationships" id="266" r:id="Rd56659b358824405"/>
    <p:sldId xmlns:r="http://schemas.openxmlformats.org/officeDocument/2006/relationships" id="267" r:id="R9fb1180b8d004c69"/>
    <p:sldId xmlns:r="http://schemas.openxmlformats.org/officeDocument/2006/relationships" id="268" r:id="R5d66937f984346cd"/>
    <p:sldId xmlns:r="http://schemas.openxmlformats.org/officeDocument/2006/relationships" id="269" r:id="Re854f1c77d1b4405"/>
    <p:sldId xmlns:r="http://schemas.openxmlformats.org/officeDocument/2006/relationships" id="270" r:id="R05261a0802e54e6c"/>
    <p:sldId xmlns:r="http://schemas.openxmlformats.org/officeDocument/2006/relationships" id="271" r:id="R552d94ec8468404c"/>
    <p:sldId xmlns:r="http://schemas.openxmlformats.org/officeDocument/2006/relationships" id="272" r:id="R2fc8571ce545419b"/>
    <p:sldId xmlns:r="http://schemas.openxmlformats.org/officeDocument/2006/relationships" id="273" r:id="Rc02b27053909499e"/>
    <p:sldId xmlns:r="http://schemas.openxmlformats.org/officeDocument/2006/relationships" id="274" r:id="R14bf76f32b074fd1"/>
    <p:sldId xmlns:r="http://schemas.openxmlformats.org/officeDocument/2006/relationships" id="275" r:id="R0c704fbf1b084805"/>
    <p:sldId xmlns:r="http://schemas.openxmlformats.org/officeDocument/2006/relationships" id="276" r:id="Rca6915f4efa4487c"/>
    <p:sldId xmlns:r="http://schemas.openxmlformats.org/officeDocument/2006/relationships" id="277" r:id="R95be81bce9004d91"/>
    <p:sldId xmlns:r="http://schemas.openxmlformats.org/officeDocument/2006/relationships" id="278" r:id="R10ee1cb083174f68"/>
    <p:sldId xmlns:r="http://schemas.openxmlformats.org/officeDocument/2006/relationships" id="279" r:id="Rf938c370a8154319"/>
    <p:sldId xmlns:r="http://schemas.openxmlformats.org/officeDocument/2006/relationships" id="280" r:id="Ra198d94c54734bb8"/>
    <p:sldId xmlns:r="http://schemas.openxmlformats.org/officeDocument/2006/relationships" id="281" r:id="R9637072b9d224cf5"/>
    <p:sldId xmlns:r="http://schemas.openxmlformats.org/officeDocument/2006/relationships" id="282" r:id="R2b44fd7c48a54234"/>
    <p:sldId xmlns:r="http://schemas.openxmlformats.org/officeDocument/2006/relationships" id="283" r:id="R7338200f6df84eea"/>
    <p:sldId xmlns:r="http://schemas.openxmlformats.org/officeDocument/2006/relationships" id="284" r:id="R056f0d12c84046e8"/>
    <p:sldId xmlns:r="http://schemas.openxmlformats.org/officeDocument/2006/relationships" id="285" r:id="R044ac118a44b41e9"/>
    <p:sldId xmlns:r="http://schemas.openxmlformats.org/officeDocument/2006/relationships" id="286" r:id="R9ab560d0c1bb44fe"/>
    <p:sldId xmlns:r="http://schemas.openxmlformats.org/officeDocument/2006/relationships" id="287" r:id="R4a3fafc559324169"/>
    <p:sldId xmlns:r="http://schemas.openxmlformats.org/officeDocument/2006/relationships" id="288" r:id="Rb5b187eb9f3b4857"/>
    <p:sldId xmlns:r="http://schemas.openxmlformats.org/officeDocument/2006/relationships" id="289" r:id="R70529e47345a43ca"/>
    <p:sldId xmlns:r="http://schemas.openxmlformats.org/officeDocument/2006/relationships" id="290" r:id="Rd5ccd5cb634048f3"/>
    <p:sldId xmlns:r="http://schemas.openxmlformats.org/officeDocument/2006/relationships" id="291" r:id="R147e8d511d95401d"/>
    <p:sldId xmlns:r="http://schemas.openxmlformats.org/officeDocument/2006/relationships" id="292" r:id="R57daaf82a5c04269"/>
    <p:sldId xmlns:r="http://schemas.openxmlformats.org/officeDocument/2006/relationships" id="293" r:id="Rb1b631de364244be"/>
    <p:sldId xmlns:r="http://schemas.openxmlformats.org/officeDocument/2006/relationships" id="294" r:id="R83f81c5e343f4fe3"/>
    <p:sldId xmlns:r="http://schemas.openxmlformats.org/officeDocument/2006/relationships" id="295" r:id="Re26dd0b8302847ab"/>
    <p:sldId xmlns:r="http://schemas.openxmlformats.org/officeDocument/2006/relationships" id="296" r:id="R3641350e9fe24665"/>
    <p:sldId xmlns:r="http://schemas.openxmlformats.org/officeDocument/2006/relationships" id="297" r:id="R3576e7ad7c294b26"/>
    <p:sldId xmlns:r="http://schemas.openxmlformats.org/officeDocument/2006/relationships" id="298" r:id="R70679cb4f0b748ba"/>
    <p:sldId xmlns:r="http://schemas.openxmlformats.org/officeDocument/2006/relationships" id="299" r:id="R522fa774c4e9462f"/>
    <p:sldId xmlns:r="http://schemas.openxmlformats.org/officeDocument/2006/relationships" id="300" r:id="R5e38f7e77f144dba"/>
    <p:sldId xmlns:r="http://schemas.openxmlformats.org/officeDocument/2006/relationships" id="301" r:id="R0fe6a1d1a1e7430a"/>
    <p:sldId xmlns:r="http://schemas.openxmlformats.org/officeDocument/2006/relationships" id="302" r:id="R3350626a0b2946cc"/>
    <p:sldId xmlns:r="http://schemas.openxmlformats.org/officeDocument/2006/relationships" id="303" r:id="R77802533c0294ad8"/>
    <p:sldId xmlns:r="http://schemas.openxmlformats.org/officeDocument/2006/relationships" id="304" r:id="R60f153a98a584d4b"/>
    <p:sldId xmlns:r="http://schemas.openxmlformats.org/officeDocument/2006/relationships" id="305" r:id="R0bc25f77c24b44c1"/>
    <p:sldId xmlns:r="http://schemas.openxmlformats.org/officeDocument/2006/relationships" id="306" r:id="Refcd43b4a5b74e6f"/>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8806b34f904eb9" /><Relationship Type="http://schemas.openxmlformats.org/officeDocument/2006/relationships/slideMaster" Target="/ppt/slideMasters/slideMaster1.xml" Id="R59d75e2aecc64c98" /><Relationship Type="http://schemas.openxmlformats.org/officeDocument/2006/relationships/notesMaster" Target="/ppt/notesMasters/notesMaster1.xml" Id="Rde92a5a15938437b" /><Relationship Type="http://schemas.openxmlformats.org/officeDocument/2006/relationships/presProps" Target="/ppt/presProps.xml" Id="R932e2b5af88b41c4" /><Relationship Type="http://schemas.openxmlformats.org/officeDocument/2006/relationships/tableStyles" Target="/ppt/tableStyles.xml" Id="R0037952dae4447a3" /><Relationship Type="http://schemas.openxmlformats.org/officeDocument/2006/relationships/slide" Target="/ppt/slides/slide1.xml" Id="Ra5469a870ecf4915" /><Relationship Type="http://schemas.openxmlformats.org/officeDocument/2006/relationships/slide" Target="/ppt/slides/slide2.xml" Id="R8b889006e26d40db" /><Relationship Type="http://schemas.openxmlformats.org/officeDocument/2006/relationships/slide" Target="/ppt/slides/slide3.xml" Id="R86fdf157ce694f25" /><Relationship Type="http://schemas.openxmlformats.org/officeDocument/2006/relationships/slide" Target="/ppt/slides/slide4.xml" Id="Red16a27b6a6c4c5e" /><Relationship Type="http://schemas.openxmlformats.org/officeDocument/2006/relationships/slide" Target="/ppt/slides/slide5.xml" Id="R3509b85b4a73468c" /><Relationship Type="http://schemas.openxmlformats.org/officeDocument/2006/relationships/slide" Target="/ppt/slides/slide6.xml" Id="R952c0f6209fa4c3f" /><Relationship Type="http://schemas.openxmlformats.org/officeDocument/2006/relationships/slide" Target="/ppt/slides/slide7.xml" Id="R60623d8f2c1546be" /><Relationship Type="http://schemas.openxmlformats.org/officeDocument/2006/relationships/slide" Target="/ppt/slides/slide8.xml" Id="R73f5e44626e3457d" /><Relationship Type="http://schemas.openxmlformats.org/officeDocument/2006/relationships/slide" Target="/ppt/slides/slide9.xml" Id="R44ff50c9dc464916" /><Relationship Type="http://schemas.openxmlformats.org/officeDocument/2006/relationships/slide" Target="/ppt/slides/slide10.xml" Id="R0e0b81a6a6ef4e9f" /><Relationship Type="http://schemas.openxmlformats.org/officeDocument/2006/relationships/slide" Target="/ppt/slides/slide11.xml" Id="Rd56659b358824405" /><Relationship Type="http://schemas.openxmlformats.org/officeDocument/2006/relationships/slide" Target="/ppt/slides/slide12.xml" Id="R9fb1180b8d004c69" /><Relationship Type="http://schemas.openxmlformats.org/officeDocument/2006/relationships/slide" Target="/ppt/slides/slide13.xml" Id="R5d66937f984346cd" /><Relationship Type="http://schemas.openxmlformats.org/officeDocument/2006/relationships/slide" Target="/ppt/slides/slide14.xml" Id="Re854f1c77d1b4405" /><Relationship Type="http://schemas.openxmlformats.org/officeDocument/2006/relationships/slide" Target="/ppt/slides/slide15.xml" Id="R05261a0802e54e6c" /><Relationship Type="http://schemas.openxmlformats.org/officeDocument/2006/relationships/slide" Target="/ppt/slides/slide16.xml" Id="R552d94ec8468404c" /><Relationship Type="http://schemas.openxmlformats.org/officeDocument/2006/relationships/slide" Target="/ppt/slides/slide17.xml" Id="R2fc8571ce545419b" /><Relationship Type="http://schemas.openxmlformats.org/officeDocument/2006/relationships/slide" Target="/ppt/slides/slide18.xml" Id="Rc02b27053909499e" /><Relationship Type="http://schemas.openxmlformats.org/officeDocument/2006/relationships/slide" Target="/ppt/slides/slide19.xml" Id="R14bf76f32b074fd1" /><Relationship Type="http://schemas.openxmlformats.org/officeDocument/2006/relationships/slide" Target="/ppt/slides/slide20.xml" Id="R0c704fbf1b084805" /><Relationship Type="http://schemas.openxmlformats.org/officeDocument/2006/relationships/slide" Target="/ppt/slides/slide21.xml" Id="Rca6915f4efa4487c" /><Relationship Type="http://schemas.openxmlformats.org/officeDocument/2006/relationships/slide" Target="/ppt/slides/slide22.xml" Id="R95be81bce9004d91" /><Relationship Type="http://schemas.openxmlformats.org/officeDocument/2006/relationships/slide" Target="/ppt/slides/slide23.xml" Id="R10ee1cb083174f68" /><Relationship Type="http://schemas.openxmlformats.org/officeDocument/2006/relationships/slide" Target="/ppt/slides/slide24.xml" Id="Rf938c370a8154319" /><Relationship Type="http://schemas.openxmlformats.org/officeDocument/2006/relationships/slide" Target="/ppt/slides/slide25.xml" Id="Ra198d94c54734bb8" /><Relationship Type="http://schemas.openxmlformats.org/officeDocument/2006/relationships/slide" Target="/ppt/slides/slide26.xml" Id="R9637072b9d224cf5" /><Relationship Type="http://schemas.openxmlformats.org/officeDocument/2006/relationships/slide" Target="/ppt/slides/slide27.xml" Id="R2b44fd7c48a54234" /><Relationship Type="http://schemas.openxmlformats.org/officeDocument/2006/relationships/slide" Target="/ppt/slides/slide28.xml" Id="R7338200f6df84eea" /><Relationship Type="http://schemas.openxmlformats.org/officeDocument/2006/relationships/slide" Target="/ppt/slides/slide29.xml" Id="R056f0d12c84046e8" /><Relationship Type="http://schemas.openxmlformats.org/officeDocument/2006/relationships/slide" Target="/ppt/slides/slide30.xml" Id="R044ac118a44b41e9" /><Relationship Type="http://schemas.openxmlformats.org/officeDocument/2006/relationships/slide" Target="/ppt/slides/slide31.xml" Id="R9ab560d0c1bb44fe" /><Relationship Type="http://schemas.openxmlformats.org/officeDocument/2006/relationships/slide" Target="/ppt/slides/slide32.xml" Id="R4a3fafc559324169" /><Relationship Type="http://schemas.openxmlformats.org/officeDocument/2006/relationships/slide" Target="/ppt/slides/slide33.xml" Id="Rb5b187eb9f3b4857" /><Relationship Type="http://schemas.openxmlformats.org/officeDocument/2006/relationships/slide" Target="/ppt/slides/slide34.xml" Id="R70529e47345a43ca" /><Relationship Type="http://schemas.openxmlformats.org/officeDocument/2006/relationships/slide" Target="/ppt/slides/slide35.xml" Id="Rd5ccd5cb634048f3" /><Relationship Type="http://schemas.openxmlformats.org/officeDocument/2006/relationships/slide" Target="/ppt/slides/slide36.xml" Id="R147e8d511d95401d" /><Relationship Type="http://schemas.openxmlformats.org/officeDocument/2006/relationships/slide" Target="/ppt/slides/slide37.xml" Id="R57daaf82a5c04269" /><Relationship Type="http://schemas.openxmlformats.org/officeDocument/2006/relationships/slide" Target="/ppt/slides/slide38.xml" Id="Rb1b631de364244be" /><Relationship Type="http://schemas.openxmlformats.org/officeDocument/2006/relationships/slide" Target="/ppt/slides/slide39.xml" Id="R83f81c5e343f4fe3" /><Relationship Type="http://schemas.openxmlformats.org/officeDocument/2006/relationships/slide" Target="/ppt/slides/slide40.xml" Id="Re26dd0b8302847ab" /><Relationship Type="http://schemas.openxmlformats.org/officeDocument/2006/relationships/slide" Target="/ppt/slides/slide41.xml" Id="R3641350e9fe24665" /><Relationship Type="http://schemas.openxmlformats.org/officeDocument/2006/relationships/slide" Target="/ppt/slides/slide42.xml" Id="R3576e7ad7c294b26" /><Relationship Type="http://schemas.openxmlformats.org/officeDocument/2006/relationships/slide" Target="/ppt/slides/slide43.xml" Id="R70679cb4f0b748ba" /><Relationship Type="http://schemas.openxmlformats.org/officeDocument/2006/relationships/slide" Target="/ppt/slides/slide44.xml" Id="R522fa774c4e9462f" /><Relationship Type="http://schemas.openxmlformats.org/officeDocument/2006/relationships/slide" Target="/ppt/slides/slide45.xml" Id="R5e38f7e77f144dba" /><Relationship Type="http://schemas.openxmlformats.org/officeDocument/2006/relationships/slide" Target="/ppt/slides/slide46.xml" Id="R0fe6a1d1a1e7430a" /><Relationship Type="http://schemas.openxmlformats.org/officeDocument/2006/relationships/slide" Target="/ppt/slides/slide47.xml" Id="R3350626a0b2946cc" /><Relationship Type="http://schemas.openxmlformats.org/officeDocument/2006/relationships/slide" Target="/ppt/slides/slide48.xml" Id="R77802533c0294ad8" /><Relationship Type="http://schemas.openxmlformats.org/officeDocument/2006/relationships/slide" Target="/ppt/slides/slide49.xml" Id="R60f153a98a584d4b" /><Relationship Type="http://schemas.openxmlformats.org/officeDocument/2006/relationships/slide" Target="/ppt/slides/slide50.xml" Id="R0bc25f77c24b44c1" /><Relationship Type="http://schemas.openxmlformats.org/officeDocument/2006/relationships/slide" Target="/ppt/slides/slide51.xml" Id="Refcd43b4a5b74e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a19fb6fc224a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FloodSense Defense">
      <a:dk1>
        <a:srgbClr val="000000"/>
      </a:dk1>
      <a:lt1>
        <a:srgbClr val="FFFFFF"/>
      </a:lt1>
      <a:dk2>
        <a:srgbClr val="182B45"/>
      </a:dk2>
      <a:lt2>
        <a:srgbClr val="E8EEF5"/>
      </a:lt2>
      <a:accent1>
        <a:srgbClr val="164E91"/>
      </a:accent1>
      <a:accent2>
        <a:srgbClr val="EDC54A"/>
      </a:accent2>
      <a:accent3>
        <a:srgbClr val="447AA9"/>
      </a:accent3>
      <a:accent4>
        <a:srgbClr val="7F99B5"/>
      </a:accent4>
      <a:accent5>
        <a:srgbClr val="B8C8D9"/>
      </a:accent5>
      <a:accent6>
        <a:srgbClr val="64768D"/>
      </a:accent6>
      <a:hlink>
        <a:srgbClr val="164E91"/>
      </a:hlink>
      <a:folHlink>
        <a:srgbClr val="164E91"/>
      </a:folHlink>
    </a:clrScheme>
    <a:fontScheme name="">
      <a:majorFont>
        <a:latin typeface="Arial"/>
        <a:ea typeface=""/>
        <a:cs typeface=""/>
      </a:majorFont>
      <a:minorFont>
        <a:latin typeface="Arial"/>
        <a:ea typeface=""/>
        <a:cs typeface=""/>
      </a:minorFont>
    </a:fontScheme>
    <a:fmtScheme name="FloodSense Defen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2d125063b84d8a" /><Relationship Type="http://schemas.openxmlformats.org/officeDocument/2006/relationships/notesMaster" Target="/ppt/notesMasters/notesMaster1.xml" Id="R184cfbea55a04e5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2e8907ebad40b4" /><Relationship Type="http://schemas.openxmlformats.org/officeDocument/2006/relationships/notesMaster" Target="/ppt/notesMasters/notesMaster1.xml" Id="R3582df72978f4f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7713ae8d5f4013" /><Relationship Type="http://schemas.openxmlformats.org/officeDocument/2006/relationships/notesMaster" Target="/ppt/notesMasters/notesMaster1.xml" Id="Rc60894915a784f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1c670d5359446d" /><Relationship Type="http://schemas.openxmlformats.org/officeDocument/2006/relationships/notesMaster" Target="/ppt/notesMasters/notesMaster1.xml" Id="Rdf27d34ad92949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82f41d60634590" /><Relationship Type="http://schemas.openxmlformats.org/officeDocument/2006/relationships/notesMaster" Target="/ppt/notesMasters/notesMaster1.xml" Id="R2e3f94e8d72047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ed66f164514d47" /><Relationship Type="http://schemas.openxmlformats.org/officeDocument/2006/relationships/notesMaster" Target="/ppt/notesMasters/notesMaster1.xml" Id="Radb23c86ed3043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8f019d6570f4d4c" /><Relationship Type="http://schemas.openxmlformats.org/officeDocument/2006/relationships/notesMaster" Target="/ppt/notesMasters/notesMaster1.xml" Id="R40d09757a9344d2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a40d62eff14fbd" /><Relationship Type="http://schemas.openxmlformats.org/officeDocument/2006/relationships/notesMaster" Target="/ppt/notesMasters/notesMaster1.xml" Id="R9b984428d6f545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209b34f15b74631" /><Relationship Type="http://schemas.openxmlformats.org/officeDocument/2006/relationships/notesMaster" Target="/ppt/notesMasters/notesMaster1.xml" Id="Re94134bcf05e4f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5e2de8dd534f09" /><Relationship Type="http://schemas.openxmlformats.org/officeDocument/2006/relationships/notesMaster" Target="/ppt/notesMasters/notesMaster1.xml" Id="R703f8e537ec444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de5292028e4317" /><Relationship Type="http://schemas.openxmlformats.org/officeDocument/2006/relationships/notesMaster" Target="/ppt/notesMasters/notesMaster1.xml" Id="Reedd9e680db044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95ae45304f4cea" /><Relationship Type="http://schemas.openxmlformats.org/officeDocument/2006/relationships/notesMaster" Target="/ppt/notesMasters/notesMaster1.xml" Id="R15d0983b3503402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cd94efdf3e4f80" /><Relationship Type="http://schemas.openxmlformats.org/officeDocument/2006/relationships/notesMaster" Target="/ppt/notesMasters/notesMaster1.xml" Id="R77f7aa39df7b44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b9bea63f24a4673" /><Relationship Type="http://schemas.openxmlformats.org/officeDocument/2006/relationships/notesMaster" Target="/ppt/notesMasters/notesMaster1.xml" Id="R7bcc257d5d384f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b88a0ab2e674098" /><Relationship Type="http://schemas.openxmlformats.org/officeDocument/2006/relationships/notesMaster" Target="/ppt/notesMasters/notesMaster1.xml" Id="R38260298297d48c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678aad3708644ad" /><Relationship Type="http://schemas.openxmlformats.org/officeDocument/2006/relationships/notesMaster" Target="/ppt/notesMasters/notesMaster1.xml" Id="Rf2982e2d813e41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e8bfe1ea784db2" /><Relationship Type="http://schemas.openxmlformats.org/officeDocument/2006/relationships/notesMaster" Target="/ppt/notesMasters/notesMaster1.xml" Id="R775ffe08442241a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1032cae9b51402a" /><Relationship Type="http://schemas.openxmlformats.org/officeDocument/2006/relationships/notesMaster" Target="/ppt/notesMasters/notesMaster1.xml" Id="R16de1b19a78245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56a7e4efa54414f" /><Relationship Type="http://schemas.openxmlformats.org/officeDocument/2006/relationships/notesMaster" Target="/ppt/notesMasters/notesMaster1.xml" Id="Rebb07c0b99c04f1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aa73b61e6e4313" /><Relationship Type="http://schemas.openxmlformats.org/officeDocument/2006/relationships/notesMaster" Target="/ppt/notesMasters/notesMaster1.xml" Id="Re32dd0224d4e43c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cc6d92a8fdd4d40" /><Relationship Type="http://schemas.openxmlformats.org/officeDocument/2006/relationships/notesMaster" Target="/ppt/notesMasters/notesMaster1.xml" Id="R1fd1bc1c6a3f499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6b330aa4dc548b8" /><Relationship Type="http://schemas.openxmlformats.org/officeDocument/2006/relationships/notesMaster" Target="/ppt/notesMasters/notesMaster1.xml" Id="Rcaab6bb74ee9436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21bc1f9d32b4f0d" /><Relationship Type="http://schemas.openxmlformats.org/officeDocument/2006/relationships/notesMaster" Target="/ppt/notesMasters/notesMaster1.xml" Id="R0dd5fe12a31b44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d59930be1fb435e" /><Relationship Type="http://schemas.openxmlformats.org/officeDocument/2006/relationships/notesMaster" Target="/ppt/notesMasters/notesMaster1.xml" Id="R2a9b195aee414bf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5921f4a903a4368" /><Relationship Type="http://schemas.openxmlformats.org/officeDocument/2006/relationships/notesMaster" Target="/ppt/notesMasters/notesMaster1.xml" Id="Rd143deea1a3a46a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73bb6e43bd24dc4" /><Relationship Type="http://schemas.openxmlformats.org/officeDocument/2006/relationships/notesMaster" Target="/ppt/notesMasters/notesMaster1.xml" Id="R55b24f099dd9441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71d5aaf49d44659" /><Relationship Type="http://schemas.openxmlformats.org/officeDocument/2006/relationships/notesMaster" Target="/ppt/notesMasters/notesMaster1.xml" Id="R2659bb9b42c2469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464a4c117334385" /><Relationship Type="http://schemas.openxmlformats.org/officeDocument/2006/relationships/notesMaster" Target="/ppt/notesMasters/notesMaster1.xml" Id="R8e804d18e4c34c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01a02c00994bb8" /><Relationship Type="http://schemas.openxmlformats.org/officeDocument/2006/relationships/notesMaster" Target="/ppt/notesMasters/notesMaster1.xml" Id="R72caa4061a1148c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c7aeacb6a884d12" /><Relationship Type="http://schemas.openxmlformats.org/officeDocument/2006/relationships/notesMaster" Target="/ppt/notesMasters/notesMaster1.xml" Id="R51d3a970535a49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c2b0ad830de42d8" /><Relationship Type="http://schemas.openxmlformats.org/officeDocument/2006/relationships/notesMaster" Target="/ppt/notesMasters/notesMaster1.xml" Id="R4ee8363ac28046f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db412824ab94f2e" /><Relationship Type="http://schemas.openxmlformats.org/officeDocument/2006/relationships/notesMaster" Target="/ppt/notesMasters/notesMaster1.xml" Id="R4e9c4ae5952344c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61cb487f5744a9b" /><Relationship Type="http://schemas.openxmlformats.org/officeDocument/2006/relationships/notesMaster" Target="/ppt/notesMasters/notesMaster1.xml" Id="Rbb593eda5b31431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4aa9a823e9a4cfe" /><Relationship Type="http://schemas.openxmlformats.org/officeDocument/2006/relationships/notesMaster" Target="/ppt/notesMasters/notesMaster1.xml" Id="R66e7d278fb48424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69b072af90f48fd" /><Relationship Type="http://schemas.openxmlformats.org/officeDocument/2006/relationships/notesMaster" Target="/ppt/notesMasters/notesMaster1.xml" Id="R3f51ffda6ad3460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0cae0c706a843d1" /><Relationship Type="http://schemas.openxmlformats.org/officeDocument/2006/relationships/notesMaster" Target="/ppt/notesMasters/notesMaster1.xml" Id="Rba0736d19d3c44e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21d8a94bdb04f49" /><Relationship Type="http://schemas.openxmlformats.org/officeDocument/2006/relationships/notesMaster" Target="/ppt/notesMasters/notesMaster1.xml" Id="R235e14b736ef4a4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8a4a6a0eca04743" /><Relationship Type="http://schemas.openxmlformats.org/officeDocument/2006/relationships/notesMaster" Target="/ppt/notesMasters/notesMaster1.xml" Id="Rb10f038c1b604b1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4424a6affe24f5a" /><Relationship Type="http://schemas.openxmlformats.org/officeDocument/2006/relationships/notesMaster" Target="/ppt/notesMasters/notesMaster1.xml" Id="Rca69d409c3b942b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7490b93f5c645a3" /><Relationship Type="http://schemas.openxmlformats.org/officeDocument/2006/relationships/notesMaster" Target="/ppt/notesMasters/notesMaster1.xml" Id="R5c57184460aa4b0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b0410fce47b443a" /><Relationship Type="http://schemas.openxmlformats.org/officeDocument/2006/relationships/notesMaster" Target="/ppt/notesMasters/notesMaster1.xml" Id="Rf5f29c1d69eb45c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67f6ac09fc24723" /><Relationship Type="http://schemas.openxmlformats.org/officeDocument/2006/relationships/notesMaster" Target="/ppt/notesMasters/notesMaster1.xml" Id="R67612a3998024ff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3379ee960484944" /><Relationship Type="http://schemas.openxmlformats.org/officeDocument/2006/relationships/notesMaster" Target="/ppt/notesMasters/notesMaster1.xml" Id="R0bb8e3ea8bfa4ae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c5a33fa7e20442a" /><Relationship Type="http://schemas.openxmlformats.org/officeDocument/2006/relationships/notesMaster" Target="/ppt/notesMasters/notesMaster1.xml" Id="Reb195469cff54b9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5139d37c4074741" /><Relationship Type="http://schemas.openxmlformats.org/officeDocument/2006/relationships/notesMaster" Target="/ppt/notesMasters/notesMaster1.xml" Id="R2e6678043916400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03e151a2b4949f3" /><Relationship Type="http://schemas.openxmlformats.org/officeDocument/2006/relationships/notesMaster" Target="/ppt/notesMasters/notesMaster1.xml" Id="R2a097942f2024a9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1f64daaf00646e3" /><Relationship Type="http://schemas.openxmlformats.org/officeDocument/2006/relationships/notesMaster" Target="/ppt/notesMasters/notesMaster1.xml" Id="Rd70ce14fa014476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f97a88a6437445b" /><Relationship Type="http://schemas.openxmlformats.org/officeDocument/2006/relationships/notesMaster" Target="/ppt/notesMasters/notesMaster1.xml" Id="Rab05eac2e029467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667c598dc3c45e7" /><Relationship Type="http://schemas.openxmlformats.org/officeDocument/2006/relationships/notesMaster" Target="/ppt/notesMasters/notesMaster1.xml" Id="Race7f6785d36479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26629787c1c4397" /><Relationship Type="http://schemas.openxmlformats.org/officeDocument/2006/relationships/notesMaster" Target="/ppt/notesMasters/notesMaster1.xml" Id="R28602e705be04d1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05cd5a1360e4384" /><Relationship Type="http://schemas.openxmlformats.org/officeDocument/2006/relationships/notesMaster" Target="/ppt/notesMasters/notesMaster1.xml" Id="Rbac4f35d16a944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research as an Android-based expert system for scenario-based susceptibility assessment and pre-event preparedness in Bacoor City. The research covers needs identification, requirements, development, technical testing, and a planned product-quality evaluation. Formal intended-user evaluation and deployment have not been completed. The manuscript names Mr. Edan A. Belgica as supervisor.</a:t>
            </a:r>
          </a:p>
          <a:p xmlns:a="http://schemas.openxmlformats.org/drawingml/2006/main">
            <a:r>
              <a:t/>
            </a:r>
          </a:p>
          <a:p xmlns:a="http://schemas.openxmlformats.org/drawingml/2006/main">
            <a:r>
              <a:t>Source: E:\School Downloads-Jiraah\00 FILES IN SCHOOL\3RD YEAR 2ND SEM\DCIT 60\FLOODSENSE\1.FLOODSENSE-200A\FloodSense\1. FLOODSENSE-MAIN\WORKING_REVISION_2026-10-11\FloodSense_Chapters_1_to_3_Introduction_Chapter2_Working_Revision_2026-10-12.docx, title page and Chapter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Households make decisions before water is visible: protecting belongings, adjusting travel, or preparing assistance. Rainfall interacts with geographic conditions, and broad updates cannot describe every location. The Cavite context includes the Imus River Basin facilities described by JICA. Our research concerns how residents interpret information before a possible flood, within a scenario-based support system.</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completed initial survey collected responses on October 11, 2026, through Google Forms and face-to-face collection. Participants consented, were adults, lived in Bacoor City, and reported flood or heavy-rainfall effects within the reference period. Fourteen barangays were represented; 28 respondents came from Niog and the three Zapote barangays. The sample is purposive and describes this group only. Respondents did not use or rate the application.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exact groupings behind the indicators. Needed information: 29 of 40 reported difficulty or usually could not obtain it. Pre-event decisions: 30 said inadequate information often or always affected decisions. Local susceptibility: 30 reported difficulty determining it or did not know how. Center information: 33 reported difficulty locating verified information or did not know where to find it. These are needs-assessment responses, not measures of application performance or all Bacoor residents.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questions with their problem-first focus. The first concerns information access and decisions, the second concerns interpretation for a location, and the third concerns actionable preparation and center references. The supporting fishbones group reported conditions rather than proven causes. The questions collectively inform the five objective fields.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first two of five objective fields. Needs identification covers reported flood experiences, information-access problems, preparedness needs, and technology conditions. Requirements determination brings resident responses together with institutional and documentary evidence, including authority, provenance, privacy, and administration. Several SOP questions reasonably contribute to each objective.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3 develops the resident application and the permission-controlled administration interface through Evolutionary Prototyping. Major functions group capabilities rather than creating an objective for every feature. The stack is Flutter/Dart, Python/Django/DRF, and PostgreSQL/PostGIS. Scope inclusion is not proof of local data validation or production deployment.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 4 concerns functional and technical checks with an Android smartphone and laptop. Objective 5 concerns selected product-quality characteristics after intended participants complete defined application-use tasks using an approved ISO/IEC 25010-based instrument. Formal post-use evaluation has not occurred, so do not claim usability, acceptance, or product-quality scores.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Residents use the application to confirm inputs, request an explained result, view geographic context, and access preparation information. Authorized personnel manage governed references and content. BDRRMO and CPDCO remain institutional sources and reviewers within their actual authority. Future researchers may use the documented methods and validation boundaries, but another locality requires renewed evidence.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rainfall scenario is hypothetical: the resident chooses or confirms rainfall intensity and duration rather than receiving automatic rainfall observations. Location may come from a barangay choice, map pin, or optional one-time foreground location. The user confirms the resolved area and explicitly requests assessment. The result includes its basis and geographic context; guidance supports preparation without modifying the class.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exact six module names from the theoretical framework. Authentication controls identity and access. Inputs capture user-confirmed facts. Assessment applies deterministic rules. Map and Results presents the class and explanation. Preparedness Decision Support supplies source-backed guidance and center records without changing the class. Administration and Data Governance manages permitted information and audit records. Technology names support these modules rather than becoming extra conceptual modules.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scope concerns supported Bacoor City areas, an Android resident application, and a browser-based administration system. The connected assessment, map, and center functions require internet access. Foreground location is optional and does not track residents in the background. The 47-barangay layer serves as an administrative reference, not an official susceptibility dataset.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does not issue official forecasts, warnings, or evacuation orders. Evacuation-center records and straight-line rankings do not establish live occupancy, opening status, capacity, or road safety. Geographic and algorithmic authority requires appropriate sources and scientific/institutional review. When supporting evidence is insufficient, the system may return insufficient information instead of a class. Ordinary administrators cannot modify raw rules, priorities, conflict handling, or algorithm code.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publication distinguishes process, outcome, and impact validation. It provides a framework for judging assessment credibility, not Bacoor-specific parameters. Explain why repeatable computation and successful geometry checks do not establish scientific or institutional validation.</a:t>
            </a:r>
          </a:p>
          <a:p xmlns:a="http://schemas.openxmlformats.org/drawingml/2006/main">
            <a:r>
              <a:t/>
            </a:r>
          </a:p>
          <a:p xmlns:a="http://schemas.openxmlformats.org/drawingml/2006/main">
            <a:r>
              <a:t>Complete publication and citation:</a:t>
            </a:r>
          </a:p>
          <a:p xmlns:a="http://schemas.openxmlformats.org/drawingml/2006/main">
            <a:r>
              <a:t>Merz, B., Blöschl, G., Jüpner, R., Kreibich, H., Schröter, K., &amp; Vorogushyn, S. (2024). Invited perspectives: Safeguarding the usability and credibility of flood hazard and risk assessments. Natural Hazards and Earth System Sciences, 24, 4015-4030. https://doi.org/10.5194/nhess-24-4015-2024</a:t>
            </a:r>
          </a:p>
          <a:p xmlns:a="http://schemas.openxmlformats.org/drawingml/2006/main">
            <a:r>
              <a:t/>
            </a:r>
          </a:p>
          <a:p xmlns:a="http://schemas.openxmlformats.org/drawingml/2006/main">
            <a:r>
              <a:t>Connection to the proposed study: Document provenance and seek expert review. A valid polygon alone cannot establish a credible susceptibility class.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literature about rule-based decision support in health care. The review found uneven use of standards and limited evidence of evaluated clinical outcomes. Its architectural concepts inform explainability, but its domain rules, outcomes, and evaluation evidence do not transfer to Bacoor flooding.</a:t>
            </a:r>
          </a:p>
          <a:p xmlns:a="http://schemas.openxmlformats.org/drawingml/2006/main">
            <a:r>
              <a:t/>
            </a:r>
          </a:p>
          <a:p xmlns:a="http://schemas.openxmlformats.org/drawingml/2006/main">
            <a:r>
              <a:t>Complete publication and citation:</a:t>
            </a:r>
          </a:p>
          <a:p xmlns:a="http://schemas.openxmlformats.org/drawingml/2006/main">
            <a:r>
              <a:t>Papadopoulos, P., Soflano, M., Chaudy, Y., Adejo, W., &amp; Connolly, T. M. (2022). A systematic review of technologies and standards used in the development of rule-based clinical decision support systems. Health and Technology, 12, 713-727. https://doi.org/10.1007/s12553-022-00672-9</a:t>
            </a:r>
          </a:p>
          <a:p xmlns:a="http://schemas.openxmlformats.org/drawingml/2006/main">
            <a:r>
              <a:t/>
            </a:r>
          </a:p>
          <a:p xmlns:a="http://schemas.openxmlformats.org/drawingml/2006/main">
            <a:r>
              <a:t>Connection to the proposed study: Explain the rule basis of a susceptibility result. Clinical rules and clinical outcomes cannot validate flood assessments.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also examined mass media, citizen science, and social media. Many reviewed outlets addressed short-term information needs. The paper supplies communication principles, not a universal guidance formula or locally validated susceptibility rules. Our guidance does not convert the assessment into an official forecast.</a:t>
            </a:r>
          </a:p>
          <a:p xmlns:a="http://schemas.openxmlformats.org/drawingml/2006/main">
            <a:r>
              <a:t/>
            </a:r>
          </a:p>
          <a:p xmlns:a="http://schemas.openxmlformats.org/drawingml/2006/main">
            <a:r>
              <a:t>Complete publication and citation:</a:t>
            </a:r>
          </a:p>
          <a:p xmlns:a="http://schemas.openxmlformats.org/drawingml/2006/main">
            <a:r>
              <a:t>Mostafiz, R. B., Rohli, R. V., Friedland, C. J., &amp; Lee, Y.-C. (2022). Actionable information in flood risk communications and the potential for new web-based tools for long-term planning for individuals and community. Frontiers in Earth Science, 10, 840250. https://doi.org/10.3389/feart.2022.840250</a:t>
            </a:r>
          </a:p>
          <a:p xmlns:a="http://schemas.openxmlformats.org/drawingml/2006/main">
            <a:r>
              <a:t/>
            </a:r>
          </a:p>
          <a:p xmlns:a="http://schemas.openxmlformats.org/drawingml/2006/main">
            <a:r>
              <a:t>Connection to the proposed study: Pair understandable assessment context with preparedness guidance that helps residents consider protective actions.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technical documentation, not a system evaluation or an SDLC. Spatial storage and validity functions support the application, but neither a stored polygon nor a successful geometry check establishes institutional authority or scientific validity.</a:t>
            </a:r>
          </a:p>
          <a:p xmlns:a="http://schemas.openxmlformats.org/drawingml/2006/main">
            <a:r>
              <a:t/>
            </a:r>
          </a:p>
          <a:p xmlns:a="http://schemas.openxmlformats.org/drawingml/2006/main">
            <a:r>
              <a:t>Complete publication and citation:</a:t>
            </a:r>
          </a:p>
          <a:p xmlns:a="http://schemas.openxmlformats.org/drawingml/2006/main">
            <a:r>
              <a:t>PostGIS Development Group. (2025). PostGIS 3.6.0 manual. https://postgis.net/stuff/postgis-3.6.0-en.pdf</a:t>
            </a:r>
          </a:p>
          <a:p xmlns:a="http://schemas.openxmlformats.org/drawingml/2006/main">
            <a:r>
              <a:t/>
            </a:r>
          </a:p>
          <a:p xmlns:a="http://schemas.openxmlformats.org/drawingml/2006/main">
            <a:r>
              <a:t>Connection to the proposed study: Relate selected locations to geographic records while preserving identifiers, provenance, and authorization controls.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documentation concerns platform behavior and permission practices. It does not guarantee device accuracy or correct barangay resolution. Resident confirmation, boundary quality, and implementation behavior still require appropriate checks.</a:t>
            </a:r>
          </a:p>
          <a:p xmlns:a="http://schemas.openxmlformats.org/drawingml/2006/main">
            <a:r>
              <a:t/>
            </a:r>
          </a:p>
          <a:p xmlns:a="http://schemas.openxmlformats.org/drawingml/2006/main">
            <a:r>
              <a:t>Complete publication and citation:</a:t>
            </a:r>
          </a:p>
          <a:p xmlns:a="http://schemas.openxmlformats.org/drawingml/2006/main">
            <a:r>
              <a:t>Android Developers. (2026). Request location permissions. https://developer.android.com/develop/sensors-and-location/location/permissions</a:t>
            </a:r>
          </a:p>
          <a:p xmlns:a="http://schemas.openxmlformats.org/drawingml/2006/main">
            <a:r>
              <a:t/>
            </a:r>
          </a:p>
          <a:p xmlns:a="http://schemas.openxmlformats.org/drawingml/2006/main">
            <a:r>
              <a:t>Connection to the proposed study: Make location permission optional during assessment and preserve barangay selection and map-pin alternatives.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location was Barangay Bukang Liwayway, Kibawe, Bukidnon. The publication described remotely sensed land-cover inputs and field checks with residents. It remains in the manuscript’s Related Local Literature category. Its terrain, observations, factors, and validation differ from urban Bacoor conditions.</a:t>
            </a:r>
          </a:p>
          <a:p xmlns:a="http://schemas.openxmlformats.org/drawingml/2006/main">
            <a:r>
              <a:t/>
            </a:r>
          </a:p>
          <a:p xmlns:a="http://schemas.openxmlformats.org/drawingml/2006/main">
            <a:r>
              <a:t>Complete publication and citation:</a:t>
            </a:r>
          </a:p>
          <a:p xmlns:a="http://schemas.openxmlformats.org/drawingml/2006/main">
            <a:r>
              <a:t>Puno, G. R., Olpenda, A. S., Puno, R. C. C., Aguinsatan, R. G., Lacandula, L. F., Maghuyop, I. V., &amp; Villar, R. G. (2022). GIS-based mapping of flashflood susceptible areas in Bukang Liwayway, Kibawe, Bukidnon. Central Mindanao University Journal of Science, 26(1), 19-29. https://doi.org/10.52751/bwyx7405</a:t>
            </a:r>
          </a:p>
          <a:p xmlns:a="http://schemas.openxmlformats.org/drawingml/2006/main">
            <a:r>
              <a:t/>
            </a:r>
          </a:p>
          <a:p xmlns:a="http://schemas.openxmlformats.org/drawingml/2006/main">
            <a:r>
              <a:t>Connection to the proposed study: Use local evidence to support geographic classification. Bukidnon weights and results cannot be adopted directly for Bacoor.</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account explains storm-runoff storage and flood mitigation in low-lying tributary areas. It supplies geographic context, not household exposure estimates, a resident-system evaluation, or Bacoor assessment rules.</a:t>
            </a:r>
          </a:p>
          <a:p xmlns:a="http://schemas.openxmlformats.org/drawingml/2006/main">
            <a:r>
              <a:t/>
            </a:r>
          </a:p>
          <a:p xmlns:a="http://schemas.openxmlformats.org/drawingml/2006/main">
            <a:r>
              <a:t>Complete publication and citation:</a:t>
            </a:r>
          </a:p>
          <a:p xmlns:a="http://schemas.openxmlformats.org/drawingml/2006/main">
            <a:r>
              <a:t>Japan International Cooperation Agency. (2021, October 1). Flood risk protection project in Cavite inaugurated. https://www.jica.go.jp/english/overseas/philippine/information/press/2021/211001.html</a:t>
            </a:r>
          </a:p>
          <a:p xmlns:a="http://schemas.openxmlformats.org/drawingml/2006/main">
            <a:r>
              <a:t/>
            </a:r>
          </a:p>
          <a:p xmlns:a="http://schemas.openxmlformats.org/drawingml/2006/main">
            <a:r>
              <a:t>Connection to the proposed study: Ground the research in Cavite’s watershed and infrastructure context without treating the report as local assessment data.</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publication is an institutional article, not an IMRaD evaluation of UP NOAH. It does not identify a software-development model or Bacoor-specific assessment rules. It also does not establish that NOAH data were incorporated into FloodSense.</a:t>
            </a:r>
          </a:p>
          <a:p xmlns:a="http://schemas.openxmlformats.org/drawingml/2006/main">
            <a:r>
              <a:t/>
            </a:r>
          </a:p>
          <a:p xmlns:a="http://schemas.openxmlformats.org/drawingml/2006/main">
            <a:r>
              <a:t>Complete publication and citation:</a:t>
            </a:r>
          </a:p>
          <a:p xmlns:a="http://schemas.openxmlformats.org/drawingml/2006/main">
            <a:r>
              <a:t>Dabu, F. (2024, March 11). UP and the fight for climate justice. University of the Philippines. https://up.edu.ph/up-and-the-fight-for-climate-justice/</a:t>
            </a:r>
          </a:p>
          <a:p xmlns:a="http://schemas.openxmlformats.org/drawingml/2006/main">
            <a:r>
              <a:t/>
            </a:r>
          </a:p>
          <a:p xmlns:a="http://schemas.openxmlformats.org/drawingml/2006/main">
            <a:r>
              <a:t>Connection to the proposed study: Use accessible map-based communication as inspiration while retaining the proposed system’s research scope and data limits.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cited source is platform documentation about HazardHunterPH within GeoRisk Philippines. Its relevance is transparent source attribution and geographic presentation. It is not a peer-reviewed system study with a transferable evaluation method. The 47-barangay reference layer does not become an official hazard map through geometry validation.</a:t>
            </a:r>
          </a:p>
          <a:p xmlns:a="http://schemas.openxmlformats.org/drawingml/2006/main">
            <a:r>
              <a:t/>
            </a:r>
          </a:p>
          <a:p xmlns:a="http://schemas.openxmlformats.org/drawingml/2006/main">
            <a:r>
              <a:t>Complete publication and citation:</a:t>
            </a:r>
          </a:p>
          <a:p xmlns:a="http://schemas.openxmlformats.org/drawingml/2006/main">
            <a:r>
              <a:t>Department of Science and Technology-Philippine Institute of Volcanology and Seismology. (2023). DOST-PHIVOLCS' HazardHunterPH won a 7-Star Rating and the Category Award for Risk Management in the 9th International Best Practice Competition! https://www.phivolcs.dost.gov.ph/dost-phivolcs-hazardhunterph-won-a-7-star-rating-and-the-category-award-for-risk-management-in-the-9th-international-best-practice-competition/</a:t>
            </a:r>
          </a:p>
          <a:p xmlns:a="http://schemas.openxmlformats.org/drawingml/2006/main">
            <a:r>
              <a:t/>
            </a:r>
          </a:p>
          <a:p xmlns:a="http://schemas.openxmlformats.org/drawingml/2006/main">
            <a:r>
              <a:t>Connection to the proposed study: Identify sources and intended use clearly. A project layer must not imply the institutional status of official agency data.</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advisory concerned instant-messaging applications and explicitly discussed location sharing among app permissions. Apply its proportionality principle without claiming that the app has passed a privacy audit or that GPS readings are necessarily accurate.</a:t>
            </a:r>
          </a:p>
          <a:p xmlns:a="http://schemas.openxmlformats.org/drawingml/2006/main">
            <a:r>
              <a:t/>
            </a:r>
          </a:p>
          <a:p xmlns:a="http://schemas.openxmlformats.org/drawingml/2006/main">
            <a:r>
              <a:t>Complete publication and citation:</a:t>
            </a:r>
          </a:p>
          <a:p xmlns:a="http://schemas.openxmlformats.org/drawingml/2006/main">
            <a:r>
              <a:t>National Privacy Commission. (2021, June 25). National Privacy Commission urges developers of instant messaging apps to limit the grant of application permissions for users. https://privacy.gov.ph/national-privacy-commission-urges-developers-of-instant-messaging-apps-to-limit-the-grant-of-application-permissions-for-users/</a:t>
            </a:r>
          </a:p>
          <a:p xmlns:a="http://schemas.openxmlformats.org/drawingml/2006/main">
            <a:r>
              <a:t/>
            </a:r>
          </a:p>
          <a:p xmlns:a="http://schemas.openxmlformats.org/drawingml/2006/main">
            <a:r>
              <a:t>Connection to the proposed study: Limit location access to an active resident request and keep manual alternatives available.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combined Arduino Nano, rainfall, water-level, temperature and humidity sensors, GSM, and Blynk. The study named no formal SDLC. No flood occurred during field observation, so it did not demonstrate warning performance during a flood. This differs from resident-requested hypothetical-scenario assessment.</a:t>
            </a:r>
          </a:p>
          <a:p xmlns:a="http://schemas.openxmlformats.org/drawingml/2006/main">
            <a:r>
              <a:t/>
            </a:r>
          </a:p>
          <a:p xmlns:a="http://schemas.openxmlformats.org/drawingml/2006/main">
            <a:r>
              <a:t>Complete publication and citation:</a:t>
            </a:r>
          </a:p>
          <a:p xmlns:a="http://schemas.openxmlformats.org/drawingml/2006/main">
            <a:r>
              <a:t>Wisudawan, H. N. P. (2021). Design and implementation of real-time Flood Early Warning System (FEWS) based on IoT Blynk application. ELKHA: Jurnal Teknik Elektro, 13(2), 113-121. https://doi.org/10.26418/elkha.v13i2.49003</a:t>
            </a:r>
          </a:p>
          <a:p xmlns:a="http://schemas.openxmlformats.org/drawingml/2006/main">
            <a:r>
              <a:t/>
            </a:r>
          </a:p>
          <a:p xmlns:a="http://schemas.openxmlformats.org/drawingml/2006/main">
            <a:r>
              <a:t>Connection to the proposed study: Inform readable mobile status presentation. Reservoir thresholds and sensor readings do not validate Bacoor scenario results.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interactive online experiment ran from January to March 2022. The paper compared rankings with Friedman and Bonferroni-adjusted Wilcoxon tests. Ninety-three percent said they would use or recommend the app. These are stakeholder perceptions during a demonstration, not observed reductions in flood loss or Bacoor resident feedback.</a:t>
            </a:r>
          </a:p>
          <a:p xmlns:a="http://schemas.openxmlformats.org/drawingml/2006/main">
            <a:r>
              <a:t/>
            </a:r>
          </a:p>
          <a:p xmlns:a="http://schemas.openxmlformats.org/drawingml/2006/main">
            <a:r>
              <a:t>Complete publication and citation:</a:t>
            </a:r>
          </a:p>
          <a:p xmlns:a="http://schemas.openxmlformats.org/drawingml/2006/main">
            <a:r>
              <a:t>Meléndez-Landaverde, E. R., &amp; Sempere-Torres, D. (2025). A user experience evaluation of a mobile application for disseminating site-specific impact-based flood warnings: The A4alerts app. Journal of Flood Risk Management, 18(1), e12951. https://doi.org/10.1111/jfr3.12951</a:t>
            </a:r>
          </a:p>
          <a:p xmlns:a="http://schemas.openxmlformats.org/drawingml/2006/main">
            <a:r>
              <a:t/>
            </a:r>
          </a:p>
          <a:p xmlns:a="http://schemas.openxmlformats.org/drawingml/2006/main">
            <a:r>
              <a:t>Connection to the proposed study: Present place-specific information and practical guidance clearly, without inheriting another app’s acceptance results.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Nominal-group sessions involved five prospective users and five experts. Sixty-three situations led to 12 priority scenarios. Evaluation considered task performance and interaction quality, not Bacoor forecast accuracy. The authors did not state Agile, Waterfall, or another SDLC model.</a:t>
            </a:r>
          </a:p>
          <a:p xmlns:a="http://schemas.openxmlformats.org/drawingml/2006/main">
            <a:r>
              <a:t/>
            </a:r>
          </a:p>
          <a:p xmlns:a="http://schemas.openxmlformats.org/drawingml/2006/main">
            <a:r>
              <a:t>Complete publication and citation:</a:t>
            </a:r>
          </a:p>
          <a:p xmlns:a="http://schemas.openxmlformats.org/drawingml/2006/main">
            <a:r>
              <a:t>Alsabhan, W., &amp; Dudin, B. (2023). Real-time flood forecasting and warning: A comprehensive approach toward HCI-centric mobile app development. Multimodal Technologies and Interaction, 7(5), 44. https://doi.org/10.3390/mti7050044</a:t>
            </a:r>
          </a:p>
          <a:p xmlns:a="http://schemas.openxmlformats.org/drawingml/2006/main">
            <a:r>
              <a:t/>
            </a:r>
          </a:p>
          <a:p xmlns:a="http://schemas.openxmlformats.org/drawingml/2006/main">
            <a:r>
              <a:t>Connection to the proposed study: Design understandable tasks and role-specific access. The study’s forecasting architecture serves a different assessment purpose.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Flood work focused on Dar es Salaam and showed qualitative spatial agreement with mapped flood points. Drought work focused on Dodoma using ConvLSTM. The median ROC-AUC of 0.87 and F1 score of 0.81 belong to the drought model, not the flood analysis. RAD is the expressly named software-development process.</a:t>
            </a:r>
          </a:p>
          <a:p xmlns:a="http://schemas.openxmlformats.org/drawingml/2006/main">
            <a:r>
              <a:t/>
            </a:r>
          </a:p>
          <a:p xmlns:a="http://schemas.openxmlformats.org/drawingml/2006/main">
            <a:r>
              <a:t>Complete publication and citation:</a:t>
            </a:r>
          </a:p>
          <a:p xmlns:a="http://schemas.openxmlformats.org/drawingml/2006/main">
            <a:r>
              <a:t>Msusa, A. D., Deus, D., Nyalali, O. G., Gidudu, A., Wangabo, E., Makuti, S., &amp; Marandu, G. (2025). Developing a climate-smart Web GIS app for multi-hazard early warning against climate-based disaster risks. The International Archives of the Photogrammetry, Remote Sensing and Spatial Information Sciences, XLVIII-4/W16-2025, 59-66. https://doi.org/10.5194/isprs-archives-XLVIII-4-W16-2025-59-2025</a:t>
            </a:r>
          </a:p>
          <a:p xmlns:a="http://schemas.openxmlformats.org/drawingml/2006/main">
            <a:r>
              <a:t/>
            </a:r>
          </a:p>
          <a:p xmlns:a="http://schemas.openxmlformats.org/drawingml/2006/main">
            <a:r>
              <a:t>Connection to the proposed study: Combine accessible maps with source and validation context. Foreign modeling outputs cannot become Bacoor assessment rules.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geographic coverage was Moonee Valley and Maribyrnong in Melbourne. The technical procedure used a spatial database, data APIs, event triggers, and geospatial queries. The paper named no SDLC. Its functioning architecture and impact statistics do not establish resident acceptance or accuracy during all flood events.</a:t>
            </a:r>
          </a:p>
          <a:p xmlns:a="http://schemas.openxmlformats.org/drawingml/2006/main">
            <a:r>
              <a:t/>
            </a:r>
          </a:p>
          <a:p xmlns:a="http://schemas.openxmlformats.org/drawingml/2006/main">
            <a:r>
              <a:t>Complete publication and citation:</a:t>
            </a:r>
          </a:p>
          <a:p xmlns:a="http://schemas.openxmlformats.org/drawingml/2006/main">
            <a:r>
              <a:t>Turner, R., &amp; Sun, Q. (2024). Near real-time responsive flood event representation: An open-source interactive web application architecture. ISPRS Annals of the Photogrammetry, Remote Sensing and Spatial Information Sciences, X-4-2024, 365-372. https://doi.org/10.5194/isprs-annals-X-4-2024-365-2024</a:t>
            </a:r>
          </a:p>
          <a:p xmlns:a="http://schemas.openxmlformats.org/drawingml/2006/main">
            <a:r>
              <a:t/>
            </a:r>
          </a:p>
          <a:p xmlns:a="http://schemas.openxmlformats.org/drawingml/2006/main">
            <a:r>
              <a:t>Connection to the proposed study: Inform geographic presentation and source identification without adopting live monitoring or claiming operational deployment.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authors documented SDLC stages but did not name a more specific model. The tank and seawall tests showed changing readings and categories. The riverside test occurred under calm conditions. The study did not evaluate warning performance during a flood or conduct resident-user evaluation.</a:t>
            </a:r>
          </a:p>
          <a:p xmlns:a="http://schemas.openxmlformats.org/drawingml/2006/main">
            <a:r>
              <a:t/>
            </a:r>
          </a:p>
          <a:p xmlns:a="http://schemas.openxmlformats.org/drawingml/2006/main">
            <a:r>
              <a:t>Complete publication and citation:</a:t>
            </a:r>
          </a:p>
          <a:p xmlns:a="http://schemas.openxmlformats.org/drawingml/2006/main">
            <a:r>
              <a:t>Añana, C. M., &amp; Beltran, H. U. (2024). Development of a water level data logging system with web-based data visualization for remote monitoring stations. International Journal of Education Research for Higher Learning, 33(1), Article 16. https://doi.org/10.17158/21bcdg65</a:t>
            </a:r>
          </a:p>
          <a:p xmlns:a="http://schemas.openxmlformats.org/drawingml/2006/main">
            <a:r>
              <a:t/>
            </a:r>
          </a:p>
          <a:p xmlns:a="http://schemas.openxmlformats.org/drawingml/2006/main">
            <a:r>
              <a:t>Connection to the proposed study: Present readings and categories understandably, while distinguishing monitoring tests from scenario-based susceptibility evidence.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location was Riverside Barangay, Isabela City, Basilan. The authors used a quantitative evaluation survey and reported warning-signal behavior during a demonstration and initial device test. Battery operation was limited to about ten hours. These results do not establish sustained citywide warning performance.</a:t>
            </a:r>
          </a:p>
          <a:p xmlns:a="http://schemas.openxmlformats.org/drawingml/2006/main">
            <a:r>
              <a:t/>
            </a:r>
          </a:p>
          <a:p xmlns:a="http://schemas.openxmlformats.org/drawingml/2006/main">
            <a:r>
              <a:t>Complete publication and citation:</a:t>
            </a:r>
          </a:p>
          <a:p xmlns:a="http://schemas.openxmlformats.org/drawingml/2006/main">
            <a:r>
              <a:t>Carpio, C. O., Asnaul, M. U., Said, A. H., &amp; Amerin, B. Y. (2022). Isabela City flood monitoring system using Arduino and GSM module. International Journal of Multidisciplinary Research and Publications, 5(6), 13-17. https://ijmrap.com/wp-content/uploads/2022/11/IJMRAP-V5N5P134Y22.pdf</a:t>
            </a:r>
          </a:p>
          <a:p xmlns:a="http://schemas.openxmlformats.org/drawingml/2006/main">
            <a:r>
              <a:t/>
            </a:r>
          </a:p>
          <a:p xmlns:a="http://schemas.openxmlformats.org/drawingml/2006/main">
            <a:r>
              <a:t>Connection to the proposed study: Keep development methods distinct from evaluation design. Device outcomes cannot be transferred to Bacoor residents or rules.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evaluation involved 20 IT professionals and 20 residents or DRRMO personnel using ISO 9126 functionality criteria. Outputs included GPS-linked reports, announcements, administrative records, and center management. SMS was a recommendation, not an implemented feature of the evaluated system.</a:t>
            </a:r>
          </a:p>
          <a:p xmlns:a="http://schemas.openxmlformats.org/drawingml/2006/main">
            <a:r>
              <a:t/>
            </a:r>
          </a:p>
          <a:p xmlns:a="http://schemas.openxmlformats.org/drawingml/2006/main">
            <a:r>
              <a:t>Complete publication and citation:</a:t>
            </a:r>
          </a:p>
          <a:p xmlns:a="http://schemas.openxmlformats.org/drawingml/2006/main">
            <a:r>
              <a:t>Goh, M. L. I., Manahan, V. A. M. M., Mangalus, C. J. U., Carreon, R. J. V., Ong, C. C. T., &amp; Vicente, H. N. (2023). iAlerto: A web and mobile alert system for Pasig City Disaster Risk Reduction Management Office (PCDRRMO) with mobile GPS service integration. International Journal of Computing Sciences Research, 7, 1092-1108. https://doi.org/10.25147/ijcsr.2017.001.1.93</a:t>
            </a:r>
          </a:p>
          <a:p xmlns:a="http://schemas.openxmlformats.org/drawingml/2006/main">
            <a:r>
              <a:t/>
            </a:r>
          </a:p>
          <a:p xmlns:a="http://schemas.openxmlformats.org/drawingml/2006/main">
            <a:r>
              <a:t>Connection to the proposed study: Inform role-specific access and location-linked information while retaining a pre-event, resident-requested assessment purpose.</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combined environmental and socioeconomic indicators and involved Meycauayan stakeholders in Bulacan. An 80/20 split yielded reported precision 0.60, recall 0.73, and F1 0.66. Telemetry gaps, internet dependence, class imbalance, and local inputs limit transferability. DDR is this reviewed study’s design, not FloodSense’s confirmed Design Thinking framework.</a:t>
            </a:r>
          </a:p>
          <a:p xmlns:a="http://schemas.openxmlformats.org/drawingml/2006/main">
            <a:r>
              <a:t/>
            </a:r>
          </a:p>
          <a:p xmlns:a="http://schemas.openxmlformats.org/drawingml/2006/main">
            <a:r>
              <a:t>Complete publication and citation:</a:t>
            </a:r>
          </a:p>
          <a:p xmlns:a="http://schemas.openxmlformats.org/drawingml/2006/main">
            <a:r>
              <a:t>Pascual, M. N., &amp; Leonen, J. T. (2025). Development of an integrated natural and socioeconomic indicators monitoring system for Bulacan using earth intelligence tools. Isabela State University Linker: Journal of Engineering, Computing, and Technology, 2(1), 1–19. https://doi.org/10.65141/ject.v2i1.n1</a:t>
            </a:r>
          </a:p>
          <a:p xmlns:a="http://schemas.openxmlformats.org/drawingml/2006/main">
            <a:r>
              <a:t/>
            </a:r>
          </a:p>
          <a:p xmlns:a="http://schemas.openxmlformats.org/drawingml/2006/main">
            <a:r>
              <a:t>Connection to the proposed study: Preserve provenance and geographic context without importing automatic alerts, machine learning, or another locality’s parameters.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Five government-agency experts compared rainfall, elevation, waterway proximity, and traffic factors. The researchers built a web map and alert device and used an ISO 25010-based questionnaire. No actual flood occurred during the system test. Drainage and land-use conditions were omitted from the four-factor map.</a:t>
            </a:r>
          </a:p>
          <a:p xmlns:a="http://schemas.openxmlformats.org/drawingml/2006/main">
            <a:r>
              <a:t/>
            </a:r>
          </a:p>
          <a:p xmlns:a="http://schemas.openxmlformats.org/drawingml/2006/main">
            <a:r>
              <a:t>Complete publication and citation:</a:t>
            </a:r>
          </a:p>
          <a:p xmlns:a="http://schemas.openxmlformats.org/drawingml/2006/main">
            <a:r>
              <a:t>Geron, J. E. G., Gutierrez, A. D. E., Gomez, K. C. C., Lagman, S. A. J., Guinto, T. J. N., Gonzales, V. S., Lim, C. G., &amp; Coronel, C. J. A. (2025). Flood vulnerability assessment of road network in San Fernando, Pampanga for the development of Automatic Local Flood Alert and Recording with Mapping Application (ALARMA). International Journal of Scientific Research and Engineering Development, 8(3), 3231-3258. https://ijsred.com/volume8/issue3/IJSRED-V8I3P482.pdf</a:t>
            </a:r>
          </a:p>
          <a:p xmlns:a="http://schemas.openxmlformats.org/drawingml/2006/main">
            <a:r>
              <a:t/>
            </a:r>
          </a:p>
          <a:p xmlns:a="http://schemas.openxmlformats.org/drawingml/2006/main">
            <a:r>
              <a:t>Connection to the proposed study: Link geographic outputs to their evidence and test conditions. Road weights and simulated alerts cannot validate Bacoor classifications.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reviewed works inform the design through explainable outputs, geographic presentation, source attribution, role control, and local checks. Studies report different purposes: monitoring, warning, incident response, or spatial decision support. Their scores and parameters remain specific to their data and participants. The comparison establishes differences in documented purpose and scope, not superiority or first-of-its-kind status.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Thinking is the main methodological framework. Evolutionary Prototyping is the software-development model within Prototype and connected to Test. Surveys and institutional interviews gather evidence, purposive sampling selects initial respondents, and descriptive procedures summarize responses. The handwritten board and Excel track work, while GitHub supports sharing and versioning. These tools do not by themselves prove formal Kanban, Scrum, or another model.</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five phases as overlapping research activities, not completed checkboxes. Lawrence et al. (2022) documents a recent application, not the framework’s origin. The manuscript attributes this illustration to Wörle (2025), Digital Leadership. Iteration can revisit needs and design choices without introducing a sixth phase.</a:t>
            </a:r>
          </a:p>
          <a:p xmlns:a="http://schemas.openxmlformats.org/drawingml/2006/main">
            <a:r>
              <a:t/>
            </a:r>
          </a:p>
          <a:p xmlns:a="http://schemas.openxmlformats.org/drawingml/2006/main">
            <a:r>
              <a:t>Figure attribution: Wörle, D. (2025, September 4). Design thinking: Guide to process, methods &amp; frameworks. Digital Leadership. https://digitalleadership.com/blog/design-thinking/</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institutional interviews came before the principal study period and supplied local geographic, planning, preparedness, and data-authority perspectives. The manuscript dates BDRRMO and CPDCO inquiry to May 2026. Interviews were recorded with consent and transcribed. The October 11 initial survey then added needs evidence from 40 qualified adults. This sequence supported continued review, rather than proving the system was evaluated by residents.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researchers summarized descriptive survey results and reviewed the transcripts for the meaning and authority of the information. They considered access difficulties, location-specific susceptibility interpretation, preparedness guidance, and center references. The October needs survey informed continued requirements review after early institutional inquiry and concept-led development. A working interface or technical check did not validate the underlying classification data.</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considered resident input and administration workflows. They kept manual selection and foreground location alternatives, placed confirmation before assessment, and proposed an explained result with geographic context. Preparedness information follows its own information flow instead of serving as susceptibility rules. Source and review status remain part of the governance design.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manuscript’s second successive prototype views: an OSM map with a compact scenario selector and resident sign-in. Earlier views showed a 2D map and account creation; a subsequent view used a 3D-style map. The team confirmed the sequence, but development periods and the specific feedback behind every screen change are not established. Screens demonstrate interface presentation, not validated susceptibility data or completed usability evaluation.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illustration follows the model discussed by Saad et al. (2023). The path enters Design from Requirement Analysis, proceeds through Building and Prototyping and Evaluation by Customer, then branches to Refining Prototype when changes are needed or to Final Product Deployment when requirements are met. Refinement returns to Design. Later model stages do not establish that FloodSense completed formal user evaluation or deployment.</a:t>
            </a:r>
          </a:p>
          <a:p xmlns:a="http://schemas.openxmlformats.org/drawingml/2006/main">
            <a:r>
              <a:t/>
            </a:r>
          </a:p>
          <a:p xmlns:a="http://schemas.openxmlformats.org/drawingml/2006/main">
            <a:r>
              <a:t>Source: Saad, A., Khairulanuar, F. N., &amp; Rahmatullah, B. (2023). The development of a mobile application IsMind for formative students' assessment. Information Technologies and Learning Tools, 98(6), 66–81. https://doi.org/10.33407/itlt.v98i6.5370</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SDLC relationships rather than treating every stage as an accomplished result. Requirements inform Design. The same application moves through construction, review, and refinement. In the cited model, changes lead from Evaluation by Customer to Refining Prototype and back to Design. The release branch requires no further modification. The team’s technical and domain reviews are not equivalent to completed resident-user evaluation.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continued building the same application. Flutter/Dart connected resident interactions to Django services and PostgreSQL/PostGIS. Work connected location resolution, center lookup, and error handling; later increments unified the map, authentication, preferences, and assessment flow. Administration included content, source, review, import-confirmation, and audit workflows. GitHub, a handwritten board, and Excel supported coordination. Do not assign dates or feedback causes that the prototype records do not document.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researchers manually checked resident functions on Android and used the laptop for local services and the administration interface. The principal laptop is an ASUS with Intel Core i7-1065G7, Intel Iris Plus graphics, and 20 GB RAM. Backend, Flutter, and portal tests checked individual and connected behavior. Checks included permission failures, barangay resolution, parsing, empty results, access control, review transitions, map coverage, and regressions. No test counts, pass rates, or scientific validation claims are introduced.</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BDRRMO feedback concerned the demonstrated application, the basis of classifications, source/version information, and data needs. It was domain feedback, not official approval of placeholder values. Academic review concerned scope, explanation, and presentation. Neither establishes resident acceptance. A future post-use evaluation will require approved procedures and instruments, application-use tasks, participant feedback, and analysis before any product-quality conclusions.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four group targets in manuscript Table 4, not completed recruitment. Their sum is 166 group targets. The records do not establish that groups are mutually exclusive or that 166 unique people will participate. Sampling, eligibility, recruitment, and group-specific instrument assignments must be specified before data collection. Keep this distinct from the completed initial survey of 40 residents.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Percentage uses the frequency divided by the relevant denominator multiplied by 100. Each reported initial-survey option uses n = 40; multiple-response percentages can sum above 100%. Weighted mean uses the sum of each response frequency multiplied by its score, divided by the valid scored-response count. The initial scale runs from Never = 1 to Always = 5. Not sure is excluded from the mean only, not deleted from the dataset.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manuscript presents Slovin’s formula, with N as population size and e as margin of error. It does not document population and margin values used to derive the completed purposive sample of 40. Therefore do not present a retroactive computation. The planned evaluation sampling procedures remain to be specified, and including the formula alone does not establish a probability sampling design.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five-point product-evaluation scale presented in manuscript Table 5. The instrument and procedures still require approval before formal post-use evaluation. The means have not been calculated. Keep this scale distinct from the initial needs-survey Never-to-Always scale, whose mean interpretations are 1.00–1.80 Never, 1.81–2.60 Rarely, 2.61–3.40 Sometimes, 3.41–4.20 Often, and 4.21–5.00 Always. The presentation does not report ISO/IEC 25010 findings.</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needs assessment is completed and informs this respondent group’s reported needs. The manuscript documents application development, technical checks, and institutional/adviser feedback. Local scientific and institutional validation of susceptibility evidence remains necessary. Formal intended-user evaluation, approval of instruments, recruitment procedures, and final deployment remain future activities. Present scope clearly without implying completed acceptance or official validation.</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research purpose: explainable susceptibility information for a resident-confirmed scenario, with preparedness guidance and clear information authority. Invite questions about the evidence, scope, requirements, development process, and planned evaluation. Do not claim forecasting performance, resident acceptance, scientific validation, or completed deployment.</a:t>
            </a:r>
          </a:p>
          <a:p xmlns:a="http://schemas.openxmlformats.org/drawingml/2006/main">
            <a:r>
              <a:t/>
            </a:r>
          </a:p>
          <a:p xmlns:a="http://schemas.openxmlformats.org/drawingml/2006/main">
            <a:r>
              <a:t>Manuscript source: E:\School Downloads-Jiraah\00 FILES IN SCHOOL\3RD YEAR 2ND SEM\DCIT 60\FLOODSENSE\1.FLOODSENSE-200A\FloodSense\1. FLOODSENSE-MAIN\WORKING_REVISION_2026-10-11\FloodSense_Chapters_1_to_3_Introduction_Chapter2_Working_Revision_2026-10-12.docx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84b7e9ebb741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a543c54e3844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bee383bfbb4c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2e053c9fef4b8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86b4c1179b44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92a62d9629f40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8878AE-CB31-4C62-BB7B-42BFA84E0F6C}"/>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4F5F8B-4776-4620-8861-9896C5AFA08C}"/>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E04823-FD33-45CB-AE1C-CF331E89673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0D5E73-AC9A-425B-9841-996372A7A21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4AA4A5-9066-4959-9E34-1929589D16F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7D2629-F657-462C-9F58-C9A7E871D4D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B34CEB-0D6D-4538-92A2-02B2822F8964}"/>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C3B689-3FC1-431E-B859-6B10DBB29CA9}"/>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7CCD0B-F1B2-46CA-A87D-3A9D15F248C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F010AD-8EFF-46F6-B099-4EA7B74FC25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1b9e40ae7458e" /><Relationship Type="http://schemas.openxmlformats.org/officeDocument/2006/relationships/slideLayout" Target="/ppt/slideLayouts/slideLayout1.xml" Id="R5f92feedc3e5414c" /><Relationship Type="http://schemas.openxmlformats.org/officeDocument/2006/relationships/slideLayout" Target="/ppt/slideLayouts/slideLayout2.xml" Id="R27ef5c7fbe5744d0" /><Relationship Type="http://schemas.openxmlformats.org/officeDocument/2006/relationships/slideLayout" Target="/ppt/slideLayouts/slideLayout3.xml" Id="Re6e944d43845412c" /><Relationship Type="http://schemas.openxmlformats.org/officeDocument/2006/relationships/slideLayout" Target="/ppt/slideLayouts/slideLayout4.xml" Id="R37caeb654cbd4cec" /><Relationship Type="http://schemas.openxmlformats.org/officeDocument/2006/relationships/slideLayout" Target="/ppt/slideLayouts/slideLayout5.xml" Id="Ra21b51d1a8304964" /><Relationship Type="http://schemas.openxmlformats.org/officeDocument/2006/relationships/slideLayout" Target="/ppt/slideLayouts/slideLayout6.xml" Id="Rb314be89aa7a44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92feedc3e5414c"/>
    <p:sldLayoutId xmlns:r="http://schemas.openxmlformats.org/officeDocument/2006/relationships" id="2147483650" r:id="R27ef5c7fbe5744d0"/>
    <p:sldLayoutId xmlns:r="http://schemas.openxmlformats.org/officeDocument/2006/relationships" id="2147483651" r:id="Re6e944d43845412c"/>
    <p:sldLayoutId xmlns:r="http://schemas.openxmlformats.org/officeDocument/2006/relationships" id="2147483652" r:id="R37caeb654cbd4cec"/>
    <p:sldLayoutId xmlns:r="http://schemas.openxmlformats.org/officeDocument/2006/relationships" id="2147483653" r:id="Ra21b51d1a8304964"/>
    <p:sldLayoutId xmlns:r="http://schemas.openxmlformats.org/officeDocument/2006/relationships" id="2147483654" r:id="Rb314be89aa7a44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FloodSense Defense">
      <a:dk1>
        <a:srgbClr val="000000"/>
      </a:dk1>
      <a:lt1>
        <a:srgbClr val="FFFFFF"/>
      </a:lt1>
      <a:dk2>
        <a:srgbClr val="182B45"/>
      </a:dk2>
      <a:lt2>
        <a:srgbClr val="E8EEF5"/>
      </a:lt2>
      <a:accent1>
        <a:srgbClr val="164E91"/>
      </a:accent1>
      <a:accent2>
        <a:srgbClr val="EDC54A"/>
      </a:accent2>
      <a:accent3>
        <a:srgbClr val="447AA9"/>
      </a:accent3>
      <a:accent4>
        <a:srgbClr val="7F99B5"/>
      </a:accent4>
      <a:accent5>
        <a:srgbClr val="B8C8D9"/>
      </a:accent5>
      <a:accent6>
        <a:srgbClr val="64768D"/>
      </a:accent6>
      <a:hlink>
        <a:srgbClr val="164E91"/>
      </a:hlink>
      <a:folHlink>
        <a:srgbClr val="164E91"/>
      </a:folHlink>
    </a:clrScheme>
    <a:fontScheme name="">
      <a:majorFont>
        <a:latin typeface="Arial"/>
        <a:ea typeface=""/>
        <a:cs typeface=""/>
      </a:majorFont>
      <a:minorFont>
        <a:latin typeface="Arial"/>
        <a:ea typeface=""/>
        <a:cs typeface=""/>
      </a:minorFont>
    </a:fontScheme>
    <a:fmtScheme name="FloodSense Defen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9c653158d3044a3" /><Relationship Type="http://schemas.openxmlformats.org/officeDocument/2006/relationships/notesSlide" Target="/ppt/notesSlides/notesSlide1.xml" Id="R08823c68caa64f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7dfe358a666441e" /><Relationship Type="http://schemas.openxmlformats.org/officeDocument/2006/relationships/notesSlide" Target="/ppt/notesSlides/notesSlide2.xml" Id="R8f87c12d2be84a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1649b1cb284631" /><Relationship Type="http://schemas.openxmlformats.org/officeDocument/2006/relationships/notesSlide" Target="/ppt/notesSlides/notesSlide3.xml" Id="R789ea038f92d44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6df76edf3f84b2d" /><Relationship Type="http://schemas.openxmlformats.org/officeDocument/2006/relationships/chart" Target="/ppt/slides/charts/chart1.xml" Id="R1b7e33c0d37a4578" /><Relationship Type="http://schemas.openxmlformats.org/officeDocument/2006/relationships/notesSlide" Target="/ppt/notesSlides/notesSlide4.xml" Id="R53884a9e494240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b0ad3f9e68a40e2" /><Relationship Type="http://schemas.openxmlformats.org/officeDocument/2006/relationships/notesSlide" Target="/ppt/notesSlides/notesSlide5.xml" Id="Rb5facc2f559b4d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c47aa8349840e2" /><Relationship Type="http://schemas.openxmlformats.org/officeDocument/2006/relationships/notesSlide" Target="/ppt/notesSlides/notesSlide6.xml" Id="R52947f9c2ec34f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472fbd1d65b4564" /><Relationship Type="http://schemas.openxmlformats.org/officeDocument/2006/relationships/notesSlide" Target="/ppt/notesSlides/notesSlide7.xml" Id="Rc977f5fec9234ae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eda28d38fed4289" /><Relationship Type="http://schemas.openxmlformats.org/officeDocument/2006/relationships/notesSlide" Target="/ppt/notesSlides/notesSlide8.xml" Id="R00e52768e6bf49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226328070a44b2c" /><Relationship Type="http://schemas.openxmlformats.org/officeDocument/2006/relationships/notesSlide" Target="/ppt/notesSlides/notesSlide9.xml" Id="Rb0028e1ae6564c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7d063a37e24ed8" /><Relationship Type="http://schemas.openxmlformats.org/officeDocument/2006/relationships/notesSlide" Target="/ppt/notesSlides/notesSlide10.xml" Id="R2a3336c6915b48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7cdb5914fb448a" /><Relationship Type="http://schemas.openxmlformats.org/officeDocument/2006/relationships/notesSlide" Target="/ppt/notesSlides/notesSlide11.xml" Id="R2907ef50db30493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d8f09be9d2d48fe" /><Relationship Type="http://schemas.openxmlformats.org/officeDocument/2006/relationships/notesSlide" Target="/ppt/notesSlides/notesSlide12.xml" Id="R22aaa27e5124459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f4d6bdd19741e0" /><Relationship Type="http://schemas.openxmlformats.org/officeDocument/2006/relationships/notesSlide" Target="/ppt/notesSlides/notesSlide13.xml" Id="Ra548918b30dc403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30b90fc290345ab" /><Relationship Type="http://schemas.openxmlformats.org/officeDocument/2006/relationships/notesSlide" Target="/ppt/notesSlides/notesSlide14.xml" Id="R4dacd961c5f649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dc80dfdc4814e26" /><Relationship Type="http://schemas.openxmlformats.org/officeDocument/2006/relationships/notesSlide" Target="/ppt/notesSlides/notesSlide15.xml" Id="Rc9df1268e46943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06681cf9fe64d02" /><Relationship Type="http://schemas.openxmlformats.org/officeDocument/2006/relationships/notesSlide" Target="/ppt/notesSlides/notesSlide16.xml" Id="Ra40cc9eb2b5145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92fce98f2245ca" /><Relationship Type="http://schemas.openxmlformats.org/officeDocument/2006/relationships/notesSlide" Target="/ppt/notesSlides/notesSlide17.xml" Id="Ra19fe211264446a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162e4f9ff854bfa" /><Relationship Type="http://schemas.openxmlformats.org/officeDocument/2006/relationships/notesSlide" Target="/ppt/notesSlides/notesSlide18.xml" Id="R5b083229da3b4c6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ac8d2459c1476b" /><Relationship Type="http://schemas.openxmlformats.org/officeDocument/2006/relationships/notesSlide" Target="/ppt/notesSlides/notesSlide19.xml" Id="R370c1c991561431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1425cb8420e4a4b" /><Relationship Type="http://schemas.openxmlformats.org/officeDocument/2006/relationships/notesSlide" Target="/ppt/notesSlides/notesSlide20.xml" Id="R65d71613921741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c15d1efb3db45e6" /><Relationship Type="http://schemas.openxmlformats.org/officeDocument/2006/relationships/notesSlide" Target="/ppt/notesSlides/notesSlide21.xml" Id="R21c6079497cc4ba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635823ddebf44e3" /><Relationship Type="http://schemas.openxmlformats.org/officeDocument/2006/relationships/notesSlide" Target="/ppt/notesSlides/notesSlide22.xml" Id="Rcec0e82b54794bd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fe5a6ac0bf64bea" /><Relationship Type="http://schemas.openxmlformats.org/officeDocument/2006/relationships/notesSlide" Target="/ppt/notesSlides/notesSlide23.xml" Id="R8030a1068cc349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3cc6619f04d4049" /><Relationship Type="http://schemas.openxmlformats.org/officeDocument/2006/relationships/notesSlide" Target="/ppt/notesSlides/notesSlide24.xml" Id="Rbef2e4ed2092492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ddb241ed4264474" /><Relationship Type="http://schemas.openxmlformats.org/officeDocument/2006/relationships/notesSlide" Target="/ppt/notesSlides/notesSlide25.xml" Id="Rc38f0e2f803a49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9e29c96554e414e" /><Relationship Type="http://schemas.openxmlformats.org/officeDocument/2006/relationships/notesSlide" Target="/ppt/notesSlides/notesSlide26.xml" Id="R5c6ac76bf8cc4c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261eeca7e1c4f27" /><Relationship Type="http://schemas.openxmlformats.org/officeDocument/2006/relationships/notesSlide" Target="/ppt/notesSlides/notesSlide27.xml" Id="Ra884cdc80727459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3db62e85e7a4915" /><Relationship Type="http://schemas.openxmlformats.org/officeDocument/2006/relationships/notesSlide" Target="/ppt/notesSlides/notesSlide28.xml" Id="Rd8e1771f3f0a4a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07c3f6a33b24112" /><Relationship Type="http://schemas.openxmlformats.org/officeDocument/2006/relationships/notesSlide" Target="/ppt/notesSlides/notesSlide29.xml" Id="R84e27486e0d94ae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05c756873c04237" /><Relationship Type="http://schemas.openxmlformats.org/officeDocument/2006/relationships/notesSlide" Target="/ppt/notesSlides/notesSlide30.xml" Id="R848d994119f04a4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a762cde8fbf4f55" /><Relationship Type="http://schemas.openxmlformats.org/officeDocument/2006/relationships/notesSlide" Target="/ppt/notesSlides/notesSlide31.xml" Id="R5903b37a17ad4b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03344a842fe4932" /><Relationship Type="http://schemas.openxmlformats.org/officeDocument/2006/relationships/notesSlide" Target="/ppt/notesSlides/notesSlide32.xml" Id="R18b29333b4884ed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8a1d122339f4e61" /><Relationship Type="http://schemas.openxmlformats.org/officeDocument/2006/relationships/notesSlide" Target="/ppt/notesSlides/notesSlide33.xml" Id="Rd85b1b626cdd4ea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8bf0e212ea84671" /><Relationship Type="http://schemas.openxmlformats.org/officeDocument/2006/relationships/notesSlide" Target="/ppt/notesSlides/notesSlide34.xml" Id="Rc267b8a59de447f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10e081dd68004697" /><Relationship Type="http://schemas.openxmlformats.org/officeDocument/2006/relationships/notesSlide" Target="/ppt/notesSlides/notesSlide35.xml" Id="R28febc2eb4e040b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ff86265eecc4d98" /><Relationship Type="http://schemas.openxmlformats.org/officeDocument/2006/relationships/image" Target="/ppt/media/image.png" Id="R469c255605bf4619" /><Relationship Type="http://schemas.openxmlformats.org/officeDocument/2006/relationships/notesSlide" Target="/ppt/notesSlides/notesSlide36.xml" Id="R537ad301aa9047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480194d9076e4f27" /><Relationship Type="http://schemas.openxmlformats.org/officeDocument/2006/relationships/notesSlide" Target="/ppt/notesSlides/notesSlide37.xml" Id="R7104bd367c66409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3baa4f87f60c4f5f" /><Relationship Type="http://schemas.openxmlformats.org/officeDocument/2006/relationships/notesSlide" Target="/ppt/notesSlides/notesSlide38.xml" Id="Ra94d5fdbcf254d5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dbe85b79df854264" /><Relationship Type="http://schemas.openxmlformats.org/officeDocument/2006/relationships/notesSlide" Target="/ppt/notesSlides/notesSlide39.xml" Id="R0804f1f862b0494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acfcdaef86b4b84" /><Relationship Type="http://schemas.openxmlformats.org/officeDocument/2006/relationships/image" Target="/ppt/media/image2.png" Id="R7fadccdd89b64397" /><Relationship Type="http://schemas.openxmlformats.org/officeDocument/2006/relationships/image" Target="/ppt/media/image3.png" Id="Re19ae5c4c16c4acb" /><Relationship Type="http://schemas.openxmlformats.org/officeDocument/2006/relationships/notesSlide" Target="/ppt/notesSlides/notesSlide40.xml" Id="R0ce771f8bec44db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0fdce889e4549cd" /><Relationship Type="http://schemas.openxmlformats.org/officeDocument/2006/relationships/image" Target="/ppt/media/image4.png" Id="R7eb931ec342846cc" /><Relationship Type="http://schemas.openxmlformats.org/officeDocument/2006/relationships/notesSlide" Target="/ppt/notesSlides/notesSlide41.xml" Id="Re7ae8876e2a8474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f33a85ba1c44c93" /><Relationship Type="http://schemas.openxmlformats.org/officeDocument/2006/relationships/notesSlide" Target="/ppt/notesSlides/notesSlide42.xml" Id="R48b5a34d2c52422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88d92c92682442f" /><Relationship Type="http://schemas.openxmlformats.org/officeDocument/2006/relationships/notesSlide" Target="/ppt/notesSlides/notesSlide43.xml" Id="R1e3414ee2a4141c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6a5b24c7f95470e" /><Relationship Type="http://schemas.openxmlformats.org/officeDocument/2006/relationships/notesSlide" Target="/ppt/notesSlides/notesSlide44.xml" Id="Rf3506187849c411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a49afd974794dd5" /><Relationship Type="http://schemas.openxmlformats.org/officeDocument/2006/relationships/notesSlide" Target="/ppt/notesSlides/notesSlide45.xml" Id="R93814ce95298415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cbf523f33bf845b5" /><Relationship Type="http://schemas.openxmlformats.org/officeDocument/2006/relationships/notesSlide" Target="/ppt/notesSlides/notesSlide46.xml" Id="Rbf3850350b4840f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61266aff7d6489f" /><Relationship Type="http://schemas.openxmlformats.org/officeDocument/2006/relationships/notesSlide" Target="/ppt/notesSlides/notesSlide47.xml" Id="R70675274054e48c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54bb6c2d6454837" /><Relationship Type="http://schemas.openxmlformats.org/officeDocument/2006/relationships/notesSlide" Target="/ppt/notesSlides/notesSlide48.xml" Id="Rfc1398071f6c499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f7c6e8e344849b1" /><Relationship Type="http://schemas.openxmlformats.org/officeDocument/2006/relationships/notesSlide" Target="/ppt/notesSlides/notesSlide49.xml" Id="Red427996620d402c"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222add6858d43f8" /><Relationship Type="http://schemas.openxmlformats.org/officeDocument/2006/relationships/notesSlide" Target="/ppt/notesSlides/notesSlide50.xml" Id="Rc4d47bcff87d458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3b344c1ed7cb4ff5" /><Relationship Type="http://schemas.openxmlformats.org/officeDocument/2006/relationships/notesSlide" Target="/ppt/notesSlides/notesSlide51.xml" Id="Rab9d2287aa774cc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Respondents</c:v>
          </c:tx>
          <c:spPr>
            <a:solidFill xmlns:a="http://schemas.openxmlformats.org/drawingml/2006/main">
              <a:srgbClr val="164E91"/>
            </a:solidFill>
          </c:spPr>
          <c:invertIfNegative val="0"/>
          <c:cat>
            <c:strRef>
              <c:f>'Chart Data'!$A$2:$A$5</c:f>
              <c:strCache>
                <c:ptCount val="4"/>
                <c:pt idx="0">
                  <c:v>Needed information</c:v>
                </c:pt>
                <c:pt idx="1">
                  <c:v>Pre-event decisions</c:v>
                </c:pt>
                <c:pt idx="2">
                  <c:v>Local susceptibility</c:v>
                </c:pt>
                <c:pt idx="3">
                  <c:v>Center information</c:v>
                </c:pt>
              </c:strCache>
            </c:strRef>
          </c:cat>
          <c:val>
            <c:numRef>
              <c:f>'Chart Data'!$B$2:$B$5</c:f>
              <c:numCache>
                <c:formatCode>0.0%</c:formatCode>
                <c:ptCount val="4"/>
                <c:pt idx="0">
                  <c:v>0.725</c:v>
                </c:pt>
                <c:pt idx="1">
                  <c:v>0.75</c:v>
                </c:pt>
                <c:pt idx="2">
                  <c:v>0.75</c:v>
                </c:pt>
                <c:pt idx="3">
                  <c:v>0.825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700" b="1">
                  <a:solidFill>
                    <a:srgbClr val="164E91"/>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550">
                <a:solidFill>
                  <a:srgbClr val="182B45"/>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CE4ED"/>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00">
                <a:solidFill>
                  <a:srgbClr val="52627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nstitution">
            <a:extLst xmlns:a="http://schemas.openxmlformats.org/drawingml/2006/main">
              <a:ext uri="{FF2B5EF4-FFF2-40B4-BE49-F238E27FC236}">
                <a16:creationId xmlns:a16="http://schemas.microsoft.com/office/drawing/2014/main" id="{789FF563-00CD-4052-AABA-46F0CCB2F0AB}"/>
              </a:ext>
            </a:extLst>
          </p:cNvPr>
          <p:cNvSpPr>
            <a:spLocks xmlns:a="http://schemas.openxmlformats.org/drawingml/2006/main" noGrp="1"/>
          </p:cNvSpPr>
          <p:nvPr/>
        </p:nvSpPr>
        <p:spPr>
          <a:xfrm xmlns:a="http://schemas.openxmlformats.org/drawingml/2006/main">
            <a:off x="762000" y="590550"/>
            <a:ext cx="1362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4E91"/>
                </a:solidFill>
                <a:latin typeface="Arial"/>
                <a:ea typeface="Arial"/>
                <a:cs typeface="Arial"/>
              </a:defRPr>
            </a:defPPr>
            <a:lvl1pPr algn="l">
              <a:defRPr sz="2025" b="1">
                <a:solidFill>
                  <a:srgbClr val="164E91"/>
                </a:solidFill>
                <a:latin typeface="Arial"/>
                <a:ea typeface="Arial"/>
                <a:cs typeface="Arial"/>
              </a:defRPr>
            </a:lvl1pPr>
            <a:lvl2pPr algn="l">
              <a:defRPr sz="2025" b="1">
                <a:solidFill>
                  <a:srgbClr val="164E91"/>
                </a:solidFill>
                <a:latin typeface="Arial"/>
                <a:ea typeface="Arial"/>
                <a:cs typeface="Arial"/>
              </a:defRPr>
            </a:lvl2pPr>
            <a:lvl3pPr algn="l">
              <a:defRPr sz="2025" b="1">
                <a:solidFill>
                  <a:srgbClr val="164E91"/>
                </a:solidFill>
                <a:latin typeface="Arial"/>
                <a:ea typeface="Arial"/>
                <a:cs typeface="Arial"/>
              </a:defRPr>
            </a:lvl3pPr>
            <a:lvl4pPr algn="l">
              <a:defRPr sz="2025" b="1">
                <a:solidFill>
                  <a:srgbClr val="164E91"/>
                </a:solidFill>
                <a:latin typeface="Arial"/>
                <a:ea typeface="Arial"/>
                <a:cs typeface="Arial"/>
              </a:defRPr>
            </a:lvl4pPr>
            <a:lvl5pPr algn="l">
              <a:defRPr sz="2025" b="1">
                <a:solidFill>
                  <a:srgbClr val="164E91"/>
                </a:solidFill>
                <a:latin typeface="Arial"/>
                <a:ea typeface="Arial"/>
                <a:cs typeface="Arial"/>
              </a:defRPr>
            </a:lvl5pPr>
            <a:lvl6pPr algn="l">
              <a:defRPr sz="2025" b="1">
                <a:solidFill>
                  <a:srgbClr val="164E91"/>
                </a:solidFill>
                <a:latin typeface="Arial"/>
                <a:ea typeface="Arial"/>
                <a:cs typeface="Arial"/>
              </a:defRPr>
            </a:lvl6pPr>
            <a:lvl7pPr algn="l">
              <a:defRPr sz="2025" b="1">
                <a:solidFill>
                  <a:srgbClr val="164E91"/>
                </a:solidFill>
                <a:latin typeface="Arial"/>
                <a:ea typeface="Arial"/>
                <a:cs typeface="Arial"/>
              </a:defRPr>
            </a:lvl7pPr>
            <a:lvl8pPr algn="l">
              <a:defRPr sz="2025" b="1">
                <a:solidFill>
                  <a:srgbClr val="164E91"/>
                </a:solidFill>
                <a:latin typeface="Arial"/>
                <a:ea typeface="Arial"/>
                <a:cs typeface="Arial"/>
              </a:defRPr>
            </a:lvl8pPr>
            <a:lvl9pPr algn="l">
              <a:defRPr sz="2025" b="1">
                <a:solidFill>
                  <a:srgbClr val="164E91"/>
                </a:solidFill>
                <a:latin typeface="Arial"/>
                <a:ea typeface="Arial"/>
                <a:cs typeface="Arial"/>
              </a:defRPr>
            </a:lvl9pPr>
          </a:lstStyle>
          <a:p xmlns:a="http://schemas.openxmlformats.org/drawingml/2006/main">
            <a:pPr algn="l">
              <a:defRPr sz="2025" b="1">
                <a:solidFill>
                  <a:srgbClr val="164E91"/>
                </a:solidFill>
                <a:latin typeface="Arial"/>
                <a:ea typeface="Arial"/>
                <a:cs typeface="Arial"/>
              </a:defRPr>
            </a:pPr>
            <a:r>
              <a:rPr sz="2025" b="1">
                <a:solidFill>
                  <a:srgbClr val="164E91"/>
                </a:solidFill>
                <a:latin typeface="Arial"/>
                <a:ea typeface="Arial"/>
                <a:cs typeface="Arial"/>
              </a:rPr>
              <a:t>CAVITE STATE UNIVERSITY – BACOOR CITY CAMPUS</a:t>
            </a:r>
          </a:p>
        </p:txBody>
      </p:sp>
      <p:sp>
        <p:nvSpPr>
          <p:cNvPr id="2" name="title">
            <a:extLst xmlns:a="http://schemas.openxmlformats.org/drawingml/2006/main">
              <a:ext uri="{FF2B5EF4-FFF2-40B4-BE49-F238E27FC236}">
                <a16:creationId xmlns:a16="http://schemas.microsoft.com/office/drawing/2014/main" id="{4570CE1B-B980-4345-88D8-7446CF474C0E}"/>
              </a:ext>
            </a:extLst>
          </p:cNvPr>
          <p:cNvSpPr>
            <a:spLocks xmlns:a="http://schemas.openxmlformats.org/drawingml/2006/main" noGrp="1"/>
          </p:cNvSpPr>
          <p:nvPr/>
        </p:nvSpPr>
        <p:spPr>
          <a:xfrm xmlns:a="http://schemas.openxmlformats.org/drawingml/2006/main">
            <a:off x="762000" y="1762125"/>
            <a:ext cx="1371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050" b="1">
                <a:solidFill>
                  <a:srgbClr val="164E91"/>
                </a:solidFill>
                <a:latin typeface="Arial"/>
                <a:ea typeface="Arial"/>
                <a:cs typeface="Arial"/>
              </a:defRPr>
            </a:defPPr>
            <a:lvl1pPr algn="l">
              <a:defRPr sz="7050" b="1">
                <a:solidFill>
                  <a:srgbClr val="164E91"/>
                </a:solidFill>
                <a:latin typeface="Arial"/>
                <a:ea typeface="Arial"/>
                <a:cs typeface="Arial"/>
              </a:defRPr>
            </a:lvl1pPr>
            <a:lvl2pPr algn="l">
              <a:defRPr sz="7050" b="1">
                <a:solidFill>
                  <a:srgbClr val="164E91"/>
                </a:solidFill>
                <a:latin typeface="Arial"/>
                <a:ea typeface="Arial"/>
                <a:cs typeface="Arial"/>
              </a:defRPr>
            </a:lvl2pPr>
            <a:lvl3pPr algn="l">
              <a:defRPr sz="7050" b="1">
                <a:solidFill>
                  <a:srgbClr val="164E91"/>
                </a:solidFill>
                <a:latin typeface="Arial"/>
                <a:ea typeface="Arial"/>
                <a:cs typeface="Arial"/>
              </a:defRPr>
            </a:lvl3pPr>
            <a:lvl4pPr algn="l">
              <a:defRPr sz="7050" b="1">
                <a:solidFill>
                  <a:srgbClr val="164E91"/>
                </a:solidFill>
                <a:latin typeface="Arial"/>
                <a:ea typeface="Arial"/>
                <a:cs typeface="Arial"/>
              </a:defRPr>
            </a:lvl4pPr>
            <a:lvl5pPr algn="l">
              <a:defRPr sz="7050" b="1">
                <a:solidFill>
                  <a:srgbClr val="164E91"/>
                </a:solidFill>
                <a:latin typeface="Arial"/>
                <a:ea typeface="Arial"/>
                <a:cs typeface="Arial"/>
              </a:defRPr>
            </a:lvl5pPr>
            <a:lvl6pPr algn="l">
              <a:defRPr sz="7050" b="1">
                <a:solidFill>
                  <a:srgbClr val="164E91"/>
                </a:solidFill>
                <a:latin typeface="Arial"/>
                <a:ea typeface="Arial"/>
                <a:cs typeface="Arial"/>
              </a:defRPr>
            </a:lvl6pPr>
            <a:lvl7pPr algn="l">
              <a:defRPr sz="7050" b="1">
                <a:solidFill>
                  <a:srgbClr val="164E91"/>
                </a:solidFill>
                <a:latin typeface="Arial"/>
                <a:ea typeface="Arial"/>
                <a:cs typeface="Arial"/>
              </a:defRPr>
            </a:lvl7pPr>
            <a:lvl8pPr algn="l">
              <a:defRPr sz="7050" b="1">
                <a:solidFill>
                  <a:srgbClr val="164E91"/>
                </a:solidFill>
                <a:latin typeface="Arial"/>
                <a:ea typeface="Arial"/>
                <a:cs typeface="Arial"/>
              </a:defRPr>
            </a:lvl8pPr>
            <a:lvl9pPr algn="l">
              <a:defRPr sz="7050" b="1">
                <a:solidFill>
                  <a:srgbClr val="164E91"/>
                </a:solidFill>
                <a:latin typeface="Arial"/>
                <a:ea typeface="Arial"/>
                <a:cs typeface="Arial"/>
              </a:defRPr>
            </a:lvl9pPr>
          </a:lstStyle>
          <a:p xmlns:a="http://schemas.openxmlformats.org/drawingml/2006/main">
            <a:pPr algn="l">
              <a:defRPr sz="7050" b="1">
                <a:solidFill>
                  <a:srgbClr val="164E91"/>
                </a:solidFill>
                <a:latin typeface="Arial"/>
                <a:ea typeface="Arial"/>
                <a:cs typeface="Arial"/>
              </a:defRPr>
            </a:pPr>
            <a:r>
              <a:rPr sz="7050" b="1">
                <a:solidFill>
                  <a:srgbClr val="164E91"/>
                </a:solidFill>
                <a:latin typeface="Arial"/>
                <a:ea typeface="Arial"/>
                <a:cs typeface="Arial"/>
              </a:rPr>
              <a:t>FloodSense</a:t>
            </a:r>
          </a:p>
        </p:txBody>
      </p:sp>
      <p:sp>
        <p:nvSpPr>
          <p:cNvPr id="3" name="yellow-accent-rule">
            <a:extLst xmlns:a="http://schemas.openxmlformats.org/drawingml/2006/main">
              <a:ext uri="{FF2B5EF4-FFF2-40B4-BE49-F238E27FC236}">
                <a16:creationId xmlns:a16="http://schemas.microsoft.com/office/drawing/2014/main" id="{EA65B53C-CE28-4068-BF62-CBB2BAE9F713}"/>
              </a:ext>
            </a:extLst>
          </p:cNvPr>
          <p:cNvSpPr>
            <a:spLocks xmlns:a="http://schemas.openxmlformats.org/drawingml/2006/main" noGrp="1"/>
          </p:cNvSpPr>
          <p:nvPr/>
        </p:nvSpPr>
        <p:spPr>
          <a:xfrm xmlns:a="http://schemas.openxmlformats.org/drawingml/2006/main">
            <a:off x="762000" y="3114675"/>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subtitle">
            <a:extLst xmlns:a="http://schemas.openxmlformats.org/drawingml/2006/main">
              <a:ext uri="{FF2B5EF4-FFF2-40B4-BE49-F238E27FC236}">
                <a16:creationId xmlns:a16="http://schemas.microsoft.com/office/drawing/2014/main" id="{A49299B4-F763-425A-BF13-0736C6606CC2}"/>
              </a:ext>
            </a:extLst>
          </p:cNvPr>
          <p:cNvSpPr>
            <a:spLocks xmlns:a="http://schemas.openxmlformats.org/drawingml/2006/main" noGrp="1"/>
          </p:cNvSpPr>
          <p:nvPr/>
        </p:nvSpPr>
        <p:spPr>
          <a:xfrm xmlns:a="http://schemas.openxmlformats.org/drawingml/2006/main">
            <a:off x="762000" y="3600450"/>
            <a:ext cx="1343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0">
                <a:solidFill>
                  <a:srgbClr val="182B45"/>
                </a:solidFill>
                <a:latin typeface="Arial"/>
                <a:ea typeface="Arial"/>
                <a:cs typeface="Arial"/>
              </a:defRPr>
            </a:defPPr>
            <a:lvl1pPr algn="l">
              <a:defRPr sz="3450" b="0">
                <a:solidFill>
                  <a:srgbClr val="182B45"/>
                </a:solidFill>
                <a:latin typeface="Arial"/>
                <a:ea typeface="Arial"/>
                <a:cs typeface="Arial"/>
              </a:defRPr>
            </a:lvl1pPr>
            <a:lvl2pPr algn="l">
              <a:defRPr sz="3450" b="0">
                <a:solidFill>
                  <a:srgbClr val="182B45"/>
                </a:solidFill>
                <a:latin typeface="Arial"/>
                <a:ea typeface="Arial"/>
                <a:cs typeface="Arial"/>
              </a:defRPr>
            </a:lvl2pPr>
            <a:lvl3pPr algn="l">
              <a:defRPr sz="3450" b="0">
                <a:solidFill>
                  <a:srgbClr val="182B45"/>
                </a:solidFill>
                <a:latin typeface="Arial"/>
                <a:ea typeface="Arial"/>
                <a:cs typeface="Arial"/>
              </a:defRPr>
            </a:lvl3pPr>
            <a:lvl4pPr algn="l">
              <a:defRPr sz="3450" b="0">
                <a:solidFill>
                  <a:srgbClr val="182B45"/>
                </a:solidFill>
                <a:latin typeface="Arial"/>
                <a:ea typeface="Arial"/>
                <a:cs typeface="Arial"/>
              </a:defRPr>
            </a:lvl4pPr>
            <a:lvl5pPr algn="l">
              <a:defRPr sz="3450" b="0">
                <a:solidFill>
                  <a:srgbClr val="182B45"/>
                </a:solidFill>
                <a:latin typeface="Arial"/>
                <a:ea typeface="Arial"/>
                <a:cs typeface="Arial"/>
              </a:defRPr>
            </a:lvl5pPr>
            <a:lvl6pPr algn="l">
              <a:defRPr sz="3450" b="0">
                <a:solidFill>
                  <a:srgbClr val="182B45"/>
                </a:solidFill>
                <a:latin typeface="Arial"/>
                <a:ea typeface="Arial"/>
                <a:cs typeface="Arial"/>
              </a:defRPr>
            </a:lvl6pPr>
            <a:lvl7pPr algn="l">
              <a:defRPr sz="3450" b="0">
                <a:solidFill>
                  <a:srgbClr val="182B45"/>
                </a:solidFill>
                <a:latin typeface="Arial"/>
                <a:ea typeface="Arial"/>
                <a:cs typeface="Arial"/>
              </a:defRPr>
            </a:lvl7pPr>
            <a:lvl8pPr algn="l">
              <a:defRPr sz="3450" b="0">
                <a:solidFill>
                  <a:srgbClr val="182B45"/>
                </a:solidFill>
                <a:latin typeface="Arial"/>
                <a:ea typeface="Arial"/>
                <a:cs typeface="Arial"/>
              </a:defRPr>
            </a:lvl8pPr>
            <a:lvl9pPr algn="l">
              <a:defRPr sz="3450" b="0">
                <a:solidFill>
                  <a:srgbClr val="182B45"/>
                </a:solidFill>
                <a:latin typeface="Arial"/>
                <a:ea typeface="Arial"/>
                <a:cs typeface="Arial"/>
              </a:defRPr>
            </a:lvl9pPr>
          </a:lstStyle>
          <a:p xmlns:a="http://schemas.openxmlformats.org/drawingml/2006/main">
            <a:pPr algn="l">
              <a:defRPr sz="3450" b="0">
                <a:solidFill>
                  <a:srgbClr val="182B45"/>
                </a:solidFill>
                <a:latin typeface="Arial"/>
                <a:ea typeface="Arial"/>
                <a:cs typeface="Arial"/>
              </a:defRPr>
            </a:pPr>
            <a:r>
              <a:rPr sz="3450" b="0">
                <a:solidFill>
                  <a:srgbClr val="182B45"/>
                </a:solidFill>
                <a:latin typeface="Arial"/>
                <a:ea typeface="Arial"/>
                <a:cs typeface="Arial"/>
              </a:rPr>
              <a:t>An Android-Based Expert System for Flood Susceptibility Assessment and Pre-Event Preparedness in Bacoor City</a:t>
            </a:r>
          </a:p>
        </p:txBody>
      </p:sp>
      <p:sp>
        <p:nvSpPr>
          <p:cNvPr id="5" name="authors">
            <a:extLst xmlns:a="http://schemas.openxmlformats.org/drawingml/2006/main">
              <a:ext uri="{FF2B5EF4-FFF2-40B4-BE49-F238E27FC236}">
                <a16:creationId xmlns:a16="http://schemas.microsoft.com/office/drawing/2014/main" id="{82D23362-6C13-4C92-9AEB-6CFE07F35969}"/>
              </a:ext>
            </a:extLst>
          </p:cNvPr>
          <p:cNvSpPr>
            <a:spLocks xmlns:a="http://schemas.openxmlformats.org/drawingml/2006/main" noGrp="1"/>
          </p:cNvSpPr>
          <p:nvPr/>
        </p:nvSpPr>
        <p:spPr>
          <a:xfrm xmlns:a="http://schemas.openxmlformats.org/drawingml/2006/main">
            <a:off x="762000" y="6257925"/>
            <a:ext cx="11430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45"/>
                </a:solidFill>
                <a:latin typeface="Arial"/>
                <a:ea typeface="Arial"/>
                <a:cs typeface="Arial"/>
              </a:defRPr>
            </a:defPPr>
            <a:lvl1pPr algn="l">
              <a:defRPr sz="2250" b="0">
                <a:solidFill>
                  <a:srgbClr val="182B45"/>
                </a:solidFill>
                <a:latin typeface="Arial"/>
                <a:ea typeface="Arial"/>
                <a:cs typeface="Arial"/>
              </a:defRPr>
            </a:lvl1pPr>
            <a:lvl2pPr algn="l">
              <a:defRPr sz="2250" b="0">
                <a:solidFill>
                  <a:srgbClr val="182B45"/>
                </a:solidFill>
                <a:latin typeface="Arial"/>
                <a:ea typeface="Arial"/>
                <a:cs typeface="Arial"/>
              </a:defRPr>
            </a:lvl2pPr>
            <a:lvl3pPr algn="l">
              <a:defRPr sz="2250" b="0">
                <a:solidFill>
                  <a:srgbClr val="182B45"/>
                </a:solidFill>
                <a:latin typeface="Arial"/>
                <a:ea typeface="Arial"/>
                <a:cs typeface="Arial"/>
              </a:defRPr>
            </a:lvl3pPr>
            <a:lvl4pPr algn="l">
              <a:defRPr sz="2250" b="0">
                <a:solidFill>
                  <a:srgbClr val="182B45"/>
                </a:solidFill>
                <a:latin typeface="Arial"/>
                <a:ea typeface="Arial"/>
                <a:cs typeface="Arial"/>
              </a:defRPr>
            </a:lvl4pPr>
            <a:lvl5pPr algn="l">
              <a:defRPr sz="2250" b="0">
                <a:solidFill>
                  <a:srgbClr val="182B45"/>
                </a:solidFill>
                <a:latin typeface="Arial"/>
                <a:ea typeface="Arial"/>
                <a:cs typeface="Arial"/>
              </a:defRPr>
            </a:lvl5pPr>
            <a:lvl6pPr algn="l">
              <a:defRPr sz="2250" b="0">
                <a:solidFill>
                  <a:srgbClr val="182B45"/>
                </a:solidFill>
                <a:latin typeface="Arial"/>
                <a:ea typeface="Arial"/>
                <a:cs typeface="Arial"/>
              </a:defRPr>
            </a:lvl6pPr>
            <a:lvl7pPr algn="l">
              <a:defRPr sz="2250" b="0">
                <a:solidFill>
                  <a:srgbClr val="182B45"/>
                </a:solidFill>
                <a:latin typeface="Arial"/>
                <a:ea typeface="Arial"/>
                <a:cs typeface="Arial"/>
              </a:defRPr>
            </a:lvl7pPr>
            <a:lvl8pPr algn="l">
              <a:defRPr sz="2250" b="0">
                <a:solidFill>
                  <a:srgbClr val="182B45"/>
                </a:solidFill>
                <a:latin typeface="Arial"/>
                <a:ea typeface="Arial"/>
                <a:cs typeface="Arial"/>
              </a:defRPr>
            </a:lvl8pPr>
            <a:lvl9pPr algn="l">
              <a:defRPr sz="2250" b="0">
                <a:solidFill>
                  <a:srgbClr val="182B45"/>
                </a:solidFill>
                <a:latin typeface="Arial"/>
                <a:ea typeface="Arial"/>
                <a:cs typeface="Arial"/>
              </a:defRPr>
            </a:lvl9pPr>
          </a:lstStyle>
          <a:p xmlns:a="http://schemas.openxmlformats.org/drawingml/2006/main">
            <a:pPr algn="l">
              <a:defRPr sz="2250" b="0">
                <a:solidFill>
                  <a:srgbClr val="182B45"/>
                </a:solidFill>
                <a:latin typeface="Arial"/>
                <a:ea typeface="Arial"/>
                <a:cs typeface="Arial"/>
              </a:defRPr>
            </a:pPr>
            <a:r>
              <a:rPr sz="2250" b="0">
                <a:solidFill>
                  <a:srgbClr val="182B45"/>
                </a:solidFill>
                <a:latin typeface="Arial"/>
                <a:ea typeface="Arial"/>
                <a:cs typeface="Arial"/>
              </a:rPr>
              <a:t>Reymart V. Goc-ong</a:t>
            </a:r>
          </a:p>
          <a:p xmlns:a="http://schemas.openxmlformats.org/drawingml/2006/main">
            <a:pPr algn="l">
              <a:defRPr sz="2250" b="0">
                <a:solidFill>
                  <a:srgbClr val="182B45"/>
                </a:solidFill>
                <a:latin typeface="Arial"/>
                <a:ea typeface="Arial"/>
                <a:cs typeface="Arial"/>
              </a:defRPr>
            </a:pPr>
            <a:r>
              <a:rPr sz="2250" b="0">
                <a:solidFill>
                  <a:srgbClr val="182B45"/>
                </a:solidFill>
                <a:latin typeface="Arial"/>
                <a:ea typeface="Arial"/>
                <a:cs typeface="Arial"/>
              </a:rPr>
              <a:t>Martin Lorenz D. Juanites</a:t>
            </a:r>
          </a:p>
          <a:p xmlns:a="http://schemas.openxmlformats.org/drawingml/2006/main">
            <a:pPr algn="l">
              <a:defRPr sz="2250" b="0">
                <a:solidFill>
                  <a:srgbClr val="182B45"/>
                </a:solidFill>
                <a:latin typeface="Arial"/>
                <a:ea typeface="Arial"/>
                <a:cs typeface="Arial"/>
              </a:defRPr>
            </a:pPr>
            <a:r>
              <a:rPr sz="2250" b="0">
                <a:solidFill>
                  <a:srgbClr val="182B45"/>
                </a:solidFill>
                <a:latin typeface="Arial"/>
                <a:ea typeface="Arial"/>
                <a:cs typeface="Arial"/>
              </a:rPr>
              <a:t>Romar T. Pulao</a:t>
            </a:r>
          </a:p>
        </p:txBody>
      </p:sp>
      <p:sp>
        <p:nvSpPr>
          <p:cNvPr id="6" name="defense-scope">
            <a:extLst xmlns:a="http://schemas.openxmlformats.org/drawingml/2006/main">
              <a:ext uri="{FF2B5EF4-FFF2-40B4-BE49-F238E27FC236}">
                <a16:creationId xmlns:a16="http://schemas.microsoft.com/office/drawing/2014/main" id="{5C02283A-1554-4830-A7CB-31FF0120910A}"/>
              </a:ext>
            </a:extLst>
          </p:cNvPr>
          <p:cNvSpPr>
            <a:spLocks xmlns:a="http://schemas.openxmlformats.org/drawingml/2006/main" noGrp="1"/>
          </p:cNvSpPr>
          <p:nvPr/>
        </p:nvSpPr>
        <p:spPr>
          <a:xfrm xmlns:a="http://schemas.openxmlformats.org/drawingml/2006/main">
            <a:off x="762000" y="7734300"/>
            <a:ext cx="1238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276"/>
                </a:solidFill>
                <a:latin typeface="Arial"/>
                <a:ea typeface="Arial"/>
                <a:cs typeface="Arial"/>
              </a:defRPr>
            </a:defPPr>
            <a:lvl1pPr algn="l">
              <a:defRPr sz="2100" b="0">
                <a:solidFill>
                  <a:srgbClr val="526276"/>
                </a:solidFill>
                <a:latin typeface="Arial"/>
                <a:ea typeface="Arial"/>
                <a:cs typeface="Arial"/>
              </a:defRPr>
            </a:lvl1pPr>
            <a:lvl2pPr algn="l">
              <a:defRPr sz="2100" b="0">
                <a:solidFill>
                  <a:srgbClr val="526276"/>
                </a:solidFill>
                <a:latin typeface="Arial"/>
                <a:ea typeface="Arial"/>
                <a:cs typeface="Arial"/>
              </a:defRPr>
            </a:lvl2pPr>
            <a:lvl3pPr algn="l">
              <a:defRPr sz="2100" b="0">
                <a:solidFill>
                  <a:srgbClr val="526276"/>
                </a:solidFill>
                <a:latin typeface="Arial"/>
                <a:ea typeface="Arial"/>
                <a:cs typeface="Arial"/>
              </a:defRPr>
            </a:lvl3pPr>
            <a:lvl4pPr algn="l">
              <a:defRPr sz="2100" b="0">
                <a:solidFill>
                  <a:srgbClr val="526276"/>
                </a:solidFill>
                <a:latin typeface="Arial"/>
                <a:ea typeface="Arial"/>
                <a:cs typeface="Arial"/>
              </a:defRPr>
            </a:lvl4pPr>
            <a:lvl5pPr algn="l">
              <a:defRPr sz="2100" b="0">
                <a:solidFill>
                  <a:srgbClr val="526276"/>
                </a:solidFill>
                <a:latin typeface="Arial"/>
                <a:ea typeface="Arial"/>
                <a:cs typeface="Arial"/>
              </a:defRPr>
            </a:lvl5pPr>
            <a:lvl6pPr algn="l">
              <a:defRPr sz="2100" b="0">
                <a:solidFill>
                  <a:srgbClr val="526276"/>
                </a:solidFill>
                <a:latin typeface="Arial"/>
                <a:ea typeface="Arial"/>
                <a:cs typeface="Arial"/>
              </a:defRPr>
            </a:lvl6pPr>
            <a:lvl7pPr algn="l">
              <a:defRPr sz="2100" b="0">
                <a:solidFill>
                  <a:srgbClr val="526276"/>
                </a:solidFill>
                <a:latin typeface="Arial"/>
                <a:ea typeface="Arial"/>
                <a:cs typeface="Arial"/>
              </a:defRPr>
            </a:lvl7pPr>
            <a:lvl8pPr algn="l">
              <a:defRPr sz="2100" b="0">
                <a:solidFill>
                  <a:srgbClr val="526276"/>
                </a:solidFill>
                <a:latin typeface="Arial"/>
                <a:ea typeface="Arial"/>
                <a:cs typeface="Arial"/>
              </a:defRPr>
            </a:lvl8pPr>
            <a:lvl9pPr algn="l">
              <a:defRPr sz="2100" b="0">
                <a:solidFill>
                  <a:srgbClr val="526276"/>
                </a:solidFill>
                <a:latin typeface="Arial"/>
                <a:ea typeface="Arial"/>
                <a:cs typeface="Arial"/>
              </a:defRPr>
            </a:lvl9pPr>
          </a:lstStyle>
          <a:p xmlns:a="http://schemas.openxmlformats.org/drawingml/2006/main">
            <a:pPr algn="l">
              <a:defRPr sz="2100" b="0">
                <a:solidFill>
                  <a:srgbClr val="526276"/>
                </a:solidFill>
                <a:latin typeface="Arial"/>
                <a:ea typeface="Arial"/>
                <a:cs typeface="Arial"/>
              </a:defRPr>
            </a:pPr>
            <a:r>
              <a:rPr sz="2100" b="0">
                <a:solidFill>
                  <a:srgbClr val="526276"/>
                </a:solidFill>
                <a:latin typeface="Arial"/>
                <a:ea typeface="Arial"/>
                <a:cs typeface="Arial"/>
              </a:rPr>
              <a:t>Chapters 1–3 Defense</a:t>
            </a:r>
          </a:p>
        </p:txBody>
      </p:sp>
    </p:spTree>
    <p:extLst>
      <p:ext uri="{BB962C8B-B14F-4D97-AF65-F5344CB8AC3E}">
        <p14:creationId xmlns:p14="http://schemas.microsoft.com/office/powerpoint/2010/main" val="7452710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F6BACD91-3BEE-4BDF-9DD4-0EE46B6C7E65}"/>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61BE0F9B-6FDE-4F3B-8A2F-8211554FBDC9}"/>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Pre-event information for residents</a:t>
            </a:r>
          </a:p>
        </p:txBody>
      </p:sp>
      <p:sp>
        <p:nvSpPr>
          <p:cNvPr id="3" name="yellow-accent-rule">
            <a:extLst xmlns:a="http://schemas.openxmlformats.org/drawingml/2006/main">
              <a:ext uri="{FF2B5EF4-FFF2-40B4-BE49-F238E27FC236}">
                <a16:creationId xmlns:a16="http://schemas.microsoft.com/office/drawing/2014/main" id="{33D4DE90-0243-49B0-AF5F-4F0733F13868}"/>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406F27FD-63EC-41DD-BFD5-4DE71B7F029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Introduction; JICA (2021)</a:t>
            </a:r>
          </a:p>
        </p:txBody>
      </p:sp>
      <p:sp>
        <p:nvSpPr>
          <p:cNvPr id="5" name="page">
            <a:extLst xmlns:a="http://schemas.openxmlformats.org/drawingml/2006/main">
              <a:ext uri="{FF2B5EF4-FFF2-40B4-BE49-F238E27FC236}">
                <a16:creationId xmlns:a16="http://schemas.microsoft.com/office/drawing/2014/main" id="{EA7A9ABD-C78E-4CA1-9794-D6D2D7CD0715}"/>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02</a:t>
            </a:r>
          </a:p>
        </p:txBody>
      </p:sp>
      <p:sp>
        <p:nvSpPr>
          <p:cNvPr id="6" name="statement-1">
            <a:extLst xmlns:a="http://schemas.openxmlformats.org/drawingml/2006/main">
              <a:ext uri="{FF2B5EF4-FFF2-40B4-BE49-F238E27FC236}">
                <a16:creationId xmlns:a16="http://schemas.microsoft.com/office/drawing/2014/main" id="{1469442A-AA36-4F9E-97DA-DDF3B3F0FF88}"/>
              </a:ext>
            </a:extLst>
          </p:cNvPr>
          <p:cNvSpPr>
            <a:spLocks xmlns:a="http://schemas.openxmlformats.org/drawingml/2006/main" noGrp="1"/>
          </p:cNvSpPr>
          <p:nvPr/>
        </p:nvSpPr>
        <p:spPr>
          <a:xfrm xmlns:a="http://schemas.openxmlformats.org/drawingml/2006/main">
            <a:off x="762000" y="2743200"/>
            <a:ext cx="13716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Residents make preparation and travel decisions before a possible flood.</a:t>
            </a:r>
          </a:p>
        </p:txBody>
      </p:sp>
      <p:sp>
        <p:nvSpPr>
          <p:cNvPr id="7" name="statement-2">
            <a:extLst xmlns:a="http://schemas.openxmlformats.org/drawingml/2006/main">
              <a:ext uri="{FF2B5EF4-FFF2-40B4-BE49-F238E27FC236}">
                <a16:creationId xmlns:a16="http://schemas.microsoft.com/office/drawing/2014/main" id="{D133D7ED-3B90-4B63-8775-397C3033DBD7}"/>
              </a:ext>
            </a:extLst>
          </p:cNvPr>
          <p:cNvSpPr>
            <a:spLocks xmlns:a="http://schemas.openxmlformats.org/drawingml/2006/main" noGrp="1"/>
          </p:cNvSpPr>
          <p:nvPr/>
        </p:nvSpPr>
        <p:spPr>
          <a:xfrm xmlns:a="http://schemas.openxmlformats.org/drawingml/2006/main">
            <a:off x="762000" y="4200525"/>
            <a:ext cx="13716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Local context affects how broad rainfall information applies to a selected place.</a:t>
            </a:r>
          </a:p>
        </p:txBody>
      </p:sp>
      <p:sp>
        <p:nvSpPr>
          <p:cNvPr id="8" name="statement-3">
            <a:extLst xmlns:a="http://schemas.openxmlformats.org/drawingml/2006/main">
              <a:ext uri="{FF2B5EF4-FFF2-40B4-BE49-F238E27FC236}">
                <a16:creationId xmlns:a16="http://schemas.microsoft.com/office/drawing/2014/main" id="{A2610B91-FED3-4E8E-94AF-5C990751EB1B}"/>
              </a:ext>
            </a:extLst>
          </p:cNvPr>
          <p:cNvSpPr>
            <a:spLocks xmlns:a="http://schemas.openxmlformats.org/drawingml/2006/main" noGrp="1"/>
          </p:cNvSpPr>
          <p:nvPr/>
        </p:nvSpPr>
        <p:spPr>
          <a:xfrm xmlns:a="http://schemas.openxmlformats.org/drawingml/2006/main">
            <a:off x="762000" y="5657850"/>
            <a:ext cx="13716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The proposed application explains a user-selected scenario and supports preparedness.</a:t>
            </a:r>
          </a:p>
        </p:txBody>
      </p:sp>
    </p:spTree>
    <p:extLst>
      <p:ext uri="{BB962C8B-B14F-4D97-AF65-F5344CB8AC3E}">
        <p14:creationId xmlns:p14="http://schemas.microsoft.com/office/powerpoint/2010/main" val="3313836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6103FE8-19FD-48BB-9F06-2F33342C0904}"/>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A69234BD-B0EC-4EEA-B584-6EA24315B4D5}"/>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Initial resident needs assessment</a:t>
            </a:r>
          </a:p>
        </p:txBody>
      </p:sp>
      <p:sp>
        <p:nvSpPr>
          <p:cNvPr id="3" name="yellow-accent-rule">
            <a:extLst xmlns:a="http://schemas.openxmlformats.org/drawingml/2006/main">
              <a:ext uri="{FF2B5EF4-FFF2-40B4-BE49-F238E27FC236}">
                <a16:creationId xmlns:a16="http://schemas.microsoft.com/office/drawing/2014/main" id="{E7878B9E-C103-444B-9360-52FD22FC9FED}"/>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38D84D7B-A43B-4E7A-A121-ADA01B8F938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Empathize and Participants; Appendix 7</a:t>
            </a:r>
          </a:p>
        </p:txBody>
      </p:sp>
      <p:sp>
        <p:nvSpPr>
          <p:cNvPr id="5" name="page">
            <a:extLst xmlns:a="http://schemas.openxmlformats.org/drawingml/2006/main">
              <a:ext uri="{FF2B5EF4-FFF2-40B4-BE49-F238E27FC236}">
                <a16:creationId xmlns:a16="http://schemas.microsoft.com/office/drawing/2014/main" id="{53C77905-9797-4926-939D-0C35F0A0226F}"/>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03</a:t>
            </a:r>
          </a:p>
        </p:txBody>
      </p:sp>
      <p:sp>
        <p:nvSpPr>
          <p:cNvPr id="6" name="sample-count">
            <a:extLst xmlns:a="http://schemas.openxmlformats.org/drawingml/2006/main">
              <a:ext uri="{FF2B5EF4-FFF2-40B4-BE49-F238E27FC236}">
                <a16:creationId xmlns:a16="http://schemas.microsoft.com/office/drawing/2014/main" id="{4D1AF401-7D93-499E-9B08-92FA9847DED8}"/>
              </a:ext>
            </a:extLst>
          </p:cNvPr>
          <p:cNvSpPr>
            <a:spLocks xmlns:a="http://schemas.openxmlformats.org/drawingml/2006/main" noGrp="1"/>
          </p:cNvSpPr>
          <p:nvPr/>
        </p:nvSpPr>
        <p:spPr>
          <a:xfrm xmlns:a="http://schemas.openxmlformats.org/drawingml/2006/main">
            <a:off x="762000" y="2609850"/>
            <a:ext cx="2857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600" b="1">
                <a:solidFill>
                  <a:srgbClr val="164E91"/>
                </a:solidFill>
                <a:latin typeface="Arial"/>
                <a:ea typeface="Arial"/>
                <a:cs typeface="Arial"/>
              </a:defRPr>
            </a:defPPr>
            <a:lvl1pPr algn="l">
              <a:defRPr sz="9600" b="1">
                <a:solidFill>
                  <a:srgbClr val="164E91"/>
                </a:solidFill>
                <a:latin typeface="Arial"/>
                <a:ea typeface="Arial"/>
                <a:cs typeface="Arial"/>
              </a:defRPr>
            </a:lvl1pPr>
            <a:lvl2pPr algn="l">
              <a:defRPr sz="9600" b="1">
                <a:solidFill>
                  <a:srgbClr val="164E91"/>
                </a:solidFill>
                <a:latin typeface="Arial"/>
                <a:ea typeface="Arial"/>
                <a:cs typeface="Arial"/>
              </a:defRPr>
            </a:lvl2pPr>
            <a:lvl3pPr algn="l">
              <a:defRPr sz="9600" b="1">
                <a:solidFill>
                  <a:srgbClr val="164E91"/>
                </a:solidFill>
                <a:latin typeface="Arial"/>
                <a:ea typeface="Arial"/>
                <a:cs typeface="Arial"/>
              </a:defRPr>
            </a:lvl3pPr>
            <a:lvl4pPr algn="l">
              <a:defRPr sz="9600" b="1">
                <a:solidFill>
                  <a:srgbClr val="164E91"/>
                </a:solidFill>
                <a:latin typeface="Arial"/>
                <a:ea typeface="Arial"/>
                <a:cs typeface="Arial"/>
              </a:defRPr>
            </a:lvl4pPr>
            <a:lvl5pPr algn="l">
              <a:defRPr sz="9600" b="1">
                <a:solidFill>
                  <a:srgbClr val="164E91"/>
                </a:solidFill>
                <a:latin typeface="Arial"/>
                <a:ea typeface="Arial"/>
                <a:cs typeface="Arial"/>
              </a:defRPr>
            </a:lvl5pPr>
            <a:lvl6pPr algn="l">
              <a:defRPr sz="9600" b="1">
                <a:solidFill>
                  <a:srgbClr val="164E91"/>
                </a:solidFill>
                <a:latin typeface="Arial"/>
                <a:ea typeface="Arial"/>
                <a:cs typeface="Arial"/>
              </a:defRPr>
            </a:lvl6pPr>
            <a:lvl7pPr algn="l">
              <a:defRPr sz="9600" b="1">
                <a:solidFill>
                  <a:srgbClr val="164E91"/>
                </a:solidFill>
                <a:latin typeface="Arial"/>
                <a:ea typeface="Arial"/>
                <a:cs typeface="Arial"/>
              </a:defRPr>
            </a:lvl7pPr>
            <a:lvl8pPr algn="l">
              <a:defRPr sz="9600" b="1">
                <a:solidFill>
                  <a:srgbClr val="164E91"/>
                </a:solidFill>
                <a:latin typeface="Arial"/>
                <a:ea typeface="Arial"/>
                <a:cs typeface="Arial"/>
              </a:defRPr>
            </a:lvl8pPr>
            <a:lvl9pPr algn="l">
              <a:defRPr sz="9600" b="1">
                <a:solidFill>
                  <a:srgbClr val="164E91"/>
                </a:solidFill>
                <a:latin typeface="Arial"/>
                <a:ea typeface="Arial"/>
                <a:cs typeface="Arial"/>
              </a:defRPr>
            </a:lvl9pPr>
          </a:lstStyle>
          <a:p xmlns:a="http://schemas.openxmlformats.org/drawingml/2006/main">
            <a:pPr algn="l">
              <a:defRPr sz="9600" b="1">
                <a:solidFill>
                  <a:srgbClr val="164E91"/>
                </a:solidFill>
                <a:latin typeface="Arial"/>
                <a:ea typeface="Arial"/>
                <a:cs typeface="Arial"/>
              </a:defRPr>
            </a:pPr>
            <a:r>
              <a:rPr sz="9600" b="1">
                <a:solidFill>
                  <a:srgbClr val="164E91"/>
                </a:solidFill>
                <a:latin typeface="Arial"/>
                <a:ea typeface="Arial"/>
                <a:cs typeface="Arial"/>
              </a:rPr>
              <a:t>40</a:t>
            </a:r>
          </a:p>
        </p:txBody>
      </p:sp>
      <p:sp>
        <p:nvSpPr>
          <p:cNvPr id="7" name="sample-label">
            <a:extLst xmlns:a="http://schemas.openxmlformats.org/drawingml/2006/main">
              <a:ext uri="{FF2B5EF4-FFF2-40B4-BE49-F238E27FC236}">
                <a16:creationId xmlns:a16="http://schemas.microsoft.com/office/drawing/2014/main" id="{5624459D-911B-4566-9721-280752AE5C45}"/>
              </a:ext>
            </a:extLst>
          </p:cNvPr>
          <p:cNvSpPr>
            <a:spLocks xmlns:a="http://schemas.openxmlformats.org/drawingml/2006/main" noGrp="1"/>
          </p:cNvSpPr>
          <p:nvPr/>
        </p:nvSpPr>
        <p:spPr>
          <a:xfrm xmlns:a="http://schemas.openxmlformats.org/drawingml/2006/main">
            <a:off x="3857625" y="284797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82B45"/>
                </a:solidFill>
                <a:latin typeface="Arial"/>
                <a:ea typeface="Arial"/>
                <a:cs typeface="Arial"/>
              </a:defRPr>
            </a:defPPr>
            <a:lvl1pPr algn="l">
              <a:defRPr sz="3450" b="1">
                <a:solidFill>
                  <a:srgbClr val="182B45"/>
                </a:solidFill>
                <a:latin typeface="Arial"/>
                <a:ea typeface="Arial"/>
                <a:cs typeface="Arial"/>
              </a:defRPr>
            </a:lvl1pPr>
            <a:lvl2pPr algn="l">
              <a:defRPr sz="3450" b="1">
                <a:solidFill>
                  <a:srgbClr val="182B45"/>
                </a:solidFill>
                <a:latin typeface="Arial"/>
                <a:ea typeface="Arial"/>
                <a:cs typeface="Arial"/>
              </a:defRPr>
            </a:lvl2pPr>
            <a:lvl3pPr algn="l">
              <a:defRPr sz="3450" b="1">
                <a:solidFill>
                  <a:srgbClr val="182B45"/>
                </a:solidFill>
                <a:latin typeface="Arial"/>
                <a:ea typeface="Arial"/>
                <a:cs typeface="Arial"/>
              </a:defRPr>
            </a:lvl3pPr>
            <a:lvl4pPr algn="l">
              <a:defRPr sz="3450" b="1">
                <a:solidFill>
                  <a:srgbClr val="182B45"/>
                </a:solidFill>
                <a:latin typeface="Arial"/>
                <a:ea typeface="Arial"/>
                <a:cs typeface="Arial"/>
              </a:defRPr>
            </a:lvl4pPr>
            <a:lvl5pPr algn="l">
              <a:defRPr sz="3450" b="1">
                <a:solidFill>
                  <a:srgbClr val="182B45"/>
                </a:solidFill>
                <a:latin typeface="Arial"/>
                <a:ea typeface="Arial"/>
                <a:cs typeface="Arial"/>
              </a:defRPr>
            </a:lvl5pPr>
            <a:lvl6pPr algn="l">
              <a:defRPr sz="3450" b="1">
                <a:solidFill>
                  <a:srgbClr val="182B45"/>
                </a:solidFill>
                <a:latin typeface="Arial"/>
                <a:ea typeface="Arial"/>
                <a:cs typeface="Arial"/>
              </a:defRPr>
            </a:lvl6pPr>
            <a:lvl7pPr algn="l">
              <a:defRPr sz="3450" b="1">
                <a:solidFill>
                  <a:srgbClr val="182B45"/>
                </a:solidFill>
                <a:latin typeface="Arial"/>
                <a:ea typeface="Arial"/>
                <a:cs typeface="Arial"/>
              </a:defRPr>
            </a:lvl7pPr>
            <a:lvl8pPr algn="l">
              <a:defRPr sz="3450" b="1">
                <a:solidFill>
                  <a:srgbClr val="182B45"/>
                </a:solidFill>
                <a:latin typeface="Arial"/>
                <a:ea typeface="Arial"/>
                <a:cs typeface="Arial"/>
              </a:defRPr>
            </a:lvl8pPr>
            <a:lvl9pPr algn="l">
              <a:defRPr sz="3450" b="1">
                <a:solidFill>
                  <a:srgbClr val="182B45"/>
                </a:solidFill>
                <a:latin typeface="Arial"/>
                <a:ea typeface="Arial"/>
                <a:cs typeface="Arial"/>
              </a:defRPr>
            </a:lvl9pPr>
          </a:lstStyle>
          <a:p xmlns:a="http://schemas.openxmlformats.org/drawingml/2006/main">
            <a:pPr algn="l">
              <a:defRPr sz="3450" b="1">
                <a:solidFill>
                  <a:srgbClr val="182B45"/>
                </a:solidFill>
                <a:latin typeface="Arial"/>
                <a:ea typeface="Arial"/>
                <a:cs typeface="Arial"/>
              </a:defRPr>
            </a:pPr>
            <a:r>
              <a:rPr sz="3450" b="1">
                <a:solidFill>
                  <a:srgbClr val="182B45"/>
                </a:solidFill>
                <a:latin typeface="Arial"/>
                <a:ea typeface="Arial"/>
                <a:cs typeface="Arial"/>
              </a:rPr>
              <a:t>qualified respondents</a:t>
            </a:r>
          </a:p>
        </p:txBody>
      </p:sp>
      <p:sp>
        <p:nvSpPr>
          <p:cNvPr id="8" name="survey-date">
            <a:extLst xmlns:a="http://schemas.openxmlformats.org/drawingml/2006/main">
              <a:ext uri="{FF2B5EF4-FFF2-40B4-BE49-F238E27FC236}">
                <a16:creationId xmlns:a16="http://schemas.microsoft.com/office/drawing/2014/main" id="{B026F650-2A19-4CD6-B496-CAF2225E70F2}"/>
              </a:ext>
            </a:extLst>
          </p:cNvPr>
          <p:cNvSpPr>
            <a:spLocks xmlns:a="http://schemas.openxmlformats.org/drawingml/2006/main" noGrp="1"/>
          </p:cNvSpPr>
          <p:nvPr/>
        </p:nvSpPr>
        <p:spPr>
          <a:xfrm xmlns:a="http://schemas.openxmlformats.org/drawingml/2006/main">
            <a:off x="3857625" y="36671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October 11, 2026</a:t>
            </a:r>
          </a:p>
        </p:txBody>
      </p:sp>
      <p:sp>
        <p:nvSpPr>
          <p:cNvPr id="9" name="statement-1">
            <a:extLst xmlns:a="http://schemas.openxmlformats.org/drawingml/2006/main">
              <a:ext uri="{FF2B5EF4-FFF2-40B4-BE49-F238E27FC236}">
                <a16:creationId xmlns:a16="http://schemas.microsoft.com/office/drawing/2014/main" id="{438B0918-8CDB-4A64-8DD4-8F2A9CE6C3CD}"/>
              </a:ext>
            </a:extLst>
          </p:cNvPr>
          <p:cNvSpPr>
            <a:spLocks xmlns:a="http://schemas.openxmlformats.org/drawingml/2006/main" noGrp="1"/>
          </p:cNvSpPr>
          <p:nvPr/>
        </p:nvSpPr>
        <p:spPr>
          <a:xfrm xmlns:a="http://schemas.openxmlformats.org/drawingml/2006/main">
            <a:off x="762000" y="4838700"/>
            <a:ext cx="13716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Purposive sampling across 14 Bacoor City barangays</a:t>
            </a:r>
          </a:p>
        </p:txBody>
      </p:sp>
      <p:sp>
        <p:nvSpPr>
          <p:cNvPr id="10" name="statement-2">
            <a:extLst xmlns:a="http://schemas.openxmlformats.org/drawingml/2006/main">
              <a:ext uri="{FF2B5EF4-FFF2-40B4-BE49-F238E27FC236}">
                <a16:creationId xmlns:a16="http://schemas.microsoft.com/office/drawing/2014/main" id="{1FD2356D-5881-432B-8C8F-41F08637044C}"/>
              </a:ext>
            </a:extLst>
          </p:cNvPr>
          <p:cNvSpPr>
            <a:spLocks xmlns:a="http://schemas.openxmlformats.org/drawingml/2006/main" noGrp="1"/>
          </p:cNvSpPr>
          <p:nvPr/>
        </p:nvSpPr>
        <p:spPr>
          <a:xfrm xmlns:a="http://schemas.openxmlformats.org/drawingml/2006/main">
            <a:off x="762000" y="5705475"/>
            <a:ext cx="13716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Google Forms and face-to-face collection</a:t>
            </a:r>
          </a:p>
        </p:txBody>
      </p:sp>
      <p:sp>
        <p:nvSpPr>
          <p:cNvPr id="11" name="statement-3">
            <a:extLst xmlns:a="http://schemas.openxmlformats.org/drawingml/2006/main">
              <a:ext uri="{FF2B5EF4-FFF2-40B4-BE49-F238E27FC236}">
                <a16:creationId xmlns:a16="http://schemas.microsoft.com/office/drawing/2014/main" id="{E1844C2D-A073-4D14-A0FA-8EA930AB2342}"/>
              </a:ext>
            </a:extLst>
          </p:cNvPr>
          <p:cNvSpPr>
            <a:spLocks xmlns:a="http://schemas.openxmlformats.org/drawingml/2006/main" noGrp="1"/>
          </p:cNvSpPr>
          <p:nvPr/>
        </p:nvSpPr>
        <p:spPr>
          <a:xfrm xmlns:a="http://schemas.openxmlformats.org/drawingml/2006/main">
            <a:off x="762000" y="6572250"/>
            <a:ext cx="13716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Needs evidence for this group, without citywide generalization</a:t>
            </a:r>
          </a:p>
        </p:txBody>
      </p:sp>
    </p:spTree>
    <p:extLst>
      <p:ext uri="{BB962C8B-B14F-4D97-AF65-F5344CB8AC3E}">
        <p14:creationId xmlns:p14="http://schemas.microsoft.com/office/powerpoint/2010/main" val="8599296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26FC7823-A994-4E22-B0B0-B594DDEBC4FA}"/>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54C334E8-74B9-4E24-B286-2AE55487989D}"/>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Reported information difficulties</a:t>
            </a:r>
          </a:p>
        </p:txBody>
      </p:sp>
      <p:sp>
        <p:nvSpPr>
          <p:cNvPr id="3" name="yellow-accent-rule">
            <a:extLst xmlns:a="http://schemas.openxmlformats.org/drawingml/2006/main">
              <a:ext uri="{FF2B5EF4-FFF2-40B4-BE49-F238E27FC236}">
                <a16:creationId xmlns:a16="http://schemas.microsoft.com/office/drawing/2014/main" id="{DB76285F-CDD2-41FD-808D-27F76E10514A}"/>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4E20E265-8C37-4FAA-8409-EE545BB9C388}"/>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Initial needs survey, n = 40; Chapter 1 SOP and Appendix Table 2</a:t>
            </a:r>
          </a:p>
        </p:txBody>
      </p:sp>
      <p:sp>
        <p:nvSpPr>
          <p:cNvPr id="5" name="page">
            <a:extLst xmlns:a="http://schemas.openxmlformats.org/drawingml/2006/main">
              <a:ext uri="{FF2B5EF4-FFF2-40B4-BE49-F238E27FC236}">
                <a16:creationId xmlns:a16="http://schemas.microsoft.com/office/drawing/2014/main" id="{585DE20B-2A45-42C2-BF21-7E9E9FEE305B}"/>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04</a:t>
            </a:r>
          </a:p>
        </p:txBody>
      </p:sp>
      <p:graphicFrame>
        <p:nvGraphicFramePr>
          <p:cNvPr id="6" name="Chart">
            <a:extLst xmlns:a="http://schemas.openxmlformats.org/drawingml/2006/main">
              <a:ext uri="{FF2B5EF4-FFF2-40B4-BE49-F238E27FC236}">
                <a16:creationId xmlns:a16="http://schemas.microsoft.com/office/drawing/2014/main" id="{6FFD6AFA-453E-4A67-83FE-2AD7E166471B}"/>
              </a:ext>
            </a:extLst>
          </p:cNvPr>
          <p:cNvGraphicFramePr/>
          <p:nvPr/>
        </p:nvGraphicFramePr>
        <p:xfrm>
          <a:off xmlns:a="http://schemas.openxmlformats.org/drawingml/2006/main" x="762000" y="2714625"/>
          <a:ext xmlns:a="http://schemas.openxmlformats.org/drawingml/2006/main" cx="13668375" cy="4143375"/>
        </p:xfrm>
        <a:graphic xmlns:a="http://schemas.openxmlformats.org/drawingml/2006/main">
          <a:graphicData uri="http://schemas.openxmlformats.org/drawingml/2006/chart">
            <c:chart xmlns:r="http://schemas.openxmlformats.org/officeDocument/2006/relationships" xmlns:c="http://schemas.openxmlformats.org/drawingml/2006/chart" r:id="R1b7e33c0d37a4578"/>
          </a:graphicData>
        </a:graphic>
      </p:graphicFrame>
      <p:sp>
        <p:nvSpPr>
          <p:cNvPr id="7" name="sample-qualification">
            <a:extLst xmlns:a="http://schemas.openxmlformats.org/drawingml/2006/main">
              <a:ext uri="{FF2B5EF4-FFF2-40B4-BE49-F238E27FC236}">
                <a16:creationId xmlns:a16="http://schemas.microsoft.com/office/drawing/2014/main" id="{9FAE8EBE-1EAE-4AAA-A2BA-E4A8685C77DC}"/>
              </a:ext>
            </a:extLst>
          </p:cNvPr>
          <p:cNvSpPr>
            <a:spLocks xmlns:a="http://schemas.openxmlformats.org/drawingml/2006/main" noGrp="1"/>
          </p:cNvSpPr>
          <p:nvPr/>
        </p:nvSpPr>
        <p:spPr>
          <a:xfrm xmlns:a="http://schemas.openxmlformats.org/drawingml/2006/main">
            <a:off x="762000" y="72199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82B45"/>
                </a:solidFill>
                <a:latin typeface="Arial"/>
                <a:ea typeface="Arial"/>
                <a:cs typeface="Arial"/>
              </a:defRPr>
            </a:defPPr>
            <a:lvl1pPr algn="l">
              <a:defRPr sz="2550" b="0">
                <a:solidFill>
                  <a:srgbClr val="182B45"/>
                </a:solidFill>
                <a:latin typeface="Arial"/>
                <a:ea typeface="Arial"/>
                <a:cs typeface="Arial"/>
              </a:defRPr>
            </a:lvl1pPr>
            <a:lvl2pPr algn="l">
              <a:defRPr sz="2550" b="0">
                <a:solidFill>
                  <a:srgbClr val="182B45"/>
                </a:solidFill>
                <a:latin typeface="Arial"/>
                <a:ea typeface="Arial"/>
                <a:cs typeface="Arial"/>
              </a:defRPr>
            </a:lvl2pPr>
            <a:lvl3pPr algn="l">
              <a:defRPr sz="2550" b="0">
                <a:solidFill>
                  <a:srgbClr val="182B45"/>
                </a:solidFill>
                <a:latin typeface="Arial"/>
                <a:ea typeface="Arial"/>
                <a:cs typeface="Arial"/>
              </a:defRPr>
            </a:lvl3pPr>
            <a:lvl4pPr algn="l">
              <a:defRPr sz="2550" b="0">
                <a:solidFill>
                  <a:srgbClr val="182B45"/>
                </a:solidFill>
                <a:latin typeface="Arial"/>
                <a:ea typeface="Arial"/>
                <a:cs typeface="Arial"/>
              </a:defRPr>
            </a:lvl4pPr>
            <a:lvl5pPr algn="l">
              <a:defRPr sz="2550" b="0">
                <a:solidFill>
                  <a:srgbClr val="182B45"/>
                </a:solidFill>
                <a:latin typeface="Arial"/>
                <a:ea typeface="Arial"/>
                <a:cs typeface="Arial"/>
              </a:defRPr>
            </a:lvl5pPr>
            <a:lvl6pPr algn="l">
              <a:defRPr sz="2550" b="0">
                <a:solidFill>
                  <a:srgbClr val="182B45"/>
                </a:solidFill>
                <a:latin typeface="Arial"/>
                <a:ea typeface="Arial"/>
                <a:cs typeface="Arial"/>
              </a:defRPr>
            </a:lvl6pPr>
            <a:lvl7pPr algn="l">
              <a:defRPr sz="2550" b="0">
                <a:solidFill>
                  <a:srgbClr val="182B45"/>
                </a:solidFill>
                <a:latin typeface="Arial"/>
                <a:ea typeface="Arial"/>
                <a:cs typeface="Arial"/>
              </a:defRPr>
            </a:lvl7pPr>
            <a:lvl8pPr algn="l">
              <a:defRPr sz="2550" b="0">
                <a:solidFill>
                  <a:srgbClr val="182B45"/>
                </a:solidFill>
                <a:latin typeface="Arial"/>
                <a:ea typeface="Arial"/>
                <a:cs typeface="Arial"/>
              </a:defRPr>
            </a:lvl8pPr>
            <a:lvl9pPr algn="l">
              <a:defRPr sz="2550" b="0">
                <a:solidFill>
                  <a:srgbClr val="182B45"/>
                </a:solidFill>
                <a:latin typeface="Arial"/>
                <a:ea typeface="Arial"/>
                <a:cs typeface="Arial"/>
              </a:defRPr>
            </a:lvl9pPr>
          </a:lstStyle>
          <a:p xmlns:a="http://schemas.openxmlformats.org/drawingml/2006/main">
            <a:pPr algn="l">
              <a:defRPr sz="2550" b="0">
                <a:solidFill>
                  <a:srgbClr val="182B45"/>
                </a:solidFill>
                <a:latin typeface="Arial"/>
                <a:ea typeface="Arial"/>
                <a:cs typeface="Arial"/>
              </a:defRPr>
            </a:pPr>
            <a:r>
              <a:rPr sz="2550" b="0">
                <a:solidFill>
                  <a:srgbClr val="182B45"/>
                </a:solidFill>
                <a:latin typeface="Arial"/>
                <a:ea typeface="Arial"/>
                <a:cs typeface="Arial"/>
              </a:rPr>
              <a:t>Reported by the purposive sample. Each percentage uses 40 respondents.</a:t>
            </a:r>
          </a:p>
        </p:txBody>
      </p:sp>
    </p:spTree>
    <p:extLst>
      <p:ext uri="{BB962C8B-B14F-4D97-AF65-F5344CB8AC3E}">
        <p14:creationId xmlns:p14="http://schemas.microsoft.com/office/powerpoint/2010/main" val="2359727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C96D9C9F-C0CC-4E01-A199-4EDC5E44524B}"/>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48C32448-D535-4A89-AE3B-21C56C5F574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Statement of the Problem</a:t>
            </a:r>
          </a:p>
        </p:txBody>
      </p:sp>
      <p:sp>
        <p:nvSpPr>
          <p:cNvPr id="3" name="yellow-accent-rule">
            <a:extLst xmlns:a="http://schemas.openxmlformats.org/drawingml/2006/main">
              <a:ext uri="{FF2B5EF4-FFF2-40B4-BE49-F238E27FC236}">
                <a16:creationId xmlns:a16="http://schemas.microsoft.com/office/drawing/2014/main" id="{8ED82995-CF55-4638-A8AD-3D692D5AE256}"/>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AF13D7D5-37B4-46A5-A0F8-EF318848E6CD}"/>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Statement of the Problem</a:t>
            </a:r>
          </a:p>
        </p:txBody>
      </p:sp>
      <p:sp>
        <p:nvSpPr>
          <p:cNvPr id="5" name="page">
            <a:extLst xmlns:a="http://schemas.openxmlformats.org/drawingml/2006/main">
              <a:ext uri="{FF2B5EF4-FFF2-40B4-BE49-F238E27FC236}">
                <a16:creationId xmlns:a16="http://schemas.microsoft.com/office/drawing/2014/main" id="{58EDDFB6-F674-4F8E-8ACB-E8C570624FF1}"/>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05</a:t>
            </a:r>
          </a:p>
        </p:txBody>
      </p:sp>
      <p:sp>
        <p:nvSpPr>
          <p:cNvPr id="6" name="row-1-label">
            <a:extLst xmlns:a="http://schemas.openxmlformats.org/drawingml/2006/main">
              <a:ext uri="{FF2B5EF4-FFF2-40B4-BE49-F238E27FC236}">
                <a16:creationId xmlns:a16="http://schemas.microsoft.com/office/drawing/2014/main" id="{0E9499A8-E039-4752-8259-1270FBE5AEE2}"/>
              </a:ext>
            </a:extLst>
          </p:cNvPr>
          <p:cNvSpPr>
            <a:spLocks xmlns:a="http://schemas.openxmlformats.org/drawingml/2006/main" noGrp="1"/>
          </p:cNvSpPr>
          <p:nvPr/>
        </p:nvSpPr>
        <p:spPr>
          <a:xfrm xmlns:a="http://schemas.openxmlformats.org/drawingml/2006/main">
            <a:off x="762000" y="2667000"/>
            <a:ext cx="571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1</a:t>
            </a:r>
          </a:p>
        </p:txBody>
      </p:sp>
      <p:sp>
        <p:nvSpPr>
          <p:cNvPr id="7" name="row-1-text">
            <a:extLst xmlns:a="http://schemas.openxmlformats.org/drawingml/2006/main">
              <a:ext uri="{FF2B5EF4-FFF2-40B4-BE49-F238E27FC236}">
                <a16:creationId xmlns:a16="http://schemas.microsoft.com/office/drawing/2014/main" id="{F69C98CE-D560-44D5-AE27-0AF0FE0B2AB3}"/>
              </a:ext>
            </a:extLst>
          </p:cNvPr>
          <p:cNvSpPr>
            <a:spLocks xmlns:a="http://schemas.openxmlformats.org/drawingml/2006/main" noGrp="1"/>
          </p:cNvSpPr>
          <p:nvPr/>
        </p:nvSpPr>
        <p:spPr>
          <a:xfrm xmlns:a="http://schemas.openxmlformats.org/drawingml/2006/main">
            <a:off x="1562100" y="2667000"/>
            <a:ext cx="12906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What flood-information difficulties affected pre-event decisions among the surveyed residents?</a:t>
            </a:r>
          </a:p>
        </p:txBody>
      </p:sp>
      <p:sp>
        <p:nvSpPr>
          <p:cNvPr id="8" name="row-2-label">
            <a:extLst xmlns:a="http://schemas.openxmlformats.org/drawingml/2006/main">
              <a:ext uri="{FF2B5EF4-FFF2-40B4-BE49-F238E27FC236}">
                <a16:creationId xmlns:a16="http://schemas.microsoft.com/office/drawing/2014/main" id="{CC114F37-0C2B-4025-9039-69777C35D778}"/>
              </a:ext>
            </a:extLst>
          </p:cNvPr>
          <p:cNvSpPr>
            <a:spLocks xmlns:a="http://schemas.openxmlformats.org/drawingml/2006/main" noGrp="1"/>
          </p:cNvSpPr>
          <p:nvPr/>
        </p:nvSpPr>
        <p:spPr>
          <a:xfrm xmlns:a="http://schemas.openxmlformats.org/drawingml/2006/main">
            <a:off x="762000" y="4286250"/>
            <a:ext cx="571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2</a:t>
            </a:r>
          </a:p>
        </p:txBody>
      </p:sp>
      <p:sp>
        <p:nvSpPr>
          <p:cNvPr id="9" name="row-2-text">
            <a:extLst xmlns:a="http://schemas.openxmlformats.org/drawingml/2006/main">
              <a:ext uri="{FF2B5EF4-FFF2-40B4-BE49-F238E27FC236}">
                <a16:creationId xmlns:a16="http://schemas.microsoft.com/office/drawing/2014/main" id="{307AAAEE-EA4F-4783-AB1D-E3788B2622AB}"/>
              </a:ext>
            </a:extLst>
          </p:cNvPr>
          <p:cNvSpPr>
            <a:spLocks xmlns:a="http://schemas.openxmlformats.org/drawingml/2006/main" noGrp="1"/>
          </p:cNvSpPr>
          <p:nvPr/>
        </p:nvSpPr>
        <p:spPr>
          <a:xfrm xmlns:a="http://schemas.openxmlformats.org/drawingml/2006/main">
            <a:off x="1562100" y="4286250"/>
            <a:ext cx="12906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What difficulties did the surveyed residents encounter in determining and interpreting flood susceptibility for their location?</a:t>
            </a:r>
          </a:p>
        </p:txBody>
      </p:sp>
      <p:sp>
        <p:nvSpPr>
          <p:cNvPr id="10" name="row-3-label">
            <a:extLst xmlns:a="http://schemas.openxmlformats.org/drawingml/2006/main">
              <a:ext uri="{FF2B5EF4-FFF2-40B4-BE49-F238E27FC236}">
                <a16:creationId xmlns:a16="http://schemas.microsoft.com/office/drawing/2014/main" id="{3FE40700-3203-4927-86AF-88078DF677F4}"/>
              </a:ext>
            </a:extLst>
          </p:cNvPr>
          <p:cNvSpPr>
            <a:spLocks xmlns:a="http://schemas.openxmlformats.org/drawingml/2006/main" noGrp="1"/>
          </p:cNvSpPr>
          <p:nvPr/>
        </p:nvSpPr>
        <p:spPr>
          <a:xfrm xmlns:a="http://schemas.openxmlformats.org/drawingml/2006/main">
            <a:off x="762000" y="5905500"/>
            <a:ext cx="5715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3</a:t>
            </a:r>
          </a:p>
        </p:txBody>
      </p:sp>
      <p:sp>
        <p:nvSpPr>
          <p:cNvPr id="11" name="row-3-text">
            <a:extLst xmlns:a="http://schemas.openxmlformats.org/drawingml/2006/main">
              <a:ext uri="{FF2B5EF4-FFF2-40B4-BE49-F238E27FC236}">
                <a16:creationId xmlns:a16="http://schemas.microsoft.com/office/drawing/2014/main" id="{10D4D274-CD6E-4E88-8693-62C8DB522991}"/>
              </a:ext>
            </a:extLst>
          </p:cNvPr>
          <p:cNvSpPr>
            <a:spLocks xmlns:a="http://schemas.openxmlformats.org/drawingml/2006/main" noGrp="1"/>
          </p:cNvSpPr>
          <p:nvPr/>
        </p:nvSpPr>
        <p:spPr>
          <a:xfrm xmlns:a="http://schemas.openxmlformats.org/drawingml/2006/main">
            <a:off x="1562100" y="5905500"/>
            <a:ext cx="12906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What difficulties did the surveyed residents report in obtaining actionable pre-event guidance and verified evacuation-center information?</a:t>
            </a:r>
          </a:p>
        </p:txBody>
      </p:sp>
    </p:spTree>
    <p:extLst>
      <p:ext uri="{BB962C8B-B14F-4D97-AF65-F5344CB8AC3E}">
        <p14:creationId xmlns:p14="http://schemas.microsoft.com/office/powerpoint/2010/main" val="15911026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30D243E5-42FC-4115-91C3-AF50EAB1264A}"/>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A66899B0-F02B-4394-8280-FE5AB58DE07C}"/>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Needs and requirements objectives</a:t>
            </a:r>
          </a:p>
        </p:txBody>
      </p:sp>
      <p:sp>
        <p:nvSpPr>
          <p:cNvPr id="3" name="yellow-accent-rule">
            <a:extLst xmlns:a="http://schemas.openxmlformats.org/drawingml/2006/main">
              <a:ext uri="{FF2B5EF4-FFF2-40B4-BE49-F238E27FC236}">
                <a16:creationId xmlns:a16="http://schemas.microsoft.com/office/drawing/2014/main" id="{2B90D126-A996-4C7C-947D-538FE6ADAFFB}"/>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31F65C7A-2FD1-4591-8A28-93EA9C1D007C}"/>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Objectives 1–2</a:t>
            </a:r>
          </a:p>
        </p:txBody>
      </p:sp>
      <p:sp>
        <p:nvSpPr>
          <p:cNvPr id="5" name="page">
            <a:extLst xmlns:a="http://schemas.openxmlformats.org/drawingml/2006/main">
              <a:ext uri="{FF2B5EF4-FFF2-40B4-BE49-F238E27FC236}">
                <a16:creationId xmlns:a16="http://schemas.microsoft.com/office/drawing/2014/main" id="{34D2D2FE-B52E-4D94-B2DC-08612F9CD33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06</a:t>
            </a:r>
          </a:p>
        </p:txBody>
      </p:sp>
      <p:sp>
        <p:nvSpPr>
          <p:cNvPr id="6" name="row-1-label">
            <a:extLst xmlns:a="http://schemas.openxmlformats.org/drawingml/2006/main">
              <a:ext uri="{FF2B5EF4-FFF2-40B4-BE49-F238E27FC236}">
                <a16:creationId xmlns:a16="http://schemas.microsoft.com/office/drawing/2014/main" id="{BC99289D-AFF6-4D61-9A86-1433E18D2BD6}"/>
              </a:ext>
            </a:extLst>
          </p:cNvPr>
          <p:cNvSpPr>
            <a:spLocks xmlns:a="http://schemas.openxmlformats.org/drawingml/2006/main" noGrp="1"/>
          </p:cNvSpPr>
          <p:nvPr/>
        </p:nvSpPr>
        <p:spPr>
          <a:xfrm xmlns:a="http://schemas.openxmlformats.org/drawingml/2006/main">
            <a:off x="762000" y="2667000"/>
            <a:ext cx="6191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4E91"/>
                </a:solidFill>
                <a:latin typeface="Arial"/>
                <a:ea typeface="Arial"/>
                <a:cs typeface="Arial"/>
              </a:defRPr>
            </a:defPPr>
            <a:lvl1pPr algn="l">
              <a:defRPr sz="2925" b="1">
                <a:solidFill>
                  <a:srgbClr val="164E91"/>
                </a:solidFill>
                <a:latin typeface="Arial"/>
                <a:ea typeface="Arial"/>
                <a:cs typeface="Arial"/>
              </a:defRPr>
            </a:lvl1pPr>
            <a:lvl2pPr algn="l">
              <a:defRPr sz="2925" b="1">
                <a:solidFill>
                  <a:srgbClr val="164E91"/>
                </a:solidFill>
                <a:latin typeface="Arial"/>
                <a:ea typeface="Arial"/>
                <a:cs typeface="Arial"/>
              </a:defRPr>
            </a:lvl2pPr>
            <a:lvl3pPr algn="l">
              <a:defRPr sz="2925" b="1">
                <a:solidFill>
                  <a:srgbClr val="164E91"/>
                </a:solidFill>
                <a:latin typeface="Arial"/>
                <a:ea typeface="Arial"/>
                <a:cs typeface="Arial"/>
              </a:defRPr>
            </a:lvl3pPr>
            <a:lvl4pPr algn="l">
              <a:defRPr sz="2925" b="1">
                <a:solidFill>
                  <a:srgbClr val="164E91"/>
                </a:solidFill>
                <a:latin typeface="Arial"/>
                <a:ea typeface="Arial"/>
                <a:cs typeface="Arial"/>
              </a:defRPr>
            </a:lvl4pPr>
            <a:lvl5pPr algn="l">
              <a:defRPr sz="2925" b="1">
                <a:solidFill>
                  <a:srgbClr val="164E91"/>
                </a:solidFill>
                <a:latin typeface="Arial"/>
                <a:ea typeface="Arial"/>
                <a:cs typeface="Arial"/>
              </a:defRPr>
            </a:lvl5pPr>
            <a:lvl6pPr algn="l">
              <a:defRPr sz="2925" b="1">
                <a:solidFill>
                  <a:srgbClr val="164E91"/>
                </a:solidFill>
                <a:latin typeface="Arial"/>
                <a:ea typeface="Arial"/>
                <a:cs typeface="Arial"/>
              </a:defRPr>
            </a:lvl6pPr>
            <a:lvl7pPr algn="l">
              <a:defRPr sz="2925" b="1">
                <a:solidFill>
                  <a:srgbClr val="164E91"/>
                </a:solidFill>
                <a:latin typeface="Arial"/>
                <a:ea typeface="Arial"/>
                <a:cs typeface="Arial"/>
              </a:defRPr>
            </a:lvl7pPr>
            <a:lvl8pPr algn="l">
              <a:defRPr sz="2925" b="1">
                <a:solidFill>
                  <a:srgbClr val="164E91"/>
                </a:solidFill>
                <a:latin typeface="Arial"/>
                <a:ea typeface="Arial"/>
                <a:cs typeface="Arial"/>
              </a:defRPr>
            </a:lvl8pPr>
            <a:lvl9pPr algn="l">
              <a:defRPr sz="2925" b="1">
                <a:solidFill>
                  <a:srgbClr val="164E91"/>
                </a:solidFill>
                <a:latin typeface="Arial"/>
                <a:ea typeface="Arial"/>
                <a:cs typeface="Arial"/>
              </a:defRPr>
            </a:lvl9pPr>
          </a:lstStyle>
          <a:p xmlns:a="http://schemas.openxmlformats.org/drawingml/2006/main">
            <a:pPr algn="l">
              <a:defRPr sz="2925" b="1">
                <a:solidFill>
                  <a:srgbClr val="164E91"/>
                </a:solidFill>
                <a:latin typeface="Arial"/>
                <a:ea typeface="Arial"/>
                <a:cs typeface="Arial"/>
              </a:defRPr>
            </a:pPr>
            <a:r>
              <a:rPr sz="2925" b="1">
                <a:solidFill>
                  <a:srgbClr val="164E91"/>
                </a:solidFill>
                <a:latin typeface="Arial"/>
                <a:ea typeface="Arial"/>
                <a:cs typeface="Arial"/>
              </a:rPr>
              <a:t>1</a:t>
            </a:r>
          </a:p>
        </p:txBody>
      </p:sp>
      <p:sp>
        <p:nvSpPr>
          <p:cNvPr id="7" name="row-1-text">
            <a:extLst xmlns:a="http://schemas.openxmlformats.org/drawingml/2006/main">
              <a:ext uri="{FF2B5EF4-FFF2-40B4-BE49-F238E27FC236}">
                <a16:creationId xmlns:a16="http://schemas.microsoft.com/office/drawing/2014/main" id="{16590458-C6E7-475E-8472-82CF2E67068E}"/>
              </a:ext>
            </a:extLst>
          </p:cNvPr>
          <p:cNvSpPr>
            <a:spLocks xmlns:a="http://schemas.openxmlformats.org/drawingml/2006/main" noGrp="1"/>
          </p:cNvSpPr>
          <p:nvPr/>
        </p:nvSpPr>
        <p:spPr>
          <a:xfrm xmlns:a="http://schemas.openxmlformats.org/drawingml/2006/main">
            <a:off x="1609725" y="2667000"/>
            <a:ext cx="12858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Identify the flood experiences, information-access difficulties, preparedness needs, and technology conditions reported by eligible respondents.</a:t>
            </a:r>
          </a:p>
        </p:txBody>
      </p:sp>
      <p:sp>
        <p:nvSpPr>
          <p:cNvPr id="8" name="row-2-label">
            <a:extLst xmlns:a="http://schemas.openxmlformats.org/drawingml/2006/main">
              <a:ext uri="{FF2B5EF4-FFF2-40B4-BE49-F238E27FC236}">
                <a16:creationId xmlns:a16="http://schemas.microsoft.com/office/drawing/2014/main" id="{BB4001EE-C69B-4A70-990D-51FC10253B27}"/>
              </a:ext>
            </a:extLst>
          </p:cNvPr>
          <p:cNvSpPr>
            <a:spLocks xmlns:a="http://schemas.openxmlformats.org/drawingml/2006/main" noGrp="1"/>
          </p:cNvSpPr>
          <p:nvPr/>
        </p:nvSpPr>
        <p:spPr>
          <a:xfrm xmlns:a="http://schemas.openxmlformats.org/drawingml/2006/main">
            <a:off x="762000" y="4953000"/>
            <a:ext cx="6191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4E91"/>
                </a:solidFill>
                <a:latin typeface="Arial"/>
                <a:ea typeface="Arial"/>
                <a:cs typeface="Arial"/>
              </a:defRPr>
            </a:defPPr>
            <a:lvl1pPr algn="l">
              <a:defRPr sz="2925" b="1">
                <a:solidFill>
                  <a:srgbClr val="164E91"/>
                </a:solidFill>
                <a:latin typeface="Arial"/>
                <a:ea typeface="Arial"/>
                <a:cs typeface="Arial"/>
              </a:defRPr>
            </a:lvl1pPr>
            <a:lvl2pPr algn="l">
              <a:defRPr sz="2925" b="1">
                <a:solidFill>
                  <a:srgbClr val="164E91"/>
                </a:solidFill>
                <a:latin typeface="Arial"/>
                <a:ea typeface="Arial"/>
                <a:cs typeface="Arial"/>
              </a:defRPr>
            </a:lvl2pPr>
            <a:lvl3pPr algn="l">
              <a:defRPr sz="2925" b="1">
                <a:solidFill>
                  <a:srgbClr val="164E91"/>
                </a:solidFill>
                <a:latin typeface="Arial"/>
                <a:ea typeface="Arial"/>
                <a:cs typeface="Arial"/>
              </a:defRPr>
            </a:lvl3pPr>
            <a:lvl4pPr algn="l">
              <a:defRPr sz="2925" b="1">
                <a:solidFill>
                  <a:srgbClr val="164E91"/>
                </a:solidFill>
                <a:latin typeface="Arial"/>
                <a:ea typeface="Arial"/>
                <a:cs typeface="Arial"/>
              </a:defRPr>
            </a:lvl4pPr>
            <a:lvl5pPr algn="l">
              <a:defRPr sz="2925" b="1">
                <a:solidFill>
                  <a:srgbClr val="164E91"/>
                </a:solidFill>
                <a:latin typeface="Arial"/>
                <a:ea typeface="Arial"/>
                <a:cs typeface="Arial"/>
              </a:defRPr>
            </a:lvl5pPr>
            <a:lvl6pPr algn="l">
              <a:defRPr sz="2925" b="1">
                <a:solidFill>
                  <a:srgbClr val="164E91"/>
                </a:solidFill>
                <a:latin typeface="Arial"/>
                <a:ea typeface="Arial"/>
                <a:cs typeface="Arial"/>
              </a:defRPr>
            </a:lvl6pPr>
            <a:lvl7pPr algn="l">
              <a:defRPr sz="2925" b="1">
                <a:solidFill>
                  <a:srgbClr val="164E91"/>
                </a:solidFill>
                <a:latin typeface="Arial"/>
                <a:ea typeface="Arial"/>
                <a:cs typeface="Arial"/>
              </a:defRPr>
            </a:lvl7pPr>
            <a:lvl8pPr algn="l">
              <a:defRPr sz="2925" b="1">
                <a:solidFill>
                  <a:srgbClr val="164E91"/>
                </a:solidFill>
                <a:latin typeface="Arial"/>
                <a:ea typeface="Arial"/>
                <a:cs typeface="Arial"/>
              </a:defRPr>
            </a:lvl8pPr>
            <a:lvl9pPr algn="l">
              <a:defRPr sz="2925" b="1">
                <a:solidFill>
                  <a:srgbClr val="164E91"/>
                </a:solidFill>
                <a:latin typeface="Arial"/>
                <a:ea typeface="Arial"/>
                <a:cs typeface="Arial"/>
              </a:defRPr>
            </a:lvl9pPr>
          </a:lstStyle>
          <a:p xmlns:a="http://schemas.openxmlformats.org/drawingml/2006/main">
            <a:pPr algn="l">
              <a:defRPr sz="2925" b="1">
                <a:solidFill>
                  <a:srgbClr val="164E91"/>
                </a:solidFill>
                <a:latin typeface="Arial"/>
                <a:ea typeface="Arial"/>
                <a:cs typeface="Arial"/>
              </a:defRPr>
            </a:pPr>
            <a:r>
              <a:rPr sz="2925" b="1">
                <a:solidFill>
                  <a:srgbClr val="164E91"/>
                </a:solidFill>
                <a:latin typeface="Arial"/>
                <a:ea typeface="Arial"/>
                <a:cs typeface="Arial"/>
              </a:rPr>
              <a:t>2</a:t>
            </a:r>
          </a:p>
        </p:txBody>
      </p:sp>
      <p:sp>
        <p:nvSpPr>
          <p:cNvPr id="9" name="row-2-text">
            <a:extLst xmlns:a="http://schemas.openxmlformats.org/drawingml/2006/main">
              <a:ext uri="{FF2B5EF4-FFF2-40B4-BE49-F238E27FC236}">
                <a16:creationId xmlns:a16="http://schemas.microsoft.com/office/drawing/2014/main" id="{DBD0E942-113E-4D06-AA4D-E1C6EB629757}"/>
              </a:ext>
            </a:extLst>
          </p:cNvPr>
          <p:cNvSpPr>
            <a:spLocks xmlns:a="http://schemas.openxmlformats.org/drawingml/2006/main" noGrp="1"/>
          </p:cNvSpPr>
          <p:nvPr/>
        </p:nvSpPr>
        <p:spPr>
          <a:xfrm xmlns:a="http://schemas.openxmlformats.org/drawingml/2006/main">
            <a:off x="1609725" y="4953000"/>
            <a:ext cx="1285875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Determine geographic, knowledge, rainfall-scenario, privacy, provenance, preparedness, and administrative requirements from available evidence.</a:t>
            </a:r>
          </a:p>
        </p:txBody>
      </p:sp>
    </p:spTree>
    <p:extLst>
      <p:ext uri="{BB962C8B-B14F-4D97-AF65-F5344CB8AC3E}">
        <p14:creationId xmlns:p14="http://schemas.microsoft.com/office/powerpoint/2010/main" val="3331767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11E0E3E6-C600-4523-8925-149E7FA99FA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4FDF3727-774E-4E86-9848-C53755CB2477}"/>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System-development objective</a:t>
            </a:r>
          </a:p>
        </p:txBody>
      </p:sp>
      <p:sp>
        <p:nvSpPr>
          <p:cNvPr id="3" name="yellow-accent-rule">
            <a:extLst xmlns:a="http://schemas.openxmlformats.org/drawingml/2006/main">
              <a:ext uri="{FF2B5EF4-FFF2-40B4-BE49-F238E27FC236}">
                <a16:creationId xmlns:a16="http://schemas.microsoft.com/office/drawing/2014/main" id="{1BBA35F3-21E0-4D44-A961-C36950F592E0}"/>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09675FEB-AC41-4AEF-8067-05D1FC6865E0}"/>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Objective 3</a:t>
            </a:r>
          </a:p>
        </p:txBody>
      </p:sp>
      <p:sp>
        <p:nvSpPr>
          <p:cNvPr id="5" name="page">
            <a:extLst xmlns:a="http://schemas.openxmlformats.org/drawingml/2006/main">
              <a:ext uri="{FF2B5EF4-FFF2-40B4-BE49-F238E27FC236}">
                <a16:creationId xmlns:a16="http://schemas.microsoft.com/office/drawing/2014/main" id="{87F91150-B6C2-49D9-BB64-33C742415ACD}"/>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07</a:t>
            </a:r>
          </a:p>
        </p:txBody>
      </p:sp>
      <p:sp>
        <p:nvSpPr>
          <p:cNvPr id="6" name="statement-1">
            <a:extLst xmlns:a="http://schemas.openxmlformats.org/drawingml/2006/main">
              <a:ext uri="{FF2B5EF4-FFF2-40B4-BE49-F238E27FC236}">
                <a16:creationId xmlns:a16="http://schemas.microsoft.com/office/drawing/2014/main" id="{C9643DA2-5FC9-49F3-9CFE-DC8923C2B820}"/>
              </a:ext>
            </a:extLst>
          </p:cNvPr>
          <p:cNvSpPr>
            <a:spLocks xmlns:a="http://schemas.openxmlformats.org/drawingml/2006/main" noGrp="1"/>
          </p:cNvSpPr>
          <p:nvPr/>
        </p:nvSpPr>
        <p:spPr>
          <a:xfrm xmlns:a="http://schemas.openxmlformats.org/drawingml/2006/main">
            <a:off x="762000" y="2667000"/>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Authenticated access with role and privacy controls</a:t>
            </a:r>
          </a:p>
        </p:txBody>
      </p:sp>
      <p:sp>
        <p:nvSpPr>
          <p:cNvPr id="7" name="statement-2">
            <a:extLst xmlns:a="http://schemas.openxmlformats.org/drawingml/2006/main">
              <a:ext uri="{FF2B5EF4-FFF2-40B4-BE49-F238E27FC236}">
                <a16:creationId xmlns:a16="http://schemas.microsoft.com/office/drawing/2014/main" id="{9D53AEF0-64C1-45F3-A95E-2C46CB3FBC5A}"/>
              </a:ext>
            </a:extLst>
          </p:cNvPr>
          <p:cNvSpPr>
            <a:spLocks xmlns:a="http://schemas.openxmlformats.org/drawingml/2006/main" noGrp="1"/>
          </p:cNvSpPr>
          <p:nvPr/>
        </p:nvSpPr>
        <p:spPr>
          <a:xfrm xmlns:a="http://schemas.openxmlformats.org/drawingml/2006/main">
            <a:off x="762000" y="3600450"/>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Confirmed rainfall scenario and location input</a:t>
            </a:r>
          </a:p>
        </p:txBody>
      </p:sp>
      <p:sp>
        <p:nvSpPr>
          <p:cNvPr id="8" name="statement-3">
            <a:extLst xmlns:a="http://schemas.openxmlformats.org/drawingml/2006/main">
              <a:ext uri="{FF2B5EF4-FFF2-40B4-BE49-F238E27FC236}">
                <a16:creationId xmlns:a16="http://schemas.microsoft.com/office/drawing/2014/main" id="{B71AC0DD-54B8-48ED-9B1B-270BD88658AE}"/>
              </a:ext>
            </a:extLst>
          </p:cNvPr>
          <p:cNvSpPr>
            <a:spLocks xmlns:a="http://schemas.openxmlformats.org/drawingml/2006/main" noGrp="1"/>
          </p:cNvSpPr>
          <p:nvPr/>
        </p:nvSpPr>
        <p:spPr>
          <a:xfrm xmlns:a="http://schemas.openxmlformats.org/drawingml/2006/main">
            <a:off x="762000" y="4533900"/>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Deterministic assessment with explanation and map context</a:t>
            </a:r>
          </a:p>
        </p:txBody>
      </p:sp>
      <p:sp>
        <p:nvSpPr>
          <p:cNvPr id="9" name="statement-4">
            <a:extLst xmlns:a="http://schemas.openxmlformats.org/drawingml/2006/main">
              <a:ext uri="{FF2B5EF4-FFF2-40B4-BE49-F238E27FC236}">
                <a16:creationId xmlns:a16="http://schemas.microsoft.com/office/drawing/2014/main" id="{BD91DF2B-BC69-4EAD-89DC-C26D8E99BBB6}"/>
              </a:ext>
            </a:extLst>
          </p:cNvPr>
          <p:cNvSpPr>
            <a:spLocks xmlns:a="http://schemas.openxmlformats.org/drawingml/2006/main" noGrp="1"/>
          </p:cNvSpPr>
          <p:nvPr/>
        </p:nvSpPr>
        <p:spPr>
          <a:xfrm xmlns:a="http://schemas.openxmlformats.org/drawingml/2006/main">
            <a:off x="762000" y="5467350"/>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Preparedness guidance and evacuation-center references</a:t>
            </a:r>
          </a:p>
        </p:txBody>
      </p:sp>
      <p:sp>
        <p:nvSpPr>
          <p:cNvPr id="10" name="statement-5">
            <a:extLst xmlns:a="http://schemas.openxmlformats.org/drawingml/2006/main">
              <a:ext uri="{FF2B5EF4-FFF2-40B4-BE49-F238E27FC236}">
                <a16:creationId xmlns:a16="http://schemas.microsoft.com/office/drawing/2014/main" id="{C8B488EA-22D4-41AE-B9D9-89C676D9DAD6}"/>
              </a:ext>
            </a:extLst>
          </p:cNvPr>
          <p:cNvSpPr>
            <a:spLocks xmlns:a="http://schemas.openxmlformats.org/drawingml/2006/main" noGrp="1"/>
          </p:cNvSpPr>
          <p:nvPr/>
        </p:nvSpPr>
        <p:spPr>
          <a:xfrm xmlns:a="http://schemas.openxmlformats.org/drawingml/2006/main">
            <a:off x="762000" y="6400800"/>
            <a:ext cx="13716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Controlled management of references, sources, and review records</a:t>
            </a:r>
          </a:p>
        </p:txBody>
      </p:sp>
    </p:spTree>
    <p:extLst>
      <p:ext uri="{BB962C8B-B14F-4D97-AF65-F5344CB8AC3E}">
        <p14:creationId xmlns:p14="http://schemas.microsoft.com/office/powerpoint/2010/main" val="40129630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C8427418-6CAF-4E41-A97B-A36D323D667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6031B96C-C9D4-41F9-A88B-88BAF5DCC43B}"/>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Testing and evaluation objectives</a:t>
            </a:r>
          </a:p>
        </p:txBody>
      </p:sp>
      <p:sp>
        <p:nvSpPr>
          <p:cNvPr id="3" name="yellow-accent-rule">
            <a:extLst xmlns:a="http://schemas.openxmlformats.org/drawingml/2006/main">
              <a:ext uri="{FF2B5EF4-FFF2-40B4-BE49-F238E27FC236}">
                <a16:creationId xmlns:a16="http://schemas.microsoft.com/office/drawing/2014/main" id="{E2525AB5-9F58-4040-A024-3E0899AA15D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06879CB2-B286-4E18-B59D-73BF3138B4BC}"/>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Objectives 4–5; Chapter 3, Test</a:t>
            </a:r>
          </a:p>
        </p:txBody>
      </p:sp>
      <p:sp>
        <p:nvSpPr>
          <p:cNvPr id="5" name="page">
            <a:extLst xmlns:a="http://schemas.openxmlformats.org/drawingml/2006/main">
              <a:ext uri="{FF2B5EF4-FFF2-40B4-BE49-F238E27FC236}">
                <a16:creationId xmlns:a16="http://schemas.microsoft.com/office/drawing/2014/main" id="{22D822F6-94C8-45DB-AD1D-FC981419EDBC}"/>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08</a:t>
            </a:r>
          </a:p>
        </p:txBody>
      </p:sp>
      <p:sp>
        <p:nvSpPr>
          <p:cNvPr id="6" name="row-1-label">
            <a:extLst xmlns:a="http://schemas.openxmlformats.org/drawingml/2006/main">
              <a:ext uri="{FF2B5EF4-FFF2-40B4-BE49-F238E27FC236}">
                <a16:creationId xmlns:a16="http://schemas.microsoft.com/office/drawing/2014/main" id="{2C3C6A23-33E3-4C26-B96A-3E692D6F3E0C}"/>
              </a:ext>
            </a:extLst>
          </p:cNvPr>
          <p:cNvSpPr>
            <a:spLocks xmlns:a="http://schemas.openxmlformats.org/drawingml/2006/main" noGrp="1"/>
          </p:cNvSpPr>
          <p:nvPr/>
        </p:nvSpPr>
        <p:spPr>
          <a:xfrm xmlns:a="http://schemas.openxmlformats.org/drawingml/2006/main">
            <a:off x="762000" y="2667000"/>
            <a:ext cx="619125"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4</a:t>
            </a:r>
          </a:p>
        </p:txBody>
      </p:sp>
      <p:sp>
        <p:nvSpPr>
          <p:cNvPr id="7" name="row-1-text">
            <a:extLst xmlns:a="http://schemas.openxmlformats.org/drawingml/2006/main">
              <a:ext uri="{FF2B5EF4-FFF2-40B4-BE49-F238E27FC236}">
                <a16:creationId xmlns:a16="http://schemas.microsoft.com/office/drawing/2014/main" id="{7CD93041-FAF4-465F-B9D2-FCFF43DA5BCD}"/>
              </a:ext>
            </a:extLst>
          </p:cNvPr>
          <p:cNvSpPr>
            <a:spLocks xmlns:a="http://schemas.openxmlformats.org/drawingml/2006/main" noGrp="1"/>
          </p:cNvSpPr>
          <p:nvPr/>
        </p:nvSpPr>
        <p:spPr>
          <a:xfrm xmlns:a="http://schemas.openxmlformats.org/drawingml/2006/main">
            <a:off x="1609725" y="2667000"/>
            <a:ext cx="128587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Test resident and administrative functions using an Android smartphone and laptop through defined functional and technical checks.</a:t>
            </a:r>
          </a:p>
        </p:txBody>
      </p:sp>
      <p:sp>
        <p:nvSpPr>
          <p:cNvPr id="8" name="row-2-label">
            <a:extLst xmlns:a="http://schemas.openxmlformats.org/drawingml/2006/main">
              <a:ext uri="{FF2B5EF4-FFF2-40B4-BE49-F238E27FC236}">
                <a16:creationId xmlns:a16="http://schemas.microsoft.com/office/drawing/2014/main" id="{1F911C2B-A210-4B81-8B76-67D1BF5ADE0C}"/>
              </a:ext>
            </a:extLst>
          </p:cNvPr>
          <p:cNvSpPr>
            <a:spLocks xmlns:a="http://schemas.openxmlformats.org/drawingml/2006/main" noGrp="1"/>
          </p:cNvSpPr>
          <p:nvPr/>
        </p:nvSpPr>
        <p:spPr>
          <a:xfrm xmlns:a="http://schemas.openxmlformats.org/drawingml/2006/main">
            <a:off x="762000" y="4810125"/>
            <a:ext cx="619125"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5</a:t>
            </a:r>
          </a:p>
        </p:txBody>
      </p:sp>
      <p:sp>
        <p:nvSpPr>
          <p:cNvPr id="9" name="row-2-text">
            <a:extLst xmlns:a="http://schemas.openxmlformats.org/drawingml/2006/main">
              <a:ext uri="{FF2B5EF4-FFF2-40B4-BE49-F238E27FC236}">
                <a16:creationId xmlns:a16="http://schemas.microsoft.com/office/drawing/2014/main" id="{75DF6AB1-67EA-497C-9C98-F0E10EFDFDD7}"/>
              </a:ext>
            </a:extLst>
          </p:cNvPr>
          <p:cNvSpPr>
            <a:spLocks xmlns:a="http://schemas.openxmlformats.org/drawingml/2006/main" noGrp="1"/>
          </p:cNvSpPr>
          <p:nvPr/>
        </p:nvSpPr>
        <p:spPr>
          <a:xfrm xmlns:a="http://schemas.openxmlformats.org/drawingml/2006/main">
            <a:off x="1609725" y="4810125"/>
            <a:ext cx="12858750" cy="2028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Evaluate selected product-quality characteristics after intended users complete system-use tasks with an approved instrument.</a:t>
            </a:r>
          </a:p>
        </p:txBody>
      </p:sp>
      <p:sp>
        <p:nvSpPr>
          <p:cNvPr id="10" name="planned-evaluation">
            <a:extLst xmlns:a="http://schemas.openxmlformats.org/drawingml/2006/main">
              <a:ext uri="{FF2B5EF4-FFF2-40B4-BE49-F238E27FC236}">
                <a16:creationId xmlns:a16="http://schemas.microsoft.com/office/drawing/2014/main" id="{F61CA115-C9AB-4F6E-B2D0-1B1CF9F48354}"/>
              </a:ext>
            </a:extLst>
          </p:cNvPr>
          <p:cNvSpPr>
            <a:spLocks xmlns:a="http://schemas.openxmlformats.org/drawingml/2006/main" noGrp="1"/>
          </p:cNvSpPr>
          <p:nvPr/>
        </p:nvSpPr>
        <p:spPr>
          <a:xfrm xmlns:a="http://schemas.openxmlformats.org/drawingml/2006/main">
            <a:off x="1609725" y="7067550"/>
            <a:ext cx="1238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64E91"/>
                </a:solidFill>
                <a:latin typeface="Arial"/>
                <a:ea typeface="Arial"/>
                <a:cs typeface="Arial"/>
              </a:defRPr>
            </a:defPPr>
            <a:lvl1pPr algn="l">
              <a:defRPr sz="2700" b="1">
                <a:solidFill>
                  <a:srgbClr val="164E91"/>
                </a:solidFill>
                <a:latin typeface="Arial"/>
                <a:ea typeface="Arial"/>
                <a:cs typeface="Arial"/>
              </a:defRPr>
            </a:lvl1pPr>
            <a:lvl2pPr algn="l">
              <a:defRPr sz="2700" b="1">
                <a:solidFill>
                  <a:srgbClr val="164E91"/>
                </a:solidFill>
                <a:latin typeface="Arial"/>
                <a:ea typeface="Arial"/>
                <a:cs typeface="Arial"/>
              </a:defRPr>
            </a:lvl2pPr>
            <a:lvl3pPr algn="l">
              <a:defRPr sz="2700" b="1">
                <a:solidFill>
                  <a:srgbClr val="164E91"/>
                </a:solidFill>
                <a:latin typeface="Arial"/>
                <a:ea typeface="Arial"/>
                <a:cs typeface="Arial"/>
              </a:defRPr>
            </a:lvl3pPr>
            <a:lvl4pPr algn="l">
              <a:defRPr sz="2700" b="1">
                <a:solidFill>
                  <a:srgbClr val="164E91"/>
                </a:solidFill>
                <a:latin typeface="Arial"/>
                <a:ea typeface="Arial"/>
                <a:cs typeface="Arial"/>
              </a:defRPr>
            </a:lvl4pPr>
            <a:lvl5pPr algn="l">
              <a:defRPr sz="2700" b="1">
                <a:solidFill>
                  <a:srgbClr val="164E91"/>
                </a:solidFill>
                <a:latin typeface="Arial"/>
                <a:ea typeface="Arial"/>
                <a:cs typeface="Arial"/>
              </a:defRPr>
            </a:lvl5pPr>
            <a:lvl6pPr algn="l">
              <a:defRPr sz="2700" b="1">
                <a:solidFill>
                  <a:srgbClr val="164E91"/>
                </a:solidFill>
                <a:latin typeface="Arial"/>
                <a:ea typeface="Arial"/>
                <a:cs typeface="Arial"/>
              </a:defRPr>
            </a:lvl6pPr>
            <a:lvl7pPr algn="l">
              <a:defRPr sz="2700" b="1">
                <a:solidFill>
                  <a:srgbClr val="164E91"/>
                </a:solidFill>
                <a:latin typeface="Arial"/>
                <a:ea typeface="Arial"/>
                <a:cs typeface="Arial"/>
              </a:defRPr>
            </a:lvl7pPr>
            <a:lvl8pPr algn="l">
              <a:defRPr sz="2700" b="1">
                <a:solidFill>
                  <a:srgbClr val="164E91"/>
                </a:solidFill>
                <a:latin typeface="Arial"/>
                <a:ea typeface="Arial"/>
                <a:cs typeface="Arial"/>
              </a:defRPr>
            </a:lvl8pPr>
            <a:lvl9pPr algn="l">
              <a:defRPr sz="2700" b="1">
                <a:solidFill>
                  <a:srgbClr val="164E91"/>
                </a:solidFill>
                <a:latin typeface="Arial"/>
                <a:ea typeface="Arial"/>
                <a:cs typeface="Arial"/>
              </a:defRPr>
            </a:lvl9pPr>
          </a:lstStyle>
          <a:p xmlns:a="http://schemas.openxmlformats.org/drawingml/2006/main">
            <a:pPr algn="l">
              <a:defRPr sz="2700" b="1">
                <a:solidFill>
                  <a:srgbClr val="164E91"/>
                </a:solidFill>
                <a:latin typeface="Arial"/>
                <a:ea typeface="Arial"/>
                <a:cs typeface="Arial"/>
              </a:defRPr>
            </a:pPr>
            <a:r>
              <a:rPr sz="2700" b="1">
                <a:solidFill>
                  <a:srgbClr val="164E91"/>
                </a:solidFill>
                <a:latin typeface="Arial"/>
                <a:ea typeface="Arial"/>
                <a:cs typeface="Arial"/>
              </a:rPr>
              <a:t>Formal post-use evaluation remains planned.</a:t>
            </a:r>
          </a:p>
        </p:txBody>
      </p:sp>
    </p:spTree>
    <p:extLst>
      <p:ext uri="{BB962C8B-B14F-4D97-AF65-F5344CB8AC3E}">
        <p14:creationId xmlns:p14="http://schemas.microsoft.com/office/powerpoint/2010/main" val="18709856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0ED46A60-B03B-4DDE-9C46-3E277739B4D0}"/>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EC44ADD7-8E24-4E2F-B39B-14371AC64252}"/>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Intended users and significance</a:t>
            </a:r>
          </a:p>
        </p:txBody>
      </p:sp>
      <p:sp>
        <p:nvSpPr>
          <p:cNvPr id="3" name="yellow-accent-rule">
            <a:extLst xmlns:a="http://schemas.openxmlformats.org/drawingml/2006/main">
              <a:ext uri="{FF2B5EF4-FFF2-40B4-BE49-F238E27FC236}">
                <a16:creationId xmlns:a16="http://schemas.microsoft.com/office/drawing/2014/main" id="{D75CE451-AAB0-437C-8347-AE724C13E11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93A72AFC-901F-4F97-8A66-7D2DD24325F7}"/>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Significance and Scope</a:t>
            </a:r>
          </a:p>
        </p:txBody>
      </p:sp>
      <p:sp>
        <p:nvSpPr>
          <p:cNvPr id="5" name="page">
            <a:extLst xmlns:a="http://schemas.openxmlformats.org/drawingml/2006/main">
              <a:ext uri="{FF2B5EF4-FFF2-40B4-BE49-F238E27FC236}">
                <a16:creationId xmlns:a16="http://schemas.microsoft.com/office/drawing/2014/main" id="{756A1D1C-2644-4C06-B09C-B6B3531EABF4}"/>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09</a:t>
            </a:r>
          </a:p>
        </p:txBody>
      </p:sp>
      <p:sp>
        <p:nvSpPr>
          <p:cNvPr id="6" name="row-1-label">
            <a:extLst xmlns:a="http://schemas.openxmlformats.org/drawingml/2006/main">
              <a:ext uri="{FF2B5EF4-FFF2-40B4-BE49-F238E27FC236}">
                <a16:creationId xmlns:a16="http://schemas.microsoft.com/office/drawing/2014/main" id="{5C4F77BA-76FD-4441-A0D2-03CB42F01548}"/>
              </a:ext>
            </a:extLst>
          </p:cNvPr>
          <p:cNvSpPr>
            <a:spLocks xmlns:a="http://schemas.openxmlformats.org/drawingml/2006/main" noGrp="1"/>
          </p:cNvSpPr>
          <p:nvPr/>
        </p:nvSpPr>
        <p:spPr>
          <a:xfrm xmlns:a="http://schemas.openxmlformats.org/drawingml/2006/main">
            <a:off x="762000" y="2667000"/>
            <a:ext cx="3333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Residents</a:t>
            </a:r>
          </a:p>
        </p:txBody>
      </p:sp>
      <p:sp>
        <p:nvSpPr>
          <p:cNvPr id="7" name="row-1-text">
            <a:extLst xmlns:a="http://schemas.openxmlformats.org/drawingml/2006/main">
              <a:ext uri="{FF2B5EF4-FFF2-40B4-BE49-F238E27FC236}">
                <a16:creationId xmlns:a16="http://schemas.microsoft.com/office/drawing/2014/main" id="{3211BF8F-0195-4CD1-8C76-0138326DC747}"/>
              </a:ext>
            </a:extLst>
          </p:cNvPr>
          <p:cNvSpPr>
            <a:spLocks xmlns:a="http://schemas.openxmlformats.org/drawingml/2006/main" noGrp="1"/>
          </p:cNvSpPr>
          <p:nvPr/>
        </p:nvSpPr>
        <p:spPr>
          <a:xfrm xmlns:a="http://schemas.openxmlformats.org/drawingml/2006/main">
            <a:off x="4324350" y="2667000"/>
            <a:ext cx="10144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Interpret a selected scenario and consider pre-event preparation.</a:t>
            </a:r>
          </a:p>
        </p:txBody>
      </p:sp>
      <p:sp>
        <p:nvSpPr>
          <p:cNvPr id="8" name="row-2-label">
            <a:extLst xmlns:a="http://schemas.openxmlformats.org/drawingml/2006/main">
              <a:ext uri="{FF2B5EF4-FFF2-40B4-BE49-F238E27FC236}">
                <a16:creationId xmlns:a16="http://schemas.microsoft.com/office/drawing/2014/main" id="{FB54B62F-D5E1-48D0-83E7-78900EAF09E4}"/>
              </a:ext>
            </a:extLst>
          </p:cNvPr>
          <p:cNvSpPr>
            <a:spLocks xmlns:a="http://schemas.openxmlformats.org/drawingml/2006/main" noGrp="1"/>
          </p:cNvSpPr>
          <p:nvPr/>
        </p:nvSpPr>
        <p:spPr>
          <a:xfrm xmlns:a="http://schemas.openxmlformats.org/drawingml/2006/main">
            <a:off x="762000" y="4286250"/>
            <a:ext cx="3333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Authorized personnel</a:t>
            </a:r>
          </a:p>
        </p:txBody>
      </p:sp>
      <p:sp>
        <p:nvSpPr>
          <p:cNvPr id="9" name="row-2-text">
            <a:extLst xmlns:a="http://schemas.openxmlformats.org/drawingml/2006/main">
              <a:ext uri="{FF2B5EF4-FFF2-40B4-BE49-F238E27FC236}">
                <a16:creationId xmlns:a16="http://schemas.microsoft.com/office/drawing/2014/main" id="{35F4E3E4-3ABF-46F5-B376-B326B5DF6429}"/>
              </a:ext>
            </a:extLst>
          </p:cNvPr>
          <p:cNvSpPr>
            <a:spLocks xmlns:a="http://schemas.openxmlformats.org/drawingml/2006/main" noGrp="1"/>
          </p:cNvSpPr>
          <p:nvPr/>
        </p:nvSpPr>
        <p:spPr>
          <a:xfrm xmlns:a="http://schemas.openxmlformats.org/drawingml/2006/main">
            <a:off x="4324350" y="4286250"/>
            <a:ext cx="10144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Review permitted content, source records, and geographic references.</a:t>
            </a:r>
          </a:p>
        </p:txBody>
      </p:sp>
      <p:sp>
        <p:nvSpPr>
          <p:cNvPr id="10" name="row-3-label">
            <a:extLst xmlns:a="http://schemas.openxmlformats.org/drawingml/2006/main">
              <a:ext uri="{FF2B5EF4-FFF2-40B4-BE49-F238E27FC236}">
                <a16:creationId xmlns:a16="http://schemas.microsoft.com/office/drawing/2014/main" id="{18168982-2B65-4A2E-ADD8-C59239BE8C10}"/>
              </a:ext>
            </a:extLst>
          </p:cNvPr>
          <p:cNvSpPr>
            <a:spLocks xmlns:a="http://schemas.openxmlformats.org/drawingml/2006/main" noGrp="1"/>
          </p:cNvSpPr>
          <p:nvPr/>
        </p:nvSpPr>
        <p:spPr>
          <a:xfrm xmlns:a="http://schemas.openxmlformats.org/drawingml/2006/main">
            <a:off x="762000" y="5905500"/>
            <a:ext cx="3333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Institutions</a:t>
            </a:r>
          </a:p>
        </p:txBody>
      </p:sp>
      <p:sp>
        <p:nvSpPr>
          <p:cNvPr id="11" name="row-3-text">
            <a:extLst xmlns:a="http://schemas.openxmlformats.org/drawingml/2006/main">
              <a:ext uri="{FF2B5EF4-FFF2-40B4-BE49-F238E27FC236}">
                <a16:creationId xmlns:a16="http://schemas.microsoft.com/office/drawing/2014/main" id="{86AC7E8D-400A-4C0A-A57D-6470C123A703}"/>
              </a:ext>
            </a:extLst>
          </p:cNvPr>
          <p:cNvSpPr>
            <a:spLocks xmlns:a="http://schemas.openxmlformats.org/drawingml/2006/main" noGrp="1"/>
          </p:cNvSpPr>
          <p:nvPr/>
        </p:nvSpPr>
        <p:spPr>
          <a:xfrm xmlns:a="http://schemas.openxmlformats.org/drawingml/2006/main">
            <a:off x="4324350" y="5905500"/>
            <a:ext cx="10144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Provide local domain and data-authority perspectives without transferring official warning authority.</a:t>
            </a:r>
          </a:p>
        </p:txBody>
      </p:sp>
    </p:spTree>
    <p:extLst>
      <p:ext uri="{BB962C8B-B14F-4D97-AF65-F5344CB8AC3E}">
        <p14:creationId xmlns:p14="http://schemas.microsoft.com/office/powerpoint/2010/main" val="143883145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AB71665E-8018-4B75-B6A7-B2ED93DAF586}"/>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B08384B0-EB62-435C-8D97-C16ED0E50065}"/>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User-requested assessment</a:t>
            </a:r>
          </a:p>
        </p:txBody>
      </p:sp>
      <p:sp>
        <p:nvSpPr>
          <p:cNvPr id="3" name="yellow-accent-rule">
            <a:extLst xmlns:a="http://schemas.openxmlformats.org/drawingml/2006/main">
              <a:ext uri="{FF2B5EF4-FFF2-40B4-BE49-F238E27FC236}">
                <a16:creationId xmlns:a16="http://schemas.microsoft.com/office/drawing/2014/main" id="{85EEE1B4-3AEC-4BCD-A862-134CD9728DAD}"/>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9369B8D1-0AB2-4714-99B9-CA2AE9B1BDA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Scope and module descriptions</a:t>
            </a:r>
          </a:p>
        </p:txBody>
      </p:sp>
      <p:sp>
        <p:nvSpPr>
          <p:cNvPr id="5" name="page">
            <a:extLst xmlns:a="http://schemas.openxmlformats.org/drawingml/2006/main">
              <a:ext uri="{FF2B5EF4-FFF2-40B4-BE49-F238E27FC236}">
                <a16:creationId xmlns:a16="http://schemas.microsoft.com/office/drawing/2014/main" id="{A04FE3EF-5D12-4294-8FBF-659EDC7A1DA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10</a:t>
            </a:r>
          </a:p>
        </p:txBody>
      </p:sp>
      <p:sp>
        <p:nvSpPr>
          <p:cNvPr id="6" name="row-1-label">
            <a:extLst xmlns:a="http://schemas.openxmlformats.org/drawingml/2006/main">
              <a:ext uri="{FF2B5EF4-FFF2-40B4-BE49-F238E27FC236}">
                <a16:creationId xmlns:a16="http://schemas.microsoft.com/office/drawing/2014/main" id="{0A70696B-CB8C-4661-94FD-B6ABA0454426}"/>
              </a:ext>
            </a:extLst>
          </p:cNvPr>
          <p:cNvSpPr>
            <a:spLocks xmlns:a="http://schemas.openxmlformats.org/drawingml/2006/main" noGrp="1"/>
          </p:cNvSpPr>
          <p:nvPr/>
        </p:nvSpPr>
        <p:spPr>
          <a:xfrm xmlns:a="http://schemas.openxmlformats.org/drawingml/2006/main">
            <a:off x="762000" y="2667000"/>
            <a:ext cx="61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1</a:t>
            </a:r>
          </a:p>
        </p:txBody>
      </p:sp>
      <p:sp>
        <p:nvSpPr>
          <p:cNvPr id="7" name="row-1-text">
            <a:extLst xmlns:a="http://schemas.openxmlformats.org/drawingml/2006/main">
              <a:ext uri="{FF2B5EF4-FFF2-40B4-BE49-F238E27FC236}">
                <a16:creationId xmlns:a16="http://schemas.microsoft.com/office/drawing/2014/main" id="{A4AAE323-85B1-4AF9-ADE7-C4C862F50F30}"/>
              </a:ext>
            </a:extLst>
          </p:cNvPr>
          <p:cNvSpPr>
            <a:spLocks xmlns:a="http://schemas.openxmlformats.org/drawingml/2006/main" noGrp="1"/>
          </p:cNvSpPr>
          <p:nvPr/>
        </p:nvSpPr>
        <p:spPr>
          <a:xfrm xmlns:a="http://schemas.openxmlformats.org/drawingml/2006/main">
            <a:off x="1609725" y="2667000"/>
            <a:ext cx="1285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Confirm rainfall intensity, duration, and location.</a:t>
            </a:r>
          </a:p>
        </p:txBody>
      </p:sp>
      <p:sp>
        <p:nvSpPr>
          <p:cNvPr id="8" name="row-2-label">
            <a:extLst xmlns:a="http://schemas.openxmlformats.org/drawingml/2006/main">
              <a:ext uri="{FF2B5EF4-FFF2-40B4-BE49-F238E27FC236}">
                <a16:creationId xmlns:a16="http://schemas.microsoft.com/office/drawing/2014/main" id="{47764088-AEAB-4BE4-8DAA-01DA85276B23}"/>
              </a:ext>
            </a:extLst>
          </p:cNvPr>
          <p:cNvSpPr>
            <a:spLocks xmlns:a="http://schemas.openxmlformats.org/drawingml/2006/main" noGrp="1"/>
          </p:cNvSpPr>
          <p:nvPr/>
        </p:nvSpPr>
        <p:spPr>
          <a:xfrm xmlns:a="http://schemas.openxmlformats.org/drawingml/2006/main">
            <a:off x="762000" y="3829050"/>
            <a:ext cx="61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2</a:t>
            </a:r>
          </a:p>
        </p:txBody>
      </p:sp>
      <p:sp>
        <p:nvSpPr>
          <p:cNvPr id="9" name="row-2-text">
            <a:extLst xmlns:a="http://schemas.openxmlformats.org/drawingml/2006/main">
              <a:ext uri="{FF2B5EF4-FFF2-40B4-BE49-F238E27FC236}">
                <a16:creationId xmlns:a16="http://schemas.microsoft.com/office/drawing/2014/main" id="{3C93E62B-10A3-4C66-A6E3-748AC89B839E}"/>
              </a:ext>
            </a:extLst>
          </p:cNvPr>
          <p:cNvSpPr>
            <a:spLocks xmlns:a="http://schemas.openxmlformats.org/drawingml/2006/main" noGrp="1"/>
          </p:cNvSpPr>
          <p:nvPr/>
        </p:nvSpPr>
        <p:spPr>
          <a:xfrm xmlns:a="http://schemas.openxmlformats.org/drawingml/2006/main">
            <a:off x="1609725" y="3829050"/>
            <a:ext cx="1285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Explicitly request an assessment.</a:t>
            </a:r>
          </a:p>
        </p:txBody>
      </p:sp>
      <p:sp>
        <p:nvSpPr>
          <p:cNvPr id="10" name="row-3-label">
            <a:extLst xmlns:a="http://schemas.openxmlformats.org/drawingml/2006/main">
              <a:ext uri="{FF2B5EF4-FFF2-40B4-BE49-F238E27FC236}">
                <a16:creationId xmlns:a16="http://schemas.microsoft.com/office/drawing/2014/main" id="{64779683-033D-4794-AC40-ACCC7188F1AF}"/>
              </a:ext>
            </a:extLst>
          </p:cNvPr>
          <p:cNvSpPr>
            <a:spLocks xmlns:a="http://schemas.openxmlformats.org/drawingml/2006/main" noGrp="1"/>
          </p:cNvSpPr>
          <p:nvPr/>
        </p:nvSpPr>
        <p:spPr>
          <a:xfrm xmlns:a="http://schemas.openxmlformats.org/drawingml/2006/main">
            <a:off x="762000" y="4991100"/>
            <a:ext cx="61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3</a:t>
            </a:r>
          </a:p>
        </p:txBody>
      </p:sp>
      <p:sp>
        <p:nvSpPr>
          <p:cNvPr id="11" name="row-3-text">
            <a:extLst xmlns:a="http://schemas.openxmlformats.org/drawingml/2006/main">
              <a:ext uri="{FF2B5EF4-FFF2-40B4-BE49-F238E27FC236}">
                <a16:creationId xmlns:a16="http://schemas.microsoft.com/office/drawing/2014/main" id="{19FB7C99-35A4-44AD-AC79-595BAA67BB32}"/>
              </a:ext>
            </a:extLst>
          </p:cNvPr>
          <p:cNvSpPr>
            <a:spLocks xmlns:a="http://schemas.openxmlformats.org/drawingml/2006/main" noGrp="1"/>
          </p:cNvSpPr>
          <p:nvPr/>
        </p:nvSpPr>
        <p:spPr>
          <a:xfrm xmlns:a="http://schemas.openxmlformats.org/drawingml/2006/main">
            <a:off x="1609725" y="4991100"/>
            <a:ext cx="1285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Read the supported susceptibility class and its explanation.</a:t>
            </a:r>
          </a:p>
        </p:txBody>
      </p:sp>
      <p:sp>
        <p:nvSpPr>
          <p:cNvPr id="12" name="row-4-label">
            <a:extLst xmlns:a="http://schemas.openxmlformats.org/drawingml/2006/main">
              <a:ext uri="{FF2B5EF4-FFF2-40B4-BE49-F238E27FC236}">
                <a16:creationId xmlns:a16="http://schemas.microsoft.com/office/drawing/2014/main" id="{F96E438D-96D6-4285-B0F2-2C3812217E9D}"/>
              </a:ext>
            </a:extLst>
          </p:cNvPr>
          <p:cNvSpPr>
            <a:spLocks xmlns:a="http://schemas.openxmlformats.org/drawingml/2006/main" noGrp="1"/>
          </p:cNvSpPr>
          <p:nvPr/>
        </p:nvSpPr>
        <p:spPr>
          <a:xfrm xmlns:a="http://schemas.openxmlformats.org/drawingml/2006/main">
            <a:off x="762000" y="6153150"/>
            <a:ext cx="619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4</a:t>
            </a:r>
          </a:p>
        </p:txBody>
      </p:sp>
      <p:sp>
        <p:nvSpPr>
          <p:cNvPr id="13" name="row-4-text">
            <a:extLst xmlns:a="http://schemas.openxmlformats.org/drawingml/2006/main">
              <a:ext uri="{FF2B5EF4-FFF2-40B4-BE49-F238E27FC236}">
                <a16:creationId xmlns:a16="http://schemas.microsoft.com/office/drawing/2014/main" id="{CAB1E490-C62A-4184-8A9D-8913143B1942}"/>
              </a:ext>
            </a:extLst>
          </p:cNvPr>
          <p:cNvSpPr>
            <a:spLocks xmlns:a="http://schemas.openxmlformats.org/drawingml/2006/main" noGrp="1"/>
          </p:cNvSpPr>
          <p:nvPr/>
        </p:nvSpPr>
        <p:spPr>
          <a:xfrm xmlns:a="http://schemas.openxmlformats.org/drawingml/2006/main">
            <a:off x="1609725" y="6153150"/>
            <a:ext cx="1285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Consider preparedness guidance and center-reference information.</a:t>
            </a:r>
          </a:p>
        </p:txBody>
      </p:sp>
    </p:spTree>
    <p:extLst>
      <p:ext uri="{BB962C8B-B14F-4D97-AF65-F5344CB8AC3E}">
        <p14:creationId xmlns:p14="http://schemas.microsoft.com/office/powerpoint/2010/main" val="18709999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CCF46CAF-8A26-41AA-BD52-9F17D94E3D4A}"/>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C9A79EA1-F10C-4127-8D10-6E90D8BA8F5A}"/>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Six-module framework</a:t>
            </a:r>
          </a:p>
        </p:txBody>
      </p:sp>
      <p:sp>
        <p:nvSpPr>
          <p:cNvPr id="3" name="yellow-accent-rule">
            <a:extLst xmlns:a="http://schemas.openxmlformats.org/drawingml/2006/main">
              <a:ext uri="{FF2B5EF4-FFF2-40B4-BE49-F238E27FC236}">
                <a16:creationId xmlns:a16="http://schemas.microsoft.com/office/drawing/2014/main" id="{BF2E96BF-2F48-43FC-83D9-D3C06B8A4BDF}"/>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B5FE26AB-672E-486F-8A6B-6166A70AF782}"/>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Theoretical Framework and Figure 1</a:t>
            </a:r>
          </a:p>
        </p:txBody>
      </p:sp>
      <p:sp>
        <p:nvSpPr>
          <p:cNvPr id="5" name="page">
            <a:extLst xmlns:a="http://schemas.openxmlformats.org/drawingml/2006/main">
              <a:ext uri="{FF2B5EF4-FFF2-40B4-BE49-F238E27FC236}">
                <a16:creationId xmlns:a16="http://schemas.microsoft.com/office/drawing/2014/main" id="{E4CF579B-01E9-4726-85E1-FF67BD1045D6}"/>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11</a:t>
            </a:r>
          </a:p>
        </p:txBody>
      </p:sp>
      <p:sp>
        <p:nvSpPr>
          <p:cNvPr id="6" name="statement-1">
            <a:extLst xmlns:a="http://schemas.openxmlformats.org/drawingml/2006/main">
              <a:ext uri="{FF2B5EF4-FFF2-40B4-BE49-F238E27FC236}">
                <a16:creationId xmlns:a16="http://schemas.microsoft.com/office/drawing/2014/main" id="{62E657B7-8361-465C-B2B3-ED08A3CE1224}"/>
              </a:ext>
            </a:extLst>
          </p:cNvPr>
          <p:cNvSpPr>
            <a:spLocks xmlns:a="http://schemas.openxmlformats.org/drawingml/2006/main" noGrp="1"/>
          </p:cNvSpPr>
          <p:nvPr/>
        </p:nvSpPr>
        <p:spPr>
          <a:xfrm xmlns:a="http://schemas.openxmlformats.org/drawingml/2006/main">
            <a:off x="762000" y="27432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User Access and Authentication Module</a:t>
            </a:r>
          </a:p>
        </p:txBody>
      </p:sp>
      <p:sp>
        <p:nvSpPr>
          <p:cNvPr id="7" name="statement-2">
            <a:extLst xmlns:a="http://schemas.openxmlformats.org/drawingml/2006/main">
              <a:ext uri="{FF2B5EF4-FFF2-40B4-BE49-F238E27FC236}">
                <a16:creationId xmlns:a16="http://schemas.microsoft.com/office/drawing/2014/main" id="{F7DD4C27-9280-4376-9A75-61ACC48F86E5}"/>
              </a:ext>
            </a:extLst>
          </p:cNvPr>
          <p:cNvSpPr>
            <a:spLocks xmlns:a="http://schemas.openxmlformats.org/drawingml/2006/main" noGrp="1"/>
          </p:cNvSpPr>
          <p:nvPr/>
        </p:nvSpPr>
        <p:spPr>
          <a:xfrm xmlns:a="http://schemas.openxmlformats.org/drawingml/2006/main">
            <a:off x="762000" y="35242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Scenario and Location Input Module</a:t>
            </a:r>
          </a:p>
        </p:txBody>
      </p:sp>
      <p:sp>
        <p:nvSpPr>
          <p:cNvPr id="8" name="statement-3">
            <a:extLst xmlns:a="http://schemas.openxmlformats.org/drawingml/2006/main">
              <a:ext uri="{FF2B5EF4-FFF2-40B4-BE49-F238E27FC236}">
                <a16:creationId xmlns:a16="http://schemas.microsoft.com/office/drawing/2014/main" id="{558906B3-833B-444E-83EC-0CB9056D392D}"/>
              </a:ext>
            </a:extLst>
          </p:cNvPr>
          <p:cNvSpPr>
            <a:spLocks xmlns:a="http://schemas.openxmlformats.org/drawingml/2006/main" noGrp="1"/>
          </p:cNvSpPr>
          <p:nvPr/>
        </p:nvSpPr>
        <p:spPr>
          <a:xfrm xmlns:a="http://schemas.openxmlformats.org/drawingml/2006/main">
            <a:off x="762000" y="43053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Susceptibility Assessment Module</a:t>
            </a:r>
          </a:p>
        </p:txBody>
      </p:sp>
      <p:sp>
        <p:nvSpPr>
          <p:cNvPr id="9" name="statement-4">
            <a:extLst xmlns:a="http://schemas.openxmlformats.org/drawingml/2006/main">
              <a:ext uri="{FF2B5EF4-FFF2-40B4-BE49-F238E27FC236}">
                <a16:creationId xmlns:a16="http://schemas.microsoft.com/office/drawing/2014/main" id="{93CBC30E-E398-41C5-96CB-B9D2C3397F1E}"/>
              </a:ext>
            </a:extLst>
          </p:cNvPr>
          <p:cNvSpPr>
            <a:spLocks xmlns:a="http://schemas.openxmlformats.org/drawingml/2006/main" noGrp="1"/>
          </p:cNvSpPr>
          <p:nvPr/>
        </p:nvSpPr>
        <p:spPr>
          <a:xfrm xmlns:a="http://schemas.openxmlformats.org/drawingml/2006/main">
            <a:off x="762000" y="50863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Map and Results Module</a:t>
            </a:r>
          </a:p>
        </p:txBody>
      </p:sp>
      <p:sp>
        <p:nvSpPr>
          <p:cNvPr id="10" name="statement-5">
            <a:extLst xmlns:a="http://schemas.openxmlformats.org/drawingml/2006/main">
              <a:ext uri="{FF2B5EF4-FFF2-40B4-BE49-F238E27FC236}">
                <a16:creationId xmlns:a16="http://schemas.microsoft.com/office/drawing/2014/main" id="{38438880-9489-4870-AED7-C4BA660B7014}"/>
              </a:ext>
            </a:extLst>
          </p:cNvPr>
          <p:cNvSpPr>
            <a:spLocks xmlns:a="http://schemas.openxmlformats.org/drawingml/2006/main" noGrp="1"/>
          </p:cNvSpPr>
          <p:nvPr/>
        </p:nvSpPr>
        <p:spPr>
          <a:xfrm xmlns:a="http://schemas.openxmlformats.org/drawingml/2006/main">
            <a:off x="762000" y="586740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Preparedness Decision Support Module</a:t>
            </a:r>
          </a:p>
        </p:txBody>
      </p:sp>
      <p:sp>
        <p:nvSpPr>
          <p:cNvPr id="11" name="statement-6">
            <a:extLst xmlns:a="http://schemas.openxmlformats.org/drawingml/2006/main">
              <a:ext uri="{FF2B5EF4-FFF2-40B4-BE49-F238E27FC236}">
                <a16:creationId xmlns:a16="http://schemas.microsoft.com/office/drawing/2014/main" id="{C3C9A8D2-91DD-45C2-9B0F-94231FCBB5BA}"/>
              </a:ext>
            </a:extLst>
          </p:cNvPr>
          <p:cNvSpPr>
            <a:spLocks xmlns:a="http://schemas.openxmlformats.org/drawingml/2006/main" noGrp="1"/>
          </p:cNvSpPr>
          <p:nvPr/>
        </p:nvSpPr>
        <p:spPr>
          <a:xfrm xmlns:a="http://schemas.openxmlformats.org/drawingml/2006/main">
            <a:off x="762000" y="6648450"/>
            <a:ext cx="1371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Administration and Data Governance Module</a:t>
            </a:r>
          </a:p>
        </p:txBody>
      </p:sp>
    </p:spTree>
    <p:extLst>
      <p:ext uri="{BB962C8B-B14F-4D97-AF65-F5344CB8AC3E}">
        <p14:creationId xmlns:p14="http://schemas.microsoft.com/office/powerpoint/2010/main" val="15916115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DC6B2AC-B646-4D03-BED9-B5FD0D8675C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ABB9B635-070E-4173-B9FB-9634B3CFC42B}"/>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Scope and access boundaries</a:t>
            </a:r>
          </a:p>
        </p:txBody>
      </p:sp>
      <p:sp>
        <p:nvSpPr>
          <p:cNvPr id="3" name="yellow-accent-rule">
            <a:extLst xmlns:a="http://schemas.openxmlformats.org/drawingml/2006/main">
              <a:ext uri="{FF2B5EF4-FFF2-40B4-BE49-F238E27FC236}">
                <a16:creationId xmlns:a16="http://schemas.microsoft.com/office/drawing/2014/main" id="{38D0BF1D-19AC-47B9-A2FF-3165C3A5ECF8}"/>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426B8F07-6398-47D8-ABEF-9C2A6C3CBB6F}"/>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Scope and Limitation</a:t>
            </a:r>
          </a:p>
        </p:txBody>
      </p:sp>
      <p:sp>
        <p:nvSpPr>
          <p:cNvPr id="5" name="page">
            <a:extLst xmlns:a="http://schemas.openxmlformats.org/drawingml/2006/main">
              <a:ext uri="{FF2B5EF4-FFF2-40B4-BE49-F238E27FC236}">
                <a16:creationId xmlns:a16="http://schemas.microsoft.com/office/drawing/2014/main" id="{1955C06D-9001-4B70-A38C-10079368C25F}"/>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12</a:t>
            </a:r>
          </a:p>
        </p:txBody>
      </p:sp>
      <p:sp>
        <p:nvSpPr>
          <p:cNvPr id="6" name="statement-1">
            <a:extLst xmlns:a="http://schemas.openxmlformats.org/drawingml/2006/main">
              <a:ext uri="{FF2B5EF4-FFF2-40B4-BE49-F238E27FC236}">
                <a16:creationId xmlns:a16="http://schemas.microsoft.com/office/drawing/2014/main" id="{EC9B2B17-EE5E-4FB4-B6C9-BC097EAAE468}"/>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Supported Bacoor City locations and user-confirmed rainfall scenarios</a:t>
            </a:r>
          </a:p>
        </p:txBody>
      </p:sp>
      <p:sp>
        <p:nvSpPr>
          <p:cNvPr id="7" name="statement-2">
            <a:extLst xmlns:a="http://schemas.openxmlformats.org/drawingml/2006/main">
              <a:ext uri="{FF2B5EF4-FFF2-40B4-BE49-F238E27FC236}">
                <a16:creationId xmlns:a16="http://schemas.microsoft.com/office/drawing/2014/main" id="{82948A96-C60D-4FE2-B199-E2958BBCD66C}"/>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Compatible Android device and internet access for connected functions</a:t>
            </a:r>
          </a:p>
        </p:txBody>
      </p:sp>
      <p:sp>
        <p:nvSpPr>
          <p:cNvPr id="8" name="statement-3">
            <a:extLst xmlns:a="http://schemas.openxmlformats.org/drawingml/2006/main">
              <a:ext uri="{FF2B5EF4-FFF2-40B4-BE49-F238E27FC236}">
                <a16:creationId xmlns:a16="http://schemas.microsoft.com/office/drawing/2014/main" id="{B671E422-22AA-4F32-8AF8-99D811E1F78B}"/>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Barangay and map-pin options when foreground location is not used</a:t>
            </a:r>
          </a:p>
        </p:txBody>
      </p:sp>
      <p:sp>
        <p:nvSpPr>
          <p:cNvPr id="9" name="statement-4">
            <a:extLst xmlns:a="http://schemas.openxmlformats.org/drawingml/2006/main">
              <a:ext uri="{FF2B5EF4-FFF2-40B4-BE49-F238E27FC236}">
                <a16:creationId xmlns:a16="http://schemas.microsoft.com/office/drawing/2014/main" id="{2BCD516E-077F-4E44-B84F-07C71381F2E6}"/>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A 47-barangay administrative reference layer for geographic context</a:t>
            </a:r>
          </a:p>
        </p:txBody>
      </p:sp>
    </p:spTree>
    <p:extLst>
      <p:ext uri="{BB962C8B-B14F-4D97-AF65-F5344CB8AC3E}">
        <p14:creationId xmlns:p14="http://schemas.microsoft.com/office/powerpoint/2010/main" val="12461928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808762EC-6A4D-4CDB-9987-2EAEF251199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1</a:t>
            </a:r>
          </a:p>
        </p:txBody>
      </p:sp>
      <p:sp>
        <p:nvSpPr>
          <p:cNvPr id="2" name="title">
            <a:extLst xmlns:a="http://schemas.openxmlformats.org/drawingml/2006/main">
              <a:ext uri="{FF2B5EF4-FFF2-40B4-BE49-F238E27FC236}">
                <a16:creationId xmlns:a16="http://schemas.microsoft.com/office/drawing/2014/main" id="{0BE87650-1D9A-4126-BF91-F3CFF69D6780}"/>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Authority and information limits</a:t>
            </a:r>
          </a:p>
        </p:txBody>
      </p:sp>
      <p:sp>
        <p:nvSpPr>
          <p:cNvPr id="3" name="yellow-accent-rule">
            <a:extLst xmlns:a="http://schemas.openxmlformats.org/drawingml/2006/main">
              <a:ext uri="{FF2B5EF4-FFF2-40B4-BE49-F238E27FC236}">
                <a16:creationId xmlns:a16="http://schemas.microsoft.com/office/drawing/2014/main" id="{236E8B2C-361F-4738-B6F4-E95A19E86111}"/>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6500041-9EB2-473F-A792-C24EC5A5E2E1}"/>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1, Scope and Limitation</a:t>
            </a:r>
          </a:p>
        </p:txBody>
      </p:sp>
      <p:sp>
        <p:nvSpPr>
          <p:cNvPr id="5" name="page">
            <a:extLst xmlns:a="http://schemas.openxmlformats.org/drawingml/2006/main">
              <a:ext uri="{FF2B5EF4-FFF2-40B4-BE49-F238E27FC236}">
                <a16:creationId xmlns:a16="http://schemas.microsoft.com/office/drawing/2014/main" id="{43F448E8-1AF8-4FC6-B217-5C7E0BBD7A18}"/>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13</a:t>
            </a:r>
          </a:p>
        </p:txBody>
      </p:sp>
      <p:sp>
        <p:nvSpPr>
          <p:cNvPr id="6" name="statement-1">
            <a:extLst xmlns:a="http://schemas.openxmlformats.org/drawingml/2006/main">
              <a:ext uri="{FF2B5EF4-FFF2-40B4-BE49-F238E27FC236}">
                <a16:creationId xmlns:a16="http://schemas.microsoft.com/office/drawing/2014/main" id="{08D701D7-A9DC-4F41-853E-9EDEF8C11010}"/>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Official forecasts, warnings, and evacuation orders remain outside the system’s authority.</a:t>
            </a:r>
          </a:p>
        </p:txBody>
      </p:sp>
      <p:sp>
        <p:nvSpPr>
          <p:cNvPr id="7" name="statement-2">
            <a:extLst xmlns:a="http://schemas.openxmlformats.org/drawingml/2006/main">
              <a:ext uri="{FF2B5EF4-FFF2-40B4-BE49-F238E27FC236}">
                <a16:creationId xmlns:a16="http://schemas.microsoft.com/office/drawing/2014/main" id="{AF6DDD44-BF7B-4F7A-A58D-2F8C3E1F6790}"/>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Center references and straight-line distances do not establish safe routes or live capacity.</a:t>
            </a:r>
          </a:p>
        </p:txBody>
      </p:sp>
      <p:sp>
        <p:nvSpPr>
          <p:cNvPr id="8" name="statement-3">
            <a:extLst xmlns:a="http://schemas.openxmlformats.org/drawingml/2006/main">
              <a:ext uri="{FF2B5EF4-FFF2-40B4-BE49-F238E27FC236}">
                <a16:creationId xmlns:a16="http://schemas.microsoft.com/office/drawing/2014/main" id="{61EAFA9A-4A4F-4384-9969-1C6DE906166A}"/>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Rules and local data require appropriate validation before authoritative use.</a:t>
            </a:r>
          </a:p>
        </p:txBody>
      </p:sp>
      <p:sp>
        <p:nvSpPr>
          <p:cNvPr id="9" name="statement-4">
            <a:extLst xmlns:a="http://schemas.openxmlformats.org/drawingml/2006/main">
              <a:ext uri="{FF2B5EF4-FFF2-40B4-BE49-F238E27FC236}">
                <a16:creationId xmlns:a16="http://schemas.microsoft.com/office/drawing/2014/main" id="{A4F07C77-7848-4825-AAB0-1556DBC70BC5}"/>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Insufficient supporting evidence can prevent a susceptibility classification.</a:t>
            </a:r>
          </a:p>
        </p:txBody>
      </p:sp>
    </p:spTree>
    <p:extLst>
      <p:ext uri="{BB962C8B-B14F-4D97-AF65-F5344CB8AC3E}">
        <p14:creationId xmlns:p14="http://schemas.microsoft.com/office/powerpoint/2010/main" val="14838969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23BCD427-D74D-45CE-9DB1-4CB78EADDC41}"/>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LITERATURE</a:t>
            </a:r>
          </a:p>
        </p:txBody>
      </p:sp>
      <p:sp>
        <p:nvSpPr>
          <p:cNvPr id="2" name="title">
            <a:extLst xmlns:a="http://schemas.openxmlformats.org/drawingml/2006/main">
              <a:ext uri="{FF2B5EF4-FFF2-40B4-BE49-F238E27FC236}">
                <a16:creationId xmlns:a16="http://schemas.microsoft.com/office/drawing/2014/main" id="{E36D2E71-51E2-422A-BF1A-20518AE1D3A0}"/>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Credibility of flood assessments</a:t>
            </a:r>
          </a:p>
        </p:txBody>
      </p:sp>
      <p:sp>
        <p:nvSpPr>
          <p:cNvPr id="3" name="yellow-accent-rule">
            <a:extLst xmlns:a="http://schemas.openxmlformats.org/drawingml/2006/main">
              <a:ext uri="{FF2B5EF4-FFF2-40B4-BE49-F238E27FC236}">
                <a16:creationId xmlns:a16="http://schemas.microsoft.com/office/drawing/2014/main" id="{577BA63E-80CA-47A6-843D-78152AC3B75F}"/>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7F5128E-B33E-45B4-8F9A-2AB6C86078E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literature</a:t>
            </a:r>
          </a:p>
        </p:txBody>
      </p:sp>
      <p:sp>
        <p:nvSpPr>
          <p:cNvPr id="5" name="page">
            <a:extLst xmlns:a="http://schemas.openxmlformats.org/drawingml/2006/main">
              <a:ext uri="{FF2B5EF4-FFF2-40B4-BE49-F238E27FC236}">
                <a16:creationId xmlns:a16="http://schemas.microsoft.com/office/drawing/2014/main" id="{38481B4C-53B2-49E4-91E1-CEE8D28AD1F6}"/>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14</a:t>
            </a:r>
          </a:p>
        </p:txBody>
      </p:sp>
      <p:sp>
        <p:nvSpPr>
          <p:cNvPr id="6" name="author-year">
            <a:extLst xmlns:a="http://schemas.openxmlformats.org/drawingml/2006/main">
              <a:ext uri="{FF2B5EF4-FFF2-40B4-BE49-F238E27FC236}">
                <a16:creationId xmlns:a16="http://schemas.microsoft.com/office/drawing/2014/main" id="{260DBD9D-8C67-499D-91F3-75EDBB48648C}"/>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Merz et al. (2024)</a:t>
            </a:r>
          </a:p>
        </p:txBody>
      </p:sp>
      <p:sp>
        <p:nvSpPr>
          <p:cNvPr id="7" name="idea-label">
            <a:extLst xmlns:a="http://schemas.openxmlformats.org/drawingml/2006/main">
              <a:ext uri="{FF2B5EF4-FFF2-40B4-BE49-F238E27FC236}">
                <a16:creationId xmlns:a16="http://schemas.microsoft.com/office/drawing/2014/main" id="{AA8D6DCF-2151-4F68-B3A8-786891348C27}"/>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589A6CDF-8F20-4845-AD43-52EB1991C962}"/>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Validation must consider the decision an assessment supports, its data, and its assumptions.</a:t>
            </a:r>
          </a:p>
        </p:txBody>
      </p:sp>
      <p:sp>
        <p:nvSpPr>
          <p:cNvPr id="9" name="relevance-label">
            <a:extLst xmlns:a="http://schemas.openxmlformats.org/drawingml/2006/main">
              <a:ext uri="{FF2B5EF4-FFF2-40B4-BE49-F238E27FC236}">
                <a16:creationId xmlns:a16="http://schemas.microsoft.com/office/drawing/2014/main" id="{FFB21E5A-2612-4280-921E-E45BB8CAB5C1}"/>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A620D2F-365E-487B-B70B-2FA501BF2955}"/>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Document provenance and seek expert review. A valid polygon alone cannot establish a credible susceptibility class.</a:t>
            </a:r>
          </a:p>
        </p:txBody>
      </p:sp>
    </p:spTree>
    <p:extLst>
      <p:ext uri="{BB962C8B-B14F-4D97-AF65-F5344CB8AC3E}">
        <p14:creationId xmlns:p14="http://schemas.microsoft.com/office/powerpoint/2010/main" val="7747649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D51E92CC-AD77-493A-B8D0-5932FF251626}"/>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LITERATURE</a:t>
            </a:r>
          </a:p>
        </p:txBody>
      </p:sp>
      <p:sp>
        <p:nvSpPr>
          <p:cNvPr id="2" name="title">
            <a:extLst xmlns:a="http://schemas.openxmlformats.org/drawingml/2006/main">
              <a:ext uri="{FF2B5EF4-FFF2-40B4-BE49-F238E27FC236}">
                <a16:creationId xmlns:a16="http://schemas.microsoft.com/office/drawing/2014/main" id="{491F226C-A6B7-4254-9D49-7E57ACDE94AE}"/>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Rule-based decision support</a:t>
            </a:r>
          </a:p>
        </p:txBody>
      </p:sp>
      <p:sp>
        <p:nvSpPr>
          <p:cNvPr id="3" name="yellow-accent-rule">
            <a:extLst xmlns:a="http://schemas.openxmlformats.org/drawingml/2006/main">
              <a:ext uri="{FF2B5EF4-FFF2-40B4-BE49-F238E27FC236}">
                <a16:creationId xmlns:a16="http://schemas.microsoft.com/office/drawing/2014/main" id="{CD2788A5-E173-48DC-928B-355E3A67CCFC}"/>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106CADD1-CDDB-468A-9708-92F53AC17AC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literature</a:t>
            </a:r>
          </a:p>
        </p:txBody>
      </p:sp>
      <p:sp>
        <p:nvSpPr>
          <p:cNvPr id="5" name="page">
            <a:extLst xmlns:a="http://schemas.openxmlformats.org/drawingml/2006/main">
              <a:ext uri="{FF2B5EF4-FFF2-40B4-BE49-F238E27FC236}">
                <a16:creationId xmlns:a16="http://schemas.microsoft.com/office/drawing/2014/main" id="{3BDCA9DB-07D7-4C05-9AE8-56A7C240B53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15</a:t>
            </a:r>
          </a:p>
        </p:txBody>
      </p:sp>
      <p:sp>
        <p:nvSpPr>
          <p:cNvPr id="6" name="author-year">
            <a:extLst xmlns:a="http://schemas.openxmlformats.org/drawingml/2006/main">
              <a:ext uri="{FF2B5EF4-FFF2-40B4-BE49-F238E27FC236}">
                <a16:creationId xmlns:a16="http://schemas.microsoft.com/office/drawing/2014/main" id="{40AA804F-1833-48E5-90B2-EF4A97D0AB11}"/>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Papadopoulos et al. (2022)</a:t>
            </a:r>
          </a:p>
        </p:txBody>
      </p:sp>
      <p:sp>
        <p:nvSpPr>
          <p:cNvPr id="7" name="idea-label">
            <a:extLst xmlns:a="http://schemas.openxmlformats.org/drawingml/2006/main">
              <a:ext uri="{FF2B5EF4-FFF2-40B4-BE49-F238E27FC236}">
                <a16:creationId xmlns:a16="http://schemas.microsoft.com/office/drawing/2014/main" id="{79708888-353C-4A19-B5C4-C11AE04270C1}"/>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213C3477-334A-483E-B460-8D4B1E0EE530}"/>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 review of 15 clinical decision-support publications examined encoded knowledge, fact matching, and rule engines.</a:t>
            </a:r>
          </a:p>
        </p:txBody>
      </p:sp>
      <p:sp>
        <p:nvSpPr>
          <p:cNvPr id="9" name="relevance-label">
            <a:extLst xmlns:a="http://schemas.openxmlformats.org/drawingml/2006/main">
              <a:ext uri="{FF2B5EF4-FFF2-40B4-BE49-F238E27FC236}">
                <a16:creationId xmlns:a16="http://schemas.microsoft.com/office/drawing/2014/main" id="{1D64A4CF-BCE3-4B4C-82CD-3607143670DA}"/>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A63FD30-8554-4092-9879-0B9A55872468}"/>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Explain the rule basis of a susceptibility result. Clinical rules and clinical outcomes cannot validate flood assessments.</a:t>
            </a:r>
          </a:p>
        </p:txBody>
      </p:sp>
    </p:spTree>
    <p:extLst>
      <p:ext uri="{BB962C8B-B14F-4D97-AF65-F5344CB8AC3E}">
        <p14:creationId xmlns:p14="http://schemas.microsoft.com/office/powerpoint/2010/main" val="1155538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C7D4A642-2B82-49B4-A811-020DC429F25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LITERATURE</a:t>
            </a:r>
          </a:p>
        </p:txBody>
      </p:sp>
      <p:sp>
        <p:nvSpPr>
          <p:cNvPr id="2" name="title">
            <a:extLst xmlns:a="http://schemas.openxmlformats.org/drawingml/2006/main">
              <a:ext uri="{FF2B5EF4-FFF2-40B4-BE49-F238E27FC236}">
                <a16:creationId xmlns:a16="http://schemas.microsoft.com/office/drawing/2014/main" id="{EF2D3C6A-ABE4-48CC-8FA2-0CE2B9986F1D}"/>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Actionable flood information</a:t>
            </a:r>
          </a:p>
        </p:txBody>
      </p:sp>
      <p:sp>
        <p:nvSpPr>
          <p:cNvPr id="3" name="yellow-accent-rule">
            <a:extLst xmlns:a="http://schemas.openxmlformats.org/drawingml/2006/main">
              <a:ext uri="{FF2B5EF4-FFF2-40B4-BE49-F238E27FC236}">
                <a16:creationId xmlns:a16="http://schemas.microsoft.com/office/drawing/2014/main" id="{AE243041-C87F-46B1-B87E-7FF03F10863E}"/>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77CD06CF-F44E-4BF2-B88E-CE1AE493125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literature</a:t>
            </a:r>
          </a:p>
        </p:txBody>
      </p:sp>
      <p:sp>
        <p:nvSpPr>
          <p:cNvPr id="5" name="page">
            <a:extLst xmlns:a="http://schemas.openxmlformats.org/drawingml/2006/main">
              <a:ext uri="{FF2B5EF4-FFF2-40B4-BE49-F238E27FC236}">
                <a16:creationId xmlns:a16="http://schemas.microsoft.com/office/drawing/2014/main" id="{8857A98B-0685-4FEE-AC13-6A02CF50419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16</a:t>
            </a:r>
          </a:p>
        </p:txBody>
      </p:sp>
      <p:sp>
        <p:nvSpPr>
          <p:cNvPr id="6" name="author-year">
            <a:extLst xmlns:a="http://schemas.openxmlformats.org/drawingml/2006/main">
              <a:ext uri="{FF2B5EF4-FFF2-40B4-BE49-F238E27FC236}">
                <a16:creationId xmlns:a16="http://schemas.microsoft.com/office/drawing/2014/main" id="{EDC85033-278C-46D9-87EB-371B1E6EE5D7}"/>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Mostafiz et al. (2022)</a:t>
            </a:r>
          </a:p>
        </p:txBody>
      </p:sp>
      <p:sp>
        <p:nvSpPr>
          <p:cNvPr id="7" name="idea-label">
            <a:extLst xmlns:a="http://schemas.openxmlformats.org/drawingml/2006/main">
              <a:ext uri="{FF2B5EF4-FFF2-40B4-BE49-F238E27FC236}">
                <a16:creationId xmlns:a16="http://schemas.microsoft.com/office/drawing/2014/main" id="{7F2CF677-EB31-4B5F-8F40-5091D3E2772C}"/>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6A4A4E36-4AB7-4599-8BC0-E74351F9F431}"/>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 review of 50 free flood-information portals found limited individualized information for longer-term planning.</a:t>
            </a:r>
          </a:p>
        </p:txBody>
      </p:sp>
      <p:sp>
        <p:nvSpPr>
          <p:cNvPr id="9" name="relevance-label">
            <a:extLst xmlns:a="http://schemas.openxmlformats.org/drawingml/2006/main">
              <a:ext uri="{FF2B5EF4-FFF2-40B4-BE49-F238E27FC236}">
                <a16:creationId xmlns:a16="http://schemas.microsoft.com/office/drawing/2014/main" id="{8B403B2D-EEB4-4888-A382-89C0E6D2F288}"/>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DE09278-23C4-4131-8137-D49AB8867466}"/>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Pair understandable assessment context with preparedness guidance that helps residents consider protective actions.</a:t>
            </a:r>
          </a:p>
        </p:txBody>
      </p:sp>
    </p:spTree>
    <p:extLst>
      <p:ext uri="{BB962C8B-B14F-4D97-AF65-F5344CB8AC3E}">
        <p14:creationId xmlns:p14="http://schemas.microsoft.com/office/powerpoint/2010/main" val="93758354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72AFEA5B-4592-4B73-B7AB-0B008898F1D6}"/>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LITERATURE</a:t>
            </a:r>
          </a:p>
        </p:txBody>
      </p:sp>
      <p:sp>
        <p:nvSpPr>
          <p:cNvPr id="2" name="title">
            <a:extLst xmlns:a="http://schemas.openxmlformats.org/drawingml/2006/main">
              <a:ext uri="{FF2B5EF4-FFF2-40B4-BE49-F238E27FC236}">
                <a16:creationId xmlns:a16="http://schemas.microsoft.com/office/drawing/2014/main" id="{D36581AD-166E-4029-949A-4F5FA5F093AD}"/>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Spatial data management</a:t>
            </a:r>
          </a:p>
        </p:txBody>
      </p:sp>
      <p:sp>
        <p:nvSpPr>
          <p:cNvPr id="3" name="yellow-accent-rule">
            <a:extLst xmlns:a="http://schemas.openxmlformats.org/drawingml/2006/main">
              <a:ext uri="{FF2B5EF4-FFF2-40B4-BE49-F238E27FC236}">
                <a16:creationId xmlns:a16="http://schemas.microsoft.com/office/drawing/2014/main" id="{583120CA-95C2-4273-8644-BB3FD5D8B63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93E2053D-7655-4B10-89CE-F2054E286D9B}"/>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literature</a:t>
            </a:r>
          </a:p>
        </p:txBody>
      </p:sp>
      <p:sp>
        <p:nvSpPr>
          <p:cNvPr id="5" name="page">
            <a:extLst xmlns:a="http://schemas.openxmlformats.org/drawingml/2006/main">
              <a:ext uri="{FF2B5EF4-FFF2-40B4-BE49-F238E27FC236}">
                <a16:creationId xmlns:a16="http://schemas.microsoft.com/office/drawing/2014/main" id="{9D79A925-7FC5-4A5E-9A2C-4034D5EBFCD9}"/>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17</a:t>
            </a:r>
          </a:p>
        </p:txBody>
      </p:sp>
      <p:sp>
        <p:nvSpPr>
          <p:cNvPr id="6" name="author-year">
            <a:extLst xmlns:a="http://schemas.openxmlformats.org/drawingml/2006/main">
              <a:ext uri="{FF2B5EF4-FFF2-40B4-BE49-F238E27FC236}">
                <a16:creationId xmlns:a16="http://schemas.microsoft.com/office/drawing/2014/main" id="{7D1BB8BC-8F31-4762-902D-9F33E97A5D77}"/>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PostGIS Development Group (2025)</a:t>
            </a:r>
          </a:p>
        </p:txBody>
      </p:sp>
      <p:sp>
        <p:nvSpPr>
          <p:cNvPr id="7" name="idea-label">
            <a:extLst xmlns:a="http://schemas.openxmlformats.org/drawingml/2006/main">
              <a:ext uri="{FF2B5EF4-FFF2-40B4-BE49-F238E27FC236}">
                <a16:creationId xmlns:a16="http://schemas.microsoft.com/office/drawing/2014/main" id="{74D5A349-4815-42C8-A922-AA4D92224E7E}"/>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DE1376B0-F9D3-439F-9DF1-988A3D0B2C1C}"/>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The PostGIS 3.6.0 manual documents spatial types, indexes, coordinate transformations, and geographic queries.</a:t>
            </a:r>
          </a:p>
        </p:txBody>
      </p:sp>
      <p:sp>
        <p:nvSpPr>
          <p:cNvPr id="9" name="relevance-label">
            <a:extLst xmlns:a="http://schemas.openxmlformats.org/drawingml/2006/main">
              <a:ext uri="{FF2B5EF4-FFF2-40B4-BE49-F238E27FC236}">
                <a16:creationId xmlns:a16="http://schemas.microsoft.com/office/drawing/2014/main" id="{4BF3CC0A-DC44-456F-A3ED-F71D994D4F63}"/>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BF2FADA2-6DBF-482B-88F2-EBDFC15AE976}"/>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Relate selected locations to geographic records while preserving identifiers, provenance, and authorization controls.</a:t>
            </a:r>
          </a:p>
        </p:txBody>
      </p:sp>
    </p:spTree>
    <p:extLst>
      <p:ext uri="{BB962C8B-B14F-4D97-AF65-F5344CB8AC3E}">
        <p14:creationId xmlns:p14="http://schemas.microsoft.com/office/powerpoint/2010/main" val="63849514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B4638CE0-8172-42C8-9002-C167BBACC07B}"/>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LITERATURE</a:t>
            </a:r>
          </a:p>
        </p:txBody>
      </p:sp>
      <p:sp>
        <p:nvSpPr>
          <p:cNvPr id="2" name="title">
            <a:extLst xmlns:a="http://schemas.openxmlformats.org/drawingml/2006/main">
              <a:ext uri="{FF2B5EF4-FFF2-40B4-BE49-F238E27FC236}">
                <a16:creationId xmlns:a16="http://schemas.microsoft.com/office/drawing/2014/main" id="{6251BEA5-F169-4FA7-A2DC-9D8A2C56A30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Foreground location permissions</a:t>
            </a:r>
          </a:p>
        </p:txBody>
      </p:sp>
      <p:sp>
        <p:nvSpPr>
          <p:cNvPr id="3" name="yellow-accent-rule">
            <a:extLst xmlns:a="http://schemas.openxmlformats.org/drawingml/2006/main">
              <a:ext uri="{FF2B5EF4-FFF2-40B4-BE49-F238E27FC236}">
                <a16:creationId xmlns:a16="http://schemas.microsoft.com/office/drawing/2014/main" id="{13B31C17-390B-46B2-8EDF-7DE55AEECA45}"/>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92675F5F-1DA8-4364-B9C3-0FEE5ECE3DE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literature</a:t>
            </a:r>
          </a:p>
        </p:txBody>
      </p:sp>
      <p:sp>
        <p:nvSpPr>
          <p:cNvPr id="5" name="page">
            <a:extLst xmlns:a="http://schemas.openxmlformats.org/drawingml/2006/main">
              <a:ext uri="{FF2B5EF4-FFF2-40B4-BE49-F238E27FC236}">
                <a16:creationId xmlns:a16="http://schemas.microsoft.com/office/drawing/2014/main" id="{E44AAC60-5D4D-49AE-9139-776F2FDEA1F9}"/>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18</a:t>
            </a:r>
          </a:p>
        </p:txBody>
      </p:sp>
      <p:sp>
        <p:nvSpPr>
          <p:cNvPr id="6" name="author-year">
            <a:extLst xmlns:a="http://schemas.openxmlformats.org/drawingml/2006/main">
              <a:ext uri="{FF2B5EF4-FFF2-40B4-BE49-F238E27FC236}">
                <a16:creationId xmlns:a16="http://schemas.microsoft.com/office/drawing/2014/main" id="{D416D35D-F637-4B7A-B354-1D43C923F47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Android Developers (2026)</a:t>
            </a:r>
          </a:p>
        </p:txBody>
      </p:sp>
      <p:sp>
        <p:nvSpPr>
          <p:cNvPr id="7" name="idea-label">
            <a:extLst xmlns:a="http://schemas.openxmlformats.org/drawingml/2006/main">
              <a:ext uri="{FF2B5EF4-FFF2-40B4-BE49-F238E27FC236}">
                <a16:creationId xmlns:a16="http://schemas.microsoft.com/office/drawing/2014/main" id="{0BA8D126-BF5E-4474-AE6C-5CF8E7C0B010}"/>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044C1836-1C62-4D2F-99B9-671089B63396}"/>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Official documentation distinguishes foreground and background access, including approximate and precise location.</a:t>
            </a:r>
          </a:p>
        </p:txBody>
      </p:sp>
      <p:sp>
        <p:nvSpPr>
          <p:cNvPr id="9" name="relevance-label">
            <a:extLst xmlns:a="http://schemas.openxmlformats.org/drawingml/2006/main">
              <a:ext uri="{FF2B5EF4-FFF2-40B4-BE49-F238E27FC236}">
                <a16:creationId xmlns:a16="http://schemas.microsoft.com/office/drawing/2014/main" id="{BF6D73D1-6401-400F-9F2F-46E7CD516F4C}"/>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12BCB550-388D-4BDE-BD99-7F8917BFA65A}"/>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Make location permission optional during assessment and preserve barangay selection and map-pin alternatives.</a:t>
            </a:r>
          </a:p>
        </p:txBody>
      </p:sp>
    </p:spTree>
    <p:extLst>
      <p:ext uri="{BB962C8B-B14F-4D97-AF65-F5344CB8AC3E}">
        <p14:creationId xmlns:p14="http://schemas.microsoft.com/office/powerpoint/2010/main" val="4782858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7A586D8C-2E72-4CD1-BD5A-116F459D975C}"/>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LITERATURE</a:t>
            </a:r>
          </a:p>
        </p:txBody>
      </p:sp>
      <p:sp>
        <p:nvSpPr>
          <p:cNvPr id="2" name="title">
            <a:extLst xmlns:a="http://schemas.openxmlformats.org/drawingml/2006/main">
              <a:ext uri="{FF2B5EF4-FFF2-40B4-BE49-F238E27FC236}">
                <a16:creationId xmlns:a16="http://schemas.microsoft.com/office/drawing/2014/main" id="{740DBAC6-0178-47EB-A22F-43175DB36178}"/>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Flash-flood mapping in Bukidnon</a:t>
            </a:r>
          </a:p>
        </p:txBody>
      </p:sp>
      <p:sp>
        <p:nvSpPr>
          <p:cNvPr id="3" name="yellow-accent-rule">
            <a:extLst xmlns:a="http://schemas.openxmlformats.org/drawingml/2006/main">
              <a:ext uri="{FF2B5EF4-FFF2-40B4-BE49-F238E27FC236}">
                <a16:creationId xmlns:a16="http://schemas.microsoft.com/office/drawing/2014/main" id="{A1D53229-2984-4FD6-A3C9-1B902BDD7F64}"/>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0850C9F0-DCDB-4284-8871-C3B8138378D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literature</a:t>
            </a:r>
          </a:p>
        </p:txBody>
      </p:sp>
      <p:sp>
        <p:nvSpPr>
          <p:cNvPr id="5" name="page">
            <a:extLst xmlns:a="http://schemas.openxmlformats.org/drawingml/2006/main">
              <a:ext uri="{FF2B5EF4-FFF2-40B4-BE49-F238E27FC236}">
                <a16:creationId xmlns:a16="http://schemas.microsoft.com/office/drawing/2014/main" id="{363444D9-9104-460B-AA04-D3DCDBC8017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19</a:t>
            </a:r>
          </a:p>
        </p:txBody>
      </p:sp>
      <p:sp>
        <p:nvSpPr>
          <p:cNvPr id="6" name="author-year">
            <a:extLst xmlns:a="http://schemas.openxmlformats.org/drawingml/2006/main">
              <a:ext uri="{FF2B5EF4-FFF2-40B4-BE49-F238E27FC236}">
                <a16:creationId xmlns:a16="http://schemas.microsoft.com/office/drawing/2014/main" id="{43ACD2D8-1E4B-4244-BD26-D61977815DE0}"/>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Puno et al. (2022)</a:t>
            </a:r>
          </a:p>
        </p:txBody>
      </p:sp>
      <p:sp>
        <p:nvSpPr>
          <p:cNvPr id="7" name="idea-label">
            <a:extLst xmlns:a="http://schemas.openxmlformats.org/drawingml/2006/main">
              <a:ext uri="{FF2B5EF4-FFF2-40B4-BE49-F238E27FC236}">
                <a16:creationId xmlns:a16="http://schemas.microsoft.com/office/drawing/2014/main" id="{6CD52C20-0221-4EFE-AFC4-29B68E358121}"/>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52AE8D73-69E7-44BC-AA1A-6D8885ACA800}"/>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GIS and frequency-ratio analysis used 160 flood points, nine factors, and local field checks in Bukang Liwayway.</a:t>
            </a:r>
          </a:p>
        </p:txBody>
      </p:sp>
      <p:sp>
        <p:nvSpPr>
          <p:cNvPr id="9" name="relevance-label">
            <a:extLst xmlns:a="http://schemas.openxmlformats.org/drawingml/2006/main">
              <a:ext uri="{FF2B5EF4-FFF2-40B4-BE49-F238E27FC236}">
                <a16:creationId xmlns:a16="http://schemas.microsoft.com/office/drawing/2014/main" id="{9E405DDC-A47B-4892-9FBE-3D735A8A2597}"/>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D221EDF5-68D9-4928-823B-C7BB4CA67AF2}"/>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Use local evidence to support geographic classification. Bukidnon weights and results cannot be adopted directly for Bacoor.</a:t>
            </a:r>
          </a:p>
        </p:txBody>
      </p:sp>
    </p:spTree>
    <p:extLst>
      <p:ext uri="{BB962C8B-B14F-4D97-AF65-F5344CB8AC3E}">
        <p14:creationId xmlns:p14="http://schemas.microsoft.com/office/powerpoint/2010/main" val="19361396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E1AAA32-7C7F-403B-8A3B-16D8F2FCD213}"/>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LITERATURE</a:t>
            </a:r>
          </a:p>
        </p:txBody>
      </p:sp>
      <p:sp>
        <p:nvSpPr>
          <p:cNvPr id="2" name="title">
            <a:extLst xmlns:a="http://schemas.openxmlformats.org/drawingml/2006/main">
              <a:ext uri="{FF2B5EF4-FFF2-40B4-BE49-F238E27FC236}">
                <a16:creationId xmlns:a16="http://schemas.microsoft.com/office/drawing/2014/main" id="{FE3A824B-F6E3-4126-A6A5-7C9F852E944B}"/>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Flood mitigation in Cavite</a:t>
            </a:r>
          </a:p>
        </p:txBody>
      </p:sp>
      <p:sp>
        <p:nvSpPr>
          <p:cNvPr id="3" name="yellow-accent-rule">
            <a:extLst xmlns:a="http://schemas.openxmlformats.org/drawingml/2006/main">
              <a:ext uri="{FF2B5EF4-FFF2-40B4-BE49-F238E27FC236}">
                <a16:creationId xmlns:a16="http://schemas.microsoft.com/office/drawing/2014/main" id="{182A341C-835D-47BE-9ED5-A886332E3D85}"/>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E227783-491C-458E-B1FE-D3B1B70AA90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literature</a:t>
            </a:r>
          </a:p>
        </p:txBody>
      </p:sp>
      <p:sp>
        <p:nvSpPr>
          <p:cNvPr id="5" name="page">
            <a:extLst xmlns:a="http://schemas.openxmlformats.org/drawingml/2006/main">
              <a:ext uri="{FF2B5EF4-FFF2-40B4-BE49-F238E27FC236}">
                <a16:creationId xmlns:a16="http://schemas.microsoft.com/office/drawing/2014/main" id="{251D254A-B961-4C7A-8262-C64122C5395D}"/>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20</a:t>
            </a:r>
          </a:p>
        </p:txBody>
      </p:sp>
      <p:sp>
        <p:nvSpPr>
          <p:cNvPr id="6" name="author-year">
            <a:extLst xmlns:a="http://schemas.openxmlformats.org/drawingml/2006/main">
              <a:ext uri="{FF2B5EF4-FFF2-40B4-BE49-F238E27FC236}">
                <a16:creationId xmlns:a16="http://schemas.microsoft.com/office/drawing/2014/main" id="{00842880-FFDB-4565-A0F0-3F596EA2CF79}"/>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Japan International Cooperation Agency (2021)</a:t>
            </a:r>
          </a:p>
        </p:txBody>
      </p:sp>
      <p:sp>
        <p:nvSpPr>
          <p:cNvPr id="7" name="idea-label">
            <a:extLst xmlns:a="http://schemas.openxmlformats.org/drawingml/2006/main">
              <a:ext uri="{FF2B5EF4-FFF2-40B4-BE49-F238E27FC236}">
                <a16:creationId xmlns:a16="http://schemas.microsoft.com/office/drawing/2014/main" id="{EDBB0416-B475-4248-852C-A0B41126C308}"/>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9875B3BD-AF38-4C19-BD9B-033375ADABA9}"/>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The institutional report describes Imus River Basin facilities, including retarding basins associated with Bacoor and Imus.</a:t>
            </a:r>
          </a:p>
        </p:txBody>
      </p:sp>
      <p:sp>
        <p:nvSpPr>
          <p:cNvPr id="9" name="relevance-label">
            <a:extLst xmlns:a="http://schemas.openxmlformats.org/drawingml/2006/main">
              <a:ext uri="{FF2B5EF4-FFF2-40B4-BE49-F238E27FC236}">
                <a16:creationId xmlns:a16="http://schemas.microsoft.com/office/drawing/2014/main" id="{58F7302B-EDCC-4C40-A550-3C8623DF150D}"/>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04EF148-2F51-4B01-A2E1-04AA5F51D48F}"/>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Ground the research in Cavite’s watershed and infrastructure context without treating the report as local assessment data.</a:t>
            </a:r>
          </a:p>
        </p:txBody>
      </p:sp>
    </p:spTree>
    <p:extLst>
      <p:ext uri="{BB962C8B-B14F-4D97-AF65-F5344CB8AC3E}">
        <p14:creationId xmlns:p14="http://schemas.microsoft.com/office/powerpoint/2010/main" val="61595970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8CBF1C60-2056-468A-9206-D2EC39CA9EC7}"/>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LITERATURE</a:t>
            </a:r>
          </a:p>
        </p:txBody>
      </p:sp>
      <p:sp>
        <p:nvSpPr>
          <p:cNvPr id="2" name="title">
            <a:extLst xmlns:a="http://schemas.openxmlformats.org/drawingml/2006/main">
              <a:ext uri="{FF2B5EF4-FFF2-40B4-BE49-F238E27FC236}">
                <a16:creationId xmlns:a16="http://schemas.microsoft.com/office/drawing/2014/main" id="{843D5B98-47BF-448C-B34A-2401DCDFDACE}"/>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UP NOAH and public hazard maps</a:t>
            </a:r>
          </a:p>
        </p:txBody>
      </p:sp>
      <p:sp>
        <p:nvSpPr>
          <p:cNvPr id="3" name="yellow-accent-rule">
            <a:extLst xmlns:a="http://schemas.openxmlformats.org/drawingml/2006/main">
              <a:ext uri="{FF2B5EF4-FFF2-40B4-BE49-F238E27FC236}">
                <a16:creationId xmlns:a16="http://schemas.microsoft.com/office/drawing/2014/main" id="{E850E07E-0AFE-42C1-AAF1-3D0773A2EB45}"/>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7C530380-AD75-4654-AC9E-BC7EBFFA64BD}"/>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literature</a:t>
            </a:r>
          </a:p>
        </p:txBody>
      </p:sp>
      <p:sp>
        <p:nvSpPr>
          <p:cNvPr id="5" name="page">
            <a:extLst xmlns:a="http://schemas.openxmlformats.org/drawingml/2006/main">
              <a:ext uri="{FF2B5EF4-FFF2-40B4-BE49-F238E27FC236}">
                <a16:creationId xmlns:a16="http://schemas.microsoft.com/office/drawing/2014/main" id="{7E1B0205-0A4E-4E2A-A592-849C5D5D8BF1}"/>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21</a:t>
            </a:r>
          </a:p>
        </p:txBody>
      </p:sp>
      <p:sp>
        <p:nvSpPr>
          <p:cNvPr id="6" name="author-year">
            <a:extLst xmlns:a="http://schemas.openxmlformats.org/drawingml/2006/main">
              <a:ext uri="{FF2B5EF4-FFF2-40B4-BE49-F238E27FC236}">
                <a16:creationId xmlns:a16="http://schemas.microsoft.com/office/drawing/2014/main" id="{63885C9A-8D14-4761-91FE-5377374C63DB}"/>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Dabu / University of the Philippines (2024)</a:t>
            </a:r>
          </a:p>
        </p:txBody>
      </p:sp>
      <p:sp>
        <p:nvSpPr>
          <p:cNvPr id="7" name="idea-label">
            <a:extLst xmlns:a="http://schemas.openxmlformats.org/drawingml/2006/main">
              <a:ext uri="{FF2B5EF4-FFF2-40B4-BE49-F238E27FC236}">
                <a16:creationId xmlns:a16="http://schemas.microsoft.com/office/drawing/2014/main" id="{50FC4D13-E494-4A47-B500-48F71726657C}"/>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935474C1-0182-4E87-9EFA-BF4BD15F9485}"/>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The institutional article describes public map access to flood, landslide, and storm-surge hazard information.</a:t>
            </a:r>
          </a:p>
        </p:txBody>
      </p:sp>
      <p:sp>
        <p:nvSpPr>
          <p:cNvPr id="9" name="relevance-label">
            <a:extLst xmlns:a="http://schemas.openxmlformats.org/drawingml/2006/main">
              <a:ext uri="{FF2B5EF4-FFF2-40B4-BE49-F238E27FC236}">
                <a16:creationId xmlns:a16="http://schemas.microsoft.com/office/drawing/2014/main" id="{517CAFCF-4D6F-4CDD-ADE3-BF8F4EAB57E5}"/>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45FD286E-6A37-4194-936D-7F84D758B908}"/>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Use accessible map-based communication as inspiration while retaining the proposed system’s research scope and data limits.</a:t>
            </a:r>
          </a:p>
        </p:txBody>
      </p:sp>
    </p:spTree>
    <p:extLst>
      <p:ext uri="{BB962C8B-B14F-4D97-AF65-F5344CB8AC3E}">
        <p14:creationId xmlns:p14="http://schemas.microsoft.com/office/powerpoint/2010/main" val="84963681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5A60C4B4-2350-4917-B24D-C3EA2BF3E2F1}"/>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LITERATURE</a:t>
            </a:r>
          </a:p>
        </p:txBody>
      </p:sp>
      <p:sp>
        <p:nvSpPr>
          <p:cNvPr id="2" name="title">
            <a:extLst xmlns:a="http://schemas.openxmlformats.org/drawingml/2006/main">
              <a:ext uri="{FF2B5EF4-FFF2-40B4-BE49-F238E27FC236}">
                <a16:creationId xmlns:a16="http://schemas.microsoft.com/office/drawing/2014/main" id="{D95FEDE3-427A-4769-AB98-39393ABB9029}"/>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HazardHunterPH and data authority</a:t>
            </a:r>
          </a:p>
        </p:txBody>
      </p:sp>
      <p:sp>
        <p:nvSpPr>
          <p:cNvPr id="3" name="yellow-accent-rule">
            <a:extLst xmlns:a="http://schemas.openxmlformats.org/drawingml/2006/main">
              <a:ext uri="{FF2B5EF4-FFF2-40B4-BE49-F238E27FC236}">
                <a16:creationId xmlns:a16="http://schemas.microsoft.com/office/drawing/2014/main" id="{CA9DC74D-3AF3-4D04-ACE6-2606CCA5EDFA}"/>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E26BBA8F-073F-4658-9216-83B116E4DEAA}"/>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literature</a:t>
            </a:r>
          </a:p>
        </p:txBody>
      </p:sp>
      <p:sp>
        <p:nvSpPr>
          <p:cNvPr id="5" name="page">
            <a:extLst xmlns:a="http://schemas.openxmlformats.org/drawingml/2006/main">
              <a:ext uri="{FF2B5EF4-FFF2-40B4-BE49-F238E27FC236}">
                <a16:creationId xmlns:a16="http://schemas.microsoft.com/office/drawing/2014/main" id="{CA5D6F29-65A2-4932-BD0B-274B3F5BE20A}"/>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22</a:t>
            </a:r>
          </a:p>
        </p:txBody>
      </p:sp>
      <p:sp>
        <p:nvSpPr>
          <p:cNvPr id="6" name="author-year">
            <a:extLst xmlns:a="http://schemas.openxmlformats.org/drawingml/2006/main">
              <a:ext uri="{FF2B5EF4-FFF2-40B4-BE49-F238E27FC236}">
                <a16:creationId xmlns:a16="http://schemas.microsoft.com/office/drawing/2014/main" id="{FF855736-5206-4049-BEB2-81E273FD1F36}"/>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DOST-PHIVOLCS (2023)</a:t>
            </a:r>
          </a:p>
        </p:txBody>
      </p:sp>
      <p:sp>
        <p:nvSpPr>
          <p:cNvPr id="7" name="idea-label">
            <a:extLst xmlns:a="http://schemas.openxmlformats.org/drawingml/2006/main">
              <a:ext uri="{FF2B5EF4-FFF2-40B4-BE49-F238E27FC236}">
                <a16:creationId xmlns:a16="http://schemas.microsoft.com/office/drawing/2014/main" id="{C2AA514B-62A1-46EA-95A5-4D488E61D272}"/>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FBE025A6-FBBE-44FC-BCB6-69763DDA236B}"/>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Official documentation describes site-specific multi-hazard assessment using information from participating Philippine agencies.</a:t>
            </a:r>
          </a:p>
        </p:txBody>
      </p:sp>
      <p:sp>
        <p:nvSpPr>
          <p:cNvPr id="9" name="relevance-label">
            <a:extLst xmlns:a="http://schemas.openxmlformats.org/drawingml/2006/main">
              <a:ext uri="{FF2B5EF4-FFF2-40B4-BE49-F238E27FC236}">
                <a16:creationId xmlns:a16="http://schemas.microsoft.com/office/drawing/2014/main" id="{524D6457-F65B-4F1D-A420-D170E36DF0C7}"/>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D9660B32-67B8-49FB-91C3-1F2AA3C2971C}"/>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Identify sources and intended use clearly. A project layer must not imply the institutional status of official agency data.</a:t>
            </a:r>
          </a:p>
        </p:txBody>
      </p:sp>
    </p:spTree>
    <p:extLst>
      <p:ext uri="{BB962C8B-B14F-4D97-AF65-F5344CB8AC3E}">
        <p14:creationId xmlns:p14="http://schemas.microsoft.com/office/powerpoint/2010/main" val="106820821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CB84BC18-1ABF-4381-90B5-4572981FDB73}"/>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LITERATURE</a:t>
            </a:r>
          </a:p>
        </p:txBody>
      </p:sp>
      <p:sp>
        <p:nvSpPr>
          <p:cNvPr id="2" name="title">
            <a:extLst xmlns:a="http://schemas.openxmlformats.org/drawingml/2006/main">
              <a:ext uri="{FF2B5EF4-FFF2-40B4-BE49-F238E27FC236}">
                <a16:creationId xmlns:a16="http://schemas.microsoft.com/office/drawing/2014/main" id="{4EEB6334-0DD9-4F82-A056-54106E1FE767}"/>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Privacy in mobile permissions</a:t>
            </a:r>
          </a:p>
        </p:txBody>
      </p:sp>
      <p:sp>
        <p:nvSpPr>
          <p:cNvPr id="3" name="yellow-accent-rule">
            <a:extLst xmlns:a="http://schemas.openxmlformats.org/drawingml/2006/main">
              <a:ext uri="{FF2B5EF4-FFF2-40B4-BE49-F238E27FC236}">
                <a16:creationId xmlns:a16="http://schemas.microsoft.com/office/drawing/2014/main" id="{22890E47-9C0B-4A6E-BE92-6780C8DE831D}"/>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827E842B-484A-4092-A02C-3719D6FD996F}"/>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literature</a:t>
            </a:r>
          </a:p>
        </p:txBody>
      </p:sp>
      <p:sp>
        <p:nvSpPr>
          <p:cNvPr id="5" name="page">
            <a:extLst xmlns:a="http://schemas.openxmlformats.org/drawingml/2006/main">
              <a:ext uri="{FF2B5EF4-FFF2-40B4-BE49-F238E27FC236}">
                <a16:creationId xmlns:a16="http://schemas.microsoft.com/office/drawing/2014/main" id="{365928F1-D9B7-4326-8173-48535AC2898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23</a:t>
            </a:r>
          </a:p>
        </p:txBody>
      </p:sp>
      <p:sp>
        <p:nvSpPr>
          <p:cNvPr id="6" name="author-year">
            <a:extLst xmlns:a="http://schemas.openxmlformats.org/drawingml/2006/main">
              <a:ext uri="{FF2B5EF4-FFF2-40B4-BE49-F238E27FC236}">
                <a16:creationId xmlns:a16="http://schemas.microsoft.com/office/drawing/2014/main" id="{D490A7C0-14E6-4FE8-BB80-571E18EC0E2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National Privacy Commission (2021)</a:t>
            </a:r>
          </a:p>
        </p:txBody>
      </p:sp>
      <p:sp>
        <p:nvSpPr>
          <p:cNvPr id="7" name="idea-label">
            <a:extLst xmlns:a="http://schemas.openxmlformats.org/drawingml/2006/main">
              <a:ext uri="{FF2B5EF4-FFF2-40B4-BE49-F238E27FC236}">
                <a16:creationId xmlns:a16="http://schemas.microsoft.com/office/drawing/2014/main" id="{9D407F9A-61CD-4F44-8892-6BE599C57AA1}"/>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PRINCIPAL IDEA</a:t>
            </a:r>
          </a:p>
        </p:txBody>
      </p:sp>
      <p:sp>
        <p:nvSpPr>
          <p:cNvPr id="8" name="principal-idea">
            <a:extLst xmlns:a="http://schemas.openxmlformats.org/drawingml/2006/main">
              <a:ext uri="{FF2B5EF4-FFF2-40B4-BE49-F238E27FC236}">
                <a16:creationId xmlns:a16="http://schemas.microsoft.com/office/drawing/2014/main" id="{BDC6B042-B944-481C-9563-D877C4A438C1}"/>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The advisory recommends minimum permissions, requests made in context, and user choice when optional access is denied.</a:t>
            </a:r>
          </a:p>
        </p:txBody>
      </p:sp>
      <p:sp>
        <p:nvSpPr>
          <p:cNvPr id="9" name="relevance-label">
            <a:extLst xmlns:a="http://schemas.openxmlformats.org/drawingml/2006/main">
              <a:ext uri="{FF2B5EF4-FFF2-40B4-BE49-F238E27FC236}">
                <a16:creationId xmlns:a16="http://schemas.microsoft.com/office/drawing/2014/main" id="{A7C12CE5-8B94-4F7F-8F35-A44BA24C8529}"/>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697381F6-A128-4F20-BC38-38CD24870775}"/>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Limit location access to an active resident request and keep manual alternatives available.</a:t>
            </a:r>
          </a:p>
        </p:txBody>
      </p:sp>
    </p:spTree>
    <p:extLst>
      <p:ext uri="{BB962C8B-B14F-4D97-AF65-F5344CB8AC3E}">
        <p14:creationId xmlns:p14="http://schemas.microsoft.com/office/powerpoint/2010/main" val="5954581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981665BF-235B-4BF9-BCA0-B76BE9E8347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STUDIES</a:t>
            </a:r>
          </a:p>
        </p:txBody>
      </p:sp>
      <p:sp>
        <p:nvSpPr>
          <p:cNvPr id="2" name="title">
            <a:extLst xmlns:a="http://schemas.openxmlformats.org/drawingml/2006/main">
              <a:ext uri="{FF2B5EF4-FFF2-40B4-BE49-F238E27FC236}">
                <a16:creationId xmlns:a16="http://schemas.microsoft.com/office/drawing/2014/main" id="{2BC1FFAF-2AF7-4A57-9E51-406A0E483642}"/>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FEWS using IoT Blynk</a:t>
            </a:r>
          </a:p>
        </p:txBody>
      </p:sp>
      <p:sp>
        <p:nvSpPr>
          <p:cNvPr id="3" name="yellow-accent-rule">
            <a:extLst xmlns:a="http://schemas.openxmlformats.org/drawingml/2006/main">
              <a:ext uri="{FF2B5EF4-FFF2-40B4-BE49-F238E27FC236}">
                <a16:creationId xmlns:a16="http://schemas.microsoft.com/office/drawing/2014/main" id="{7F1D2E22-0542-4A67-8FE9-E47F1073283E}"/>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2800CCA-1416-4B74-8907-234F0703C71E}"/>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studies</a:t>
            </a:r>
          </a:p>
        </p:txBody>
      </p:sp>
      <p:sp>
        <p:nvSpPr>
          <p:cNvPr id="5" name="page">
            <a:extLst xmlns:a="http://schemas.openxmlformats.org/drawingml/2006/main">
              <a:ext uri="{FF2B5EF4-FFF2-40B4-BE49-F238E27FC236}">
                <a16:creationId xmlns:a16="http://schemas.microsoft.com/office/drawing/2014/main" id="{C6ECABFB-C652-4F09-B7D3-F40071DDFF10}"/>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24</a:t>
            </a:r>
          </a:p>
        </p:txBody>
      </p:sp>
      <p:sp>
        <p:nvSpPr>
          <p:cNvPr id="6" name="author-year">
            <a:extLst xmlns:a="http://schemas.openxmlformats.org/drawingml/2006/main">
              <a:ext uri="{FF2B5EF4-FFF2-40B4-BE49-F238E27FC236}">
                <a16:creationId xmlns:a16="http://schemas.microsoft.com/office/drawing/2014/main" id="{481FF1C2-B2A2-44AB-9469-8AE63206AE3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Wisudawan (2021)</a:t>
            </a:r>
          </a:p>
        </p:txBody>
      </p:sp>
      <p:sp>
        <p:nvSpPr>
          <p:cNvPr id="7" name="idea-label">
            <a:extLst xmlns:a="http://schemas.openxmlformats.org/drawingml/2006/main">
              <a:ext uri="{FF2B5EF4-FFF2-40B4-BE49-F238E27FC236}">
                <a16:creationId xmlns:a16="http://schemas.microsoft.com/office/drawing/2014/main" id="{BF1495C5-C9BB-4B85-926D-9E2912A73056}"/>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131F25D6-F64F-44E6-8D9E-71EE6C4DE9A7}"/>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Sensor tests and 30-day reservoir observation demonstrated mobile display of readings and four warning states in Yogyakarta.</a:t>
            </a:r>
          </a:p>
        </p:txBody>
      </p:sp>
      <p:sp>
        <p:nvSpPr>
          <p:cNvPr id="9" name="relevance-label">
            <a:extLst xmlns:a="http://schemas.openxmlformats.org/drawingml/2006/main">
              <a:ext uri="{FF2B5EF4-FFF2-40B4-BE49-F238E27FC236}">
                <a16:creationId xmlns:a16="http://schemas.microsoft.com/office/drawing/2014/main" id="{D6B748BF-55E6-4398-83DD-B50A4D0E1E33}"/>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EE1E7513-22A9-48F7-BC32-6EECF2961ECA}"/>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Inform readable mobile status presentation. Reservoir thresholds and sensor readings do not validate Bacoor scenario results.</a:t>
            </a:r>
          </a:p>
        </p:txBody>
      </p:sp>
    </p:spTree>
    <p:extLst>
      <p:ext uri="{BB962C8B-B14F-4D97-AF65-F5344CB8AC3E}">
        <p14:creationId xmlns:p14="http://schemas.microsoft.com/office/powerpoint/2010/main" val="6226617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61852AE5-F5EF-496E-AFE7-DDD0A9E9D555}"/>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STUDIES</a:t>
            </a:r>
          </a:p>
        </p:txBody>
      </p:sp>
      <p:sp>
        <p:nvSpPr>
          <p:cNvPr id="2" name="title">
            <a:extLst xmlns:a="http://schemas.openxmlformats.org/drawingml/2006/main">
              <a:ext uri="{FF2B5EF4-FFF2-40B4-BE49-F238E27FC236}">
                <a16:creationId xmlns:a16="http://schemas.microsoft.com/office/drawing/2014/main" id="{BFD32C0B-7ADF-4D1D-9753-D9B4A9AF9DB3}"/>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A4alerts user experience</a:t>
            </a:r>
          </a:p>
        </p:txBody>
      </p:sp>
      <p:sp>
        <p:nvSpPr>
          <p:cNvPr id="3" name="yellow-accent-rule">
            <a:extLst xmlns:a="http://schemas.openxmlformats.org/drawingml/2006/main">
              <a:ext uri="{FF2B5EF4-FFF2-40B4-BE49-F238E27FC236}">
                <a16:creationId xmlns:a16="http://schemas.microsoft.com/office/drawing/2014/main" id="{04BDC109-374C-4841-B54C-0033CD6E55C2}"/>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00607B75-71C8-442C-88CF-DA9A81D942A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studies</a:t>
            </a:r>
          </a:p>
        </p:txBody>
      </p:sp>
      <p:sp>
        <p:nvSpPr>
          <p:cNvPr id="5" name="page">
            <a:extLst xmlns:a="http://schemas.openxmlformats.org/drawingml/2006/main">
              <a:ext uri="{FF2B5EF4-FFF2-40B4-BE49-F238E27FC236}">
                <a16:creationId xmlns:a16="http://schemas.microsoft.com/office/drawing/2014/main" id="{D90F808F-2DEE-4AB5-A7F7-AF0860FC1736}"/>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25</a:t>
            </a:r>
          </a:p>
        </p:txBody>
      </p:sp>
      <p:sp>
        <p:nvSpPr>
          <p:cNvPr id="6" name="author-year">
            <a:extLst xmlns:a="http://schemas.openxmlformats.org/drawingml/2006/main">
              <a:ext uri="{FF2B5EF4-FFF2-40B4-BE49-F238E27FC236}">
                <a16:creationId xmlns:a16="http://schemas.microsoft.com/office/drawing/2014/main" id="{0C3CEA93-583A-496C-BBC6-B865CD6D83C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Meléndez-Landaverde &amp; Sempere-Torres (2025)</a:t>
            </a:r>
          </a:p>
        </p:txBody>
      </p:sp>
      <p:sp>
        <p:nvSpPr>
          <p:cNvPr id="7" name="idea-label">
            <a:extLst xmlns:a="http://schemas.openxmlformats.org/drawingml/2006/main">
              <a:ext uri="{FF2B5EF4-FFF2-40B4-BE49-F238E27FC236}">
                <a16:creationId xmlns:a16="http://schemas.microsoft.com/office/drawing/2014/main" id="{1650FB01-7B1C-4E85-80D8-D6D119083328}"/>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642E698F-E8AD-45D9-A2A4-EAA6E3376AFF}"/>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 Catalonia scenario experiment with 76 stakeholders found 97% perceived usefulness for a site-specific flood-warning app.</a:t>
            </a:r>
          </a:p>
        </p:txBody>
      </p:sp>
      <p:sp>
        <p:nvSpPr>
          <p:cNvPr id="9" name="relevance-label">
            <a:extLst xmlns:a="http://schemas.openxmlformats.org/drawingml/2006/main">
              <a:ext uri="{FF2B5EF4-FFF2-40B4-BE49-F238E27FC236}">
                <a16:creationId xmlns:a16="http://schemas.microsoft.com/office/drawing/2014/main" id="{7FF36371-E545-4088-93AA-62B79014E516}"/>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C1C7C67-66E8-4646-B6E2-E84CCE931E7C}"/>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Present place-specific information and practical guidance clearly, without inheriting another app’s acceptance results.</a:t>
            </a:r>
          </a:p>
        </p:txBody>
      </p:sp>
    </p:spTree>
    <p:extLst>
      <p:ext uri="{BB962C8B-B14F-4D97-AF65-F5344CB8AC3E}">
        <p14:creationId xmlns:p14="http://schemas.microsoft.com/office/powerpoint/2010/main" val="203482309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7F315757-CFAE-4631-9193-7DE3405E2066}"/>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STUDIES</a:t>
            </a:r>
          </a:p>
        </p:txBody>
      </p:sp>
      <p:sp>
        <p:nvSpPr>
          <p:cNvPr id="2" name="title">
            <a:extLst xmlns:a="http://schemas.openxmlformats.org/drawingml/2006/main">
              <a:ext uri="{FF2B5EF4-FFF2-40B4-BE49-F238E27FC236}">
                <a16:creationId xmlns:a16="http://schemas.microsoft.com/office/drawing/2014/main" id="{E6B4824C-9923-44BD-9E53-37BB368FC1E4}"/>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HCI-centered flood-warning prototype</a:t>
            </a:r>
          </a:p>
        </p:txBody>
      </p:sp>
      <p:sp>
        <p:nvSpPr>
          <p:cNvPr id="3" name="yellow-accent-rule">
            <a:extLst xmlns:a="http://schemas.openxmlformats.org/drawingml/2006/main">
              <a:ext uri="{FF2B5EF4-FFF2-40B4-BE49-F238E27FC236}">
                <a16:creationId xmlns:a16="http://schemas.microsoft.com/office/drawing/2014/main" id="{D29336B0-5BBB-47A0-B078-DF243D15591C}"/>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5A43E0C-7F0C-4093-992D-CC5F139081FB}"/>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studies</a:t>
            </a:r>
          </a:p>
        </p:txBody>
      </p:sp>
      <p:sp>
        <p:nvSpPr>
          <p:cNvPr id="5" name="page">
            <a:extLst xmlns:a="http://schemas.openxmlformats.org/drawingml/2006/main">
              <a:ext uri="{FF2B5EF4-FFF2-40B4-BE49-F238E27FC236}">
                <a16:creationId xmlns:a16="http://schemas.microsoft.com/office/drawing/2014/main" id="{A1EA6F0C-0F52-4575-931C-450C93733C33}"/>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26</a:t>
            </a:r>
          </a:p>
        </p:txBody>
      </p:sp>
      <p:sp>
        <p:nvSpPr>
          <p:cNvPr id="6" name="author-year">
            <a:extLst xmlns:a="http://schemas.openxmlformats.org/drawingml/2006/main">
              <a:ext uri="{FF2B5EF4-FFF2-40B4-BE49-F238E27FC236}">
                <a16:creationId xmlns:a16="http://schemas.microsoft.com/office/drawing/2014/main" id="{46A4476C-ADFB-49B7-8188-0FE2579AC5D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Alsabhan &amp; Dudin (2023)</a:t>
            </a:r>
          </a:p>
        </p:txBody>
      </p:sp>
      <p:sp>
        <p:nvSpPr>
          <p:cNvPr id="7" name="idea-label">
            <a:extLst xmlns:a="http://schemas.openxmlformats.org/drawingml/2006/main">
              <a:ext uri="{FF2B5EF4-FFF2-40B4-BE49-F238E27FC236}">
                <a16:creationId xmlns:a16="http://schemas.microsoft.com/office/drawing/2014/main" id="{72D7BF05-F53B-4387-823B-53BB17AA6C52}"/>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995A4FA6-B566-47F1-809E-2F842A877D97}"/>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Activity theory and scenario-based design produced 93 requirements and satisfaction-category means of 3.93–4.08.</a:t>
            </a:r>
          </a:p>
        </p:txBody>
      </p:sp>
      <p:sp>
        <p:nvSpPr>
          <p:cNvPr id="9" name="relevance-label">
            <a:extLst xmlns:a="http://schemas.openxmlformats.org/drawingml/2006/main">
              <a:ext uri="{FF2B5EF4-FFF2-40B4-BE49-F238E27FC236}">
                <a16:creationId xmlns:a16="http://schemas.microsoft.com/office/drawing/2014/main" id="{417AE31E-5096-4536-9E6E-E79812E1C654}"/>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79E97503-831B-4F9F-BF92-1AC519DA42A8}"/>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Design understandable tasks and role-specific access. The study’s forecasting architecture serves a different assessment purpose.</a:t>
            </a:r>
          </a:p>
        </p:txBody>
      </p:sp>
    </p:spTree>
    <p:extLst>
      <p:ext uri="{BB962C8B-B14F-4D97-AF65-F5344CB8AC3E}">
        <p14:creationId xmlns:p14="http://schemas.microsoft.com/office/powerpoint/2010/main" val="452030143"/>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860E7F02-A1D7-433C-85DC-F531F62036A7}"/>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STUDIES</a:t>
            </a:r>
          </a:p>
        </p:txBody>
      </p:sp>
      <p:sp>
        <p:nvSpPr>
          <p:cNvPr id="2" name="title">
            <a:extLst xmlns:a="http://schemas.openxmlformats.org/drawingml/2006/main">
              <a:ext uri="{FF2B5EF4-FFF2-40B4-BE49-F238E27FC236}">
                <a16:creationId xmlns:a16="http://schemas.microsoft.com/office/drawing/2014/main" id="{1791E503-4A4A-4475-AC78-FFCE8E245C31}"/>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Tanzanian multi-hazard Web GIS</a:t>
            </a:r>
          </a:p>
        </p:txBody>
      </p:sp>
      <p:sp>
        <p:nvSpPr>
          <p:cNvPr id="3" name="yellow-accent-rule">
            <a:extLst xmlns:a="http://schemas.openxmlformats.org/drawingml/2006/main">
              <a:ext uri="{FF2B5EF4-FFF2-40B4-BE49-F238E27FC236}">
                <a16:creationId xmlns:a16="http://schemas.microsoft.com/office/drawing/2014/main" id="{7E3CBAD8-CA00-4972-9128-BADF916D15B8}"/>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6D7BEC41-56DE-4B4B-A317-4E5DAF4D3097}"/>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studies</a:t>
            </a:r>
          </a:p>
        </p:txBody>
      </p:sp>
      <p:sp>
        <p:nvSpPr>
          <p:cNvPr id="5" name="page">
            <a:extLst xmlns:a="http://schemas.openxmlformats.org/drawingml/2006/main">
              <a:ext uri="{FF2B5EF4-FFF2-40B4-BE49-F238E27FC236}">
                <a16:creationId xmlns:a16="http://schemas.microsoft.com/office/drawing/2014/main" id="{D4573B57-96A2-4677-B592-A3D18D003B5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27</a:t>
            </a:r>
          </a:p>
        </p:txBody>
      </p:sp>
      <p:sp>
        <p:nvSpPr>
          <p:cNvPr id="6" name="author-year">
            <a:extLst xmlns:a="http://schemas.openxmlformats.org/drawingml/2006/main">
              <a:ext uri="{FF2B5EF4-FFF2-40B4-BE49-F238E27FC236}">
                <a16:creationId xmlns:a16="http://schemas.microsoft.com/office/drawing/2014/main" id="{0C42AA71-AE51-4C67-8388-5F90C7524A12}"/>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Msusa et al. (2025)</a:t>
            </a:r>
          </a:p>
        </p:txBody>
      </p:sp>
      <p:sp>
        <p:nvSpPr>
          <p:cNvPr id="7" name="idea-label">
            <a:extLst xmlns:a="http://schemas.openxmlformats.org/drawingml/2006/main">
              <a:ext uri="{FF2B5EF4-FFF2-40B4-BE49-F238E27FC236}">
                <a16:creationId xmlns:a16="http://schemas.microsoft.com/office/drawing/2014/main" id="{1661E296-6CE4-4999-B358-8CE5C178473F}"/>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C629199C-ACAA-4108-9EAF-BD985A739A1D}"/>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RAD produced a multi-hazard Web GIS, with HAND/GloFAS flood analysis for Dar es Salaam and drought modeling for Dodoma.</a:t>
            </a:r>
          </a:p>
        </p:txBody>
      </p:sp>
      <p:sp>
        <p:nvSpPr>
          <p:cNvPr id="9" name="relevance-label">
            <a:extLst xmlns:a="http://schemas.openxmlformats.org/drawingml/2006/main">
              <a:ext uri="{FF2B5EF4-FFF2-40B4-BE49-F238E27FC236}">
                <a16:creationId xmlns:a16="http://schemas.microsoft.com/office/drawing/2014/main" id="{CAB087A4-1639-45D1-8416-BBF7626760C0}"/>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CFFB6F1E-BD5F-4C9D-9A35-4FBD47593505}"/>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Combine accessible maps with source and validation context. Foreign modeling outputs cannot become Bacoor assessment rules.</a:t>
            </a:r>
          </a:p>
        </p:txBody>
      </p:sp>
    </p:spTree>
    <p:extLst>
      <p:ext uri="{BB962C8B-B14F-4D97-AF65-F5344CB8AC3E}">
        <p14:creationId xmlns:p14="http://schemas.microsoft.com/office/powerpoint/2010/main" val="95244613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51E5E6C7-5BB3-4671-8837-3E11A58615D8}"/>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FOREIGN STUDIES</a:t>
            </a:r>
          </a:p>
        </p:txBody>
      </p:sp>
      <p:sp>
        <p:nvSpPr>
          <p:cNvPr id="2" name="title">
            <a:extLst xmlns:a="http://schemas.openxmlformats.org/drawingml/2006/main">
              <a:ext uri="{FF2B5EF4-FFF2-40B4-BE49-F238E27FC236}">
                <a16:creationId xmlns:a16="http://schemas.microsoft.com/office/drawing/2014/main" id="{98347FD7-D887-42E5-90DD-4F30D710D330}"/>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Melbourne flood-event visualization</a:t>
            </a:r>
          </a:p>
        </p:txBody>
      </p:sp>
      <p:sp>
        <p:nvSpPr>
          <p:cNvPr id="3" name="yellow-accent-rule">
            <a:extLst xmlns:a="http://schemas.openxmlformats.org/drawingml/2006/main">
              <a:ext uri="{FF2B5EF4-FFF2-40B4-BE49-F238E27FC236}">
                <a16:creationId xmlns:a16="http://schemas.microsoft.com/office/drawing/2014/main" id="{8DF736A3-28B5-40F0-BA8A-16224FEFDFE6}"/>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29951D92-176F-4C80-9FD6-53F0F08348B3}"/>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foreign studies</a:t>
            </a:r>
          </a:p>
        </p:txBody>
      </p:sp>
      <p:sp>
        <p:nvSpPr>
          <p:cNvPr id="5" name="page">
            <a:extLst xmlns:a="http://schemas.openxmlformats.org/drawingml/2006/main">
              <a:ext uri="{FF2B5EF4-FFF2-40B4-BE49-F238E27FC236}">
                <a16:creationId xmlns:a16="http://schemas.microsoft.com/office/drawing/2014/main" id="{A84843C1-D0D5-476D-9C8E-6911CFFD30C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28</a:t>
            </a:r>
          </a:p>
        </p:txBody>
      </p:sp>
      <p:sp>
        <p:nvSpPr>
          <p:cNvPr id="6" name="author-year">
            <a:extLst xmlns:a="http://schemas.openxmlformats.org/drawingml/2006/main">
              <a:ext uri="{FF2B5EF4-FFF2-40B4-BE49-F238E27FC236}">
                <a16:creationId xmlns:a16="http://schemas.microsoft.com/office/drawing/2014/main" id="{67A66EB0-C007-47FB-BAAD-51AF05B214B4}"/>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Turner &amp; Sun (2024)</a:t>
            </a:r>
          </a:p>
        </p:txBody>
      </p:sp>
      <p:sp>
        <p:nvSpPr>
          <p:cNvPr id="7" name="idea-label">
            <a:extLst xmlns:a="http://schemas.openxmlformats.org/drawingml/2006/main">
              <a:ext uri="{FF2B5EF4-FFF2-40B4-BE49-F238E27FC236}">
                <a16:creationId xmlns:a16="http://schemas.microsoft.com/office/drawing/2014/main" id="{2C2E9CFB-9FA2-4D85-8139-B5E972ED2607}"/>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69122917-1036-4466-9B88-C511551F5FCC}"/>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 proof-of-concept web architecture joined spatial records, live station feeds, and interactive three-dimensional visualization.</a:t>
            </a:r>
          </a:p>
        </p:txBody>
      </p:sp>
      <p:sp>
        <p:nvSpPr>
          <p:cNvPr id="9" name="relevance-label">
            <a:extLst xmlns:a="http://schemas.openxmlformats.org/drawingml/2006/main">
              <a:ext uri="{FF2B5EF4-FFF2-40B4-BE49-F238E27FC236}">
                <a16:creationId xmlns:a16="http://schemas.microsoft.com/office/drawing/2014/main" id="{476F0F7A-29B3-4D63-98E9-12AB466C5A97}"/>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521B97FB-23C4-47C9-83E4-1091EDE39A50}"/>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Inform geographic presentation and source identification without adopting live monitoring or claiming operational deployment.</a:t>
            </a:r>
          </a:p>
        </p:txBody>
      </p:sp>
    </p:spTree>
    <p:extLst>
      <p:ext uri="{BB962C8B-B14F-4D97-AF65-F5344CB8AC3E}">
        <p14:creationId xmlns:p14="http://schemas.microsoft.com/office/powerpoint/2010/main" val="50754904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72C76201-5D35-4E8A-BF7A-235EBC98E7C5}"/>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STUDIES</a:t>
            </a:r>
          </a:p>
        </p:txBody>
      </p:sp>
      <p:sp>
        <p:nvSpPr>
          <p:cNvPr id="2" name="title">
            <a:extLst xmlns:a="http://schemas.openxmlformats.org/drawingml/2006/main">
              <a:ext uri="{FF2B5EF4-FFF2-40B4-BE49-F238E27FC236}">
                <a16:creationId xmlns:a16="http://schemas.microsoft.com/office/drawing/2014/main" id="{C20FF38F-0598-4E64-81CE-5817FE3ACD80}"/>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Water-level logging and web display</a:t>
            </a:r>
          </a:p>
        </p:txBody>
      </p:sp>
      <p:sp>
        <p:nvSpPr>
          <p:cNvPr id="3" name="yellow-accent-rule">
            <a:extLst xmlns:a="http://schemas.openxmlformats.org/drawingml/2006/main">
              <a:ext uri="{FF2B5EF4-FFF2-40B4-BE49-F238E27FC236}">
                <a16:creationId xmlns:a16="http://schemas.microsoft.com/office/drawing/2014/main" id="{9CB992AC-210F-4EE5-819A-5AC5BC6DBA8F}"/>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1C11757D-5FAE-4053-AC99-485CED189D86}"/>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studies</a:t>
            </a:r>
          </a:p>
        </p:txBody>
      </p:sp>
      <p:sp>
        <p:nvSpPr>
          <p:cNvPr id="5" name="page">
            <a:extLst xmlns:a="http://schemas.openxmlformats.org/drawingml/2006/main">
              <a:ext uri="{FF2B5EF4-FFF2-40B4-BE49-F238E27FC236}">
                <a16:creationId xmlns:a16="http://schemas.microsoft.com/office/drawing/2014/main" id="{7592940A-5B1A-4424-A6F2-97FCA82198D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29</a:t>
            </a:r>
          </a:p>
        </p:txBody>
      </p:sp>
      <p:sp>
        <p:nvSpPr>
          <p:cNvPr id="6" name="author-year">
            <a:extLst xmlns:a="http://schemas.openxmlformats.org/drawingml/2006/main">
              <a:ext uri="{FF2B5EF4-FFF2-40B4-BE49-F238E27FC236}">
                <a16:creationId xmlns:a16="http://schemas.microsoft.com/office/drawing/2014/main" id="{24932CDC-CE93-4386-AC79-4655CE20BFBE}"/>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Añana &amp; Beltran (2024)</a:t>
            </a:r>
          </a:p>
        </p:txBody>
      </p:sp>
      <p:sp>
        <p:nvSpPr>
          <p:cNvPr id="7" name="idea-label">
            <a:extLst xmlns:a="http://schemas.openxmlformats.org/drawingml/2006/main">
              <a:ext uri="{FF2B5EF4-FFF2-40B4-BE49-F238E27FC236}">
                <a16:creationId xmlns:a16="http://schemas.microsoft.com/office/drawing/2014/main" id="{AE6F9453-0B3E-46A2-B465-2E1DD3441C0C}"/>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B60ACF6D-3D69-4BBD-97EB-5EA6D148723B}"/>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Requirements interviews and sensor/web development led to tank, seawall, and riverside tests of water-level visualization.</a:t>
            </a:r>
          </a:p>
        </p:txBody>
      </p:sp>
      <p:sp>
        <p:nvSpPr>
          <p:cNvPr id="9" name="relevance-label">
            <a:extLst xmlns:a="http://schemas.openxmlformats.org/drawingml/2006/main">
              <a:ext uri="{FF2B5EF4-FFF2-40B4-BE49-F238E27FC236}">
                <a16:creationId xmlns:a16="http://schemas.microsoft.com/office/drawing/2014/main" id="{A9B731E4-F9D3-454E-BF2C-9A8EE22B8E84}"/>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DAF238B6-7706-43D0-88A8-F55476F25D3E}"/>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Present readings and categories understandably, while distinguishing monitoring tests from scenario-based susceptibility evidence.</a:t>
            </a:r>
          </a:p>
        </p:txBody>
      </p:sp>
    </p:spTree>
    <p:extLst>
      <p:ext uri="{BB962C8B-B14F-4D97-AF65-F5344CB8AC3E}">
        <p14:creationId xmlns:p14="http://schemas.microsoft.com/office/powerpoint/2010/main" val="155732401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9ABF30E5-0639-4F2F-8533-8AB40B763218}"/>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STUDIES</a:t>
            </a:r>
          </a:p>
        </p:txBody>
      </p:sp>
      <p:sp>
        <p:nvSpPr>
          <p:cNvPr id="2" name="title">
            <a:extLst xmlns:a="http://schemas.openxmlformats.org/drawingml/2006/main">
              <a:ext uri="{FF2B5EF4-FFF2-40B4-BE49-F238E27FC236}">
                <a16:creationId xmlns:a16="http://schemas.microsoft.com/office/drawing/2014/main" id="{8C5A38F7-C71D-49FB-AAF7-30E2A8AA2FFD}"/>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Isabela Arduino/GSM monitoring</a:t>
            </a:r>
          </a:p>
        </p:txBody>
      </p:sp>
      <p:sp>
        <p:nvSpPr>
          <p:cNvPr id="3" name="yellow-accent-rule">
            <a:extLst xmlns:a="http://schemas.openxmlformats.org/drawingml/2006/main">
              <a:ext uri="{FF2B5EF4-FFF2-40B4-BE49-F238E27FC236}">
                <a16:creationId xmlns:a16="http://schemas.microsoft.com/office/drawing/2014/main" id="{12508517-3F6A-430B-8B12-924EEE6D35EA}"/>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ACB2CA9D-C90C-4CBD-99BF-3AD632CC634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studies</a:t>
            </a:r>
          </a:p>
        </p:txBody>
      </p:sp>
      <p:sp>
        <p:nvSpPr>
          <p:cNvPr id="5" name="page">
            <a:extLst xmlns:a="http://schemas.openxmlformats.org/drawingml/2006/main">
              <a:ext uri="{FF2B5EF4-FFF2-40B4-BE49-F238E27FC236}">
                <a16:creationId xmlns:a16="http://schemas.microsoft.com/office/drawing/2014/main" id="{9FA5703C-5C70-48A3-8BF6-749FD40EC983}"/>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30</a:t>
            </a:r>
          </a:p>
        </p:txBody>
      </p:sp>
      <p:sp>
        <p:nvSpPr>
          <p:cNvPr id="6" name="author-year">
            <a:extLst xmlns:a="http://schemas.openxmlformats.org/drawingml/2006/main">
              <a:ext uri="{FF2B5EF4-FFF2-40B4-BE49-F238E27FC236}">
                <a16:creationId xmlns:a16="http://schemas.microsoft.com/office/drawing/2014/main" id="{7ACD3345-FEF6-48F7-AE00-288CC3763D88}"/>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Carpio et al. (2022)</a:t>
            </a:r>
          </a:p>
        </p:txBody>
      </p:sp>
      <p:sp>
        <p:nvSpPr>
          <p:cNvPr id="7" name="idea-label">
            <a:extLst xmlns:a="http://schemas.openxmlformats.org/drawingml/2006/main">
              <a:ext uri="{FF2B5EF4-FFF2-40B4-BE49-F238E27FC236}">
                <a16:creationId xmlns:a16="http://schemas.microsoft.com/office/drawing/2014/main" id="{6219288C-EC70-4843-BEFF-E3A92C992249}"/>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6BF7C796-B3BB-408D-B05D-5DC626F8A46F}"/>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Agile development and a device evaluation with 20 CDRRMO personnel produced an overall mean of 3.70, rated Acceptable.</a:t>
            </a:r>
          </a:p>
        </p:txBody>
      </p:sp>
      <p:sp>
        <p:nvSpPr>
          <p:cNvPr id="9" name="relevance-label">
            <a:extLst xmlns:a="http://schemas.openxmlformats.org/drawingml/2006/main">
              <a:ext uri="{FF2B5EF4-FFF2-40B4-BE49-F238E27FC236}">
                <a16:creationId xmlns:a16="http://schemas.microsoft.com/office/drawing/2014/main" id="{2E3BEADE-CCAA-453D-BEBA-4B29B8867F12}"/>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B62772BA-327B-48B6-A586-6A818C2EFB53}"/>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Keep development methods distinct from evaluation design. Device outcomes cannot be transferred to Bacoor residents or rules.</a:t>
            </a:r>
          </a:p>
        </p:txBody>
      </p:sp>
    </p:spTree>
    <p:extLst>
      <p:ext uri="{BB962C8B-B14F-4D97-AF65-F5344CB8AC3E}">
        <p14:creationId xmlns:p14="http://schemas.microsoft.com/office/powerpoint/2010/main" val="156416825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3DE1BE64-5C8E-4D68-8BAF-27B8E2CF232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STUDIES</a:t>
            </a:r>
          </a:p>
        </p:txBody>
      </p:sp>
      <p:sp>
        <p:nvSpPr>
          <p:cNvPr id="2" name="title">
            <a:extLst xmlns:a="http://schemas.openxmlformats.org/drawingml/2006/main">
              <a:ext uri="{FF2B5EF4-FFF2-40B4-BE49-F238E27FC236}">
                <a16:creationId xmlns:a16="http://schemas.microsoft.com/office/drawing/2014/main" id="{7D60175B-436C-4A38-81EE-C1E03B85BCD7}"/>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iAlerto for Pasig City</a:t>
            </a:r>
          </a:p>
        </p:txBody>
      </p:sp>
      <p:sp>
        <p:nvSpPr>
          <p:cNvPr id="3" name="yellow-accent-rule">
            <a:extLst xmlns:a="http://schemas.openxmlformats.org/drawingml/2006/main">
              <a:ext uri="{FF2B5EF4-FFF2-40B4-BE49-F238E27FC236}">
                <a16:creationId xmlns:a16="http://schemas.microsoft.com/office/drawing/2014/main" id="{A397CEA0-2631-4BC6-990A-FF2407C11FDB}"/>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04F5924B-1B13-4B73-A6E6-08A5B707017D}"/>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studies</a:t>
            </a:r>
          </a:p>
        </p:txBody>
      </p:sp>
      <p:sp>
        <p:nvSpPr>
          <p:cNvPr id="5" name="page">
            <a:extLst xmlns:a="http://schemas.openxmlformats.org/drawingml/2006/main">
              <a:ext uri="{FF2B5EF4-FFF2-40B4-BE49-F238E27FC236}">
                <a16:creationId xmlns:a16="http://schemas.microsoft.com/office/drawing/2014/main" id="{C71D6BDC-5A61-4096-B35D-737D5B28D536}"/>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31</a:t>
            </a:r>
          </a:p>
        </p:txBody>
      </p:sp>
      <p:sp>
        <p:nvSpPr>
          <p:cNvPr id="6" name="author-year">
            <a:extLst xmlns:a="http://schemas.openxmlformats.org/drawingml/2006/main">
              <a:ext uri="{FF2B5EF4-FFF2-40B4-BE49-F238E27FC236}">
                <a16:creationId xmlns:a16="http://schemas.microsoft.com/office/drawing/2014/main" id="{F2263BF0-265D-4404-9CDA-4DE0F00E5AD2}"/>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Goh et al. (2023)</a:t>
            </a:r>
          </a:p>
        </p:txBody>
      </p:sp>
      <p:sp>
        <p:nvSpPr>
          <p:cNvPr id="7" name="idea-label">
            <a:extLst xmlns:a="http://schemas.openxmlformats.org/drawingml/2006/main">
              <a:ext uri="{FF2B5EF4-FFF2-40B4-BE49-F238E27FC236}">
                <a16:creationId xmlns:a16="http://schemas.microsoft.com/office/drawing/2014/main" id="{9B2C2777-9F66-450D-8E08-F63EBF3D8C43}"/>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460526DC-A703-47AB-ABC8-61885CDB5367}"/>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Scrum development linked mobile incident reports with web administration. Forty evaluators reported a functionality mean of 4.48.</a:t>
            </a:r>
          </a:p>
        </p:txBody>
      </p:sp>
      <p:sp>
        <p:nvSpPr>
          <p:cNvPr id="9" name="relevance-label">
            <a:extLst xmlns:a="http://schemas.openxmlformats.org/drawingml/2006/main">
              <a:ext uri="{FF2B5EF4-FFF2-40B4-BE49-F238E27FC236}">
                <a16:creationId xmlns:a16="http://schemas.microsoft.com/office/drawing/2014/main" id="{3EBB956D-1FCC-45FB-B8CB-4271BABB5979}"/>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502712F5-7434-4947-8EFC-3890AC76290A}"/>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Inform role-specific access and location-linked information while retaining a pre-event, resident-requested assessment purpose.</a:t>
            </a:r>
          </a:p>
        </p:txBody>
      </p:sp>
    </p:spTree>
    <p:extLst>
      <p:ext uri="{BB962C8B-B14F-4D97-AF65-F5344CB8AC3E}">
        <p14:creationId xmlns:p14="http://schemas.microsoft.com/office/powerpoint/2010/main" val="137745987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AD587F39-F17C-418C-8B4F-AEFE8F361183}"/>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STUDIES</a:t>
            </a:r>
          </a:p>
        </p:txBody>
      </p:sp>
      <p:sp>
        <p:nvSpPr>
          <p:cNvPr id="2" name="title">
            <a:extLst xmlns:a="http://schemas.openxmlformats.org/drawingml/2006/main">
              <a:ext uri="{FF2B5EF4-FFF2-40B4-BE49-F238E27FC236}">
                <a16:creationId xmlns:a16="http://schemas.microsoft.com/office/drawing/2014/main" id="{74E28338-B3F1-476F-93BC-D49349F3AE1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Bulacan integrated risk dashboard</a:t>
            </a:r>
          </a:p>
        </p:txBody>
      </p:sp>
      <p:sp>
        <p:nvSpPr>
          <p:cNvPr id="3" name="yellow-accent-rule">
            <a:extLst xmlns:a="http://schemas.openxmlformats.org/drawingml/2006/main">
              <a:ext uri="{FF2B5EF4-FFF2-40B4-BE49-F238E27FC236}">
                <a16:creationId xmlns:a16="http://schemas.microsoft.com/office/drawing/2014/main" id="{34F7EA8E-8F32-40E4-9DC9-22B0CF3C3AF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057DAF7-E03F-4AB4-9F0C-562891D476A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studies</a:t>
            </a:r>
          </a:p>
        </p:txBody>
      </p:sp>
      <p:sp>
        <p:nvSpPr>
          <p:cNvPr id="5" name="page">
            <a:extLst xmlns:a="http://schemas.openxmlformats.org/drawingml/2006/main">
              <a:ext uri="{FF2B5EF4-FFF2-40B4-BE49-F238E27FC236}">
                <a16:creationId xmlns:a16="http://schemas.microsoft.com/office/drawing/2014/main" id="{9E30A4E4-1244-43CC-9760-8E0CDBEFB65D}"/>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32</a:t>
            </a:r>
          </a:p>
        </p:txBody>
      </p:sp>
      <p:sp>
        <p:nvSpPr>
          <p:cNvPr id="6" name="author-year">
            <a:extLst xmlns:a="http://schemas.openxmlformats.org/drawingml/2006/main">
              <a:ext uri="{FF2B5EF4-FFF2-40B4-BE49-F238E27FC236}">
                <a16:creationId xmlns:a16="http://schemas.microsoft.com/office/drawing/2014/main" id="{DB6908E8-EB54-4C62-8B3C-B36339FAA3F6}"/>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Pascual &amp; Leonen (2025)</a:t>
            </a:r>
          </a:p>
        </p:txBody>
      </p:sp>
      <p:sp>
        <p:nvSpPr>
          <p:cNvPr id="7" name="idea-label">
            <a:extLst xmlns:a="http://schemas.openxmlformats.org/drawingml/2006/main">
              <a:ext uri="{FF2B5EF4-FFF2-40B4-BE49-F238E27FC236}">
                <a16:creationId xmlns:a16="http://schemas.microsoft.com/office/drawing/2014/main" id="{41A7DFE1-2F30-4C37-97F6-3B00AEC4CA9D}"/>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2E9938C3-521E-4788-A422-0EF3A80138FB}"/>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Design and Development Research and an Agile lifecycle supported a dashboard. Its Random Forest classifier reported 95% test accuracy.</a:t>
            </a:r>
          </a:p>
        </p:txBody>
      </p:sp>
      <p:sp>
        <p:nvSpPr>
          <p:cNvPr id="9" name="relevance-label">
            <a:extLst xmlns:a="http://schemas.openxmlformats.org/drawingml/2006/main">
              <a:ext uri="{FF2B5EF4-FFF2-40B4-BE49-F238E27FC236}">
                <a16:creationId xmlns:a16="http://schemas.microsoft.com/office/drawing/2014/main" id="{F2DF9A0B-4C16-467C-86F3-12EDC8D36EF7}"/>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B6C8C3B8-D6DB-43F9-A062-33BC8B42794F}"/>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Preserve provenance and geographic context without importing automatic alerts, machine learning, or another locality’s parameters.</a:t>
            </a:r>
          </a:p>
        </p:txBody>
      </p:sp>
    </p:spTree>
    <p:extLst>
      <p:ext uri="{BB962C8B-B14F-4D97-AF65-F5344CB8AC3E}">
        <p14:creationId xmlns:p14="http://schemas.microsoft.com/office/powerpoint/2010/main" val="1287524230"/>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ection">
            <a:extLst xmlns:a="http://schemas.openxmlformats.org/drawingml/2006/main">
              <a:ext uri="{FF2B5EF4-FFF2-40B4-BE49-F238E27FC236}">
                <a16:creationId xmlns:a16="http://schemas.microsoft.com/office/drawing/2014/main" id="{FE781283-F94F-4587-AA74-C4E1CAEBBF27}"/>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RELATED LOCAL STUDIES</a:t>
            </a:r>
          </a:p>
        </p:txBody>
      </p:sp>
      <p:sp>
        <p:nvSpPr>
          <p:cNvPr id="2" name="title">
            <a:extLst xmlns:a="http://schemas.openxmlformats.org/drawingml/2006/main">
              <a:ext uri="{FF2B5EF4-FFF2-40B4-BE49-F238E27FC236}">
                <a16:creationId xmlns:a16="http://schemas.microsoft.com/office/drawing/2014/main" id="{7CFF1333-6689-476D-8C5A-0179B7157F5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ALARMA road-flood mapping</a:t>
            </a:r>
          </a:p>
        </p:txBody>
      </p:sp>
      <p:sp>
        <p:nvSpPr>
          <p:cNvPr id="3" name="yellow-accent-rule">
            <a:extLst xmlns:a="http://schemas.openxmlformats.org/drawingml/2006/main">
              <a:ext uri="{FF2B5EF4-FFF2-40B4-BE49-F238E27FC236}">
                <a16:creationId xmlns:a16="http://schemas.microsoft.com/office/drawing/2014/main" id="{631B247A-77C6-4F22-94AE-6A8DF6B08BF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A183C78A-E851-440B-8BED-F28F728F9B30}"/>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local studies</a:t>
            </a:r>
          </a:p>
        </p:txBody>
      </p:sp>
      <p:sp>
        <p:nvSpPr>
          <p:cNvPr id="5" name="page">
            <a:extLst xmlns:a="http://schemas.openxmlformats.org/drawingml/2006/main">
              <a:ext uri="{FF2B5EF4-FFF2-40B4-BE49-F238E27FC236}">
                <a16:creationId xmlns:a16="http://schemas.microsoft.com/office/drawing/2014/main" id="{BF1BA21E-C9D5-40FA-8874-95E6A6C7D7B2}"/>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33</a:t>
            </a:r>
          </a:p>
        </p:txBody>
      </p:sp>
      <p:sp>
        <p:nvSpPr>
          <p:cNvPr id="6" name="author-year">
            <a:extLst xmlns:a="http://schemas.openxmlformats.org/drawingml/2006/main">
              <a:ext uri="{FF2B5EF4-FFF2-40B4-BE49-F238E27FC236}">
                <a16:creationId xmlns:a16="http://schemas.microsoft.com/office/drawing/2014/main" id="{5503113C-9817-4232-A524-86E36AEFFD9D}"/>
              </a:ext>
            </a:extLst>
          </p:cNvPr>
          <p:cNvSpPr>
            <a:spLocks xmlns:a="http://schemas.openxmlformats.org/drawingml/2006/main" noGrp="1"/>
          </p:cNvSpPr>
          <p:nvPr/>
        </p:nvSpPr>
        <p:spPr>
          <a:xfrm xmlns:a="http://schemas.openxmlformats.org/drawingml/2006/main">
            <a:off x="762000" y="2533650"/>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64E91"/>
                </a:solidFill>
                <a:latin typeface="Arial"/>
                <a:ea typeface="Arial"/>
                <a:cs typeface="Arial"/>
              </a:defRPr>
            </a:defPPr>
            <a:lvl1pPr algn="l">
              <a:defRPr sz="2400" b="1">
                <a:solidFill>
                  <a:srgbClr val="164E91"/>
                </a:solidFill>
                <a:latin typeface="Arial"/>
                <a:ea typeface="Arial"/>
                <a:cs typeface="Arial"/>
              </a:defRPr>
            </a:lvl1pPr>
            <a:lvl2pPr algn="l">
              <a:defRPr sz="2400" b="1">
                <a:solidFill>
                  <a:srgbClr val="164E91"/>
                </a:solidFill>
                <a:latin typeface="Arial"/>
                <a:ea typeface="Arial"/>
                <a:cs typeface="Arial"/>
              </a:defRPr>
            </a:lvl2pPr>
            <a:lvl3pPr algn="l">
              <a:defRPr sz="2400" b="1">
                <a:solidFill>
                  <a:srgbClr val="164E91"/>
                </a:solidFill>
                <a:latin typeface="Arial"/>
                <a:ea typeface="Arial"/>
                <a:cs typeface="Arial"/>
              </a:defRPr>
            </a:lvl3pPr>
            <a:lvl4pPr algn="l">
              <a:defRPr sz="2400" b="1">
                <a:solidFill>
                  <a:srgbClr val="164E91"/>
                </a:solidFill>
                <a:latin typeface="Arial"/>
                <a:ea typeface="Arial"/>
                <a:cs typeface="Arial"/>
              </a:defRPr>
            </a:lvl4pPr>
            <a:lvl5pPr algn="l">
              <a:defRPr sz="2400" b="1">
                <a:solidFill>
                  <a:srgbClr val="164E91"/>
                </a:solidFill>
                <a:latin typeface="Arial"/>
                <a:ea typeface="Arial"/>
                <a:cs typeface="Arial"/>
              </a:defRPr>
            </a:lvl5pPr>
            <a:lvl6pPr algn="l">
              <a:defRPr sz="2400" b="1">
                <a:solidFill>
                  <a:srgbClr val="164E91"/>
                </a:solidFill>
                <a:latin typeface="Arial"/>
                <a:ea typeface="Arial"/>
                <a:cs typeface="Arial"/>
              </a:defRPr>
            </a:lvl6pPr>
            <a:lvl7pPr algn="l">
              <a:defRPr sz="2400" b="1">
                <a:solidFill>
                  <a:srgbClr val="164E91"/>
                </a:solidFill>
                <a:latin typeface="Arial"/>
                <a:ea typeface="Arial"/>
                <a:cs typeface="Arial"/>
              </a:defRPr>
            </a:lvl7pPr>
            <a:lvl8pPr algn="l">
              <a:defRPr sz="2400" b="1">
                <a:solidFill>
                  <a:srgbClr val="164E91"/>
                </a:solidFill>
                <a:latin typeface="Arial"/>
                <a:ea typeface="Arial"/>
                <a:cs typeface="Arial"/>
              </a:defRPr>
            </a:lvl8pPr>
            <a:lvl9pPr algn="l">
              <a:defRPr sz="2400" b="1">
                <a:solidFill>
                  <a:srgbClr val="164E91"/>
                </a:solidFill>
                <a:latin typeface="Arial"/>
                <a:ea typeface="Arial"/>
                <a:cs typeface="Arial"/>
              </a:defRPr>
            </a:lvl9pPr>
          </a:lstStyle>
          <a:p xmlns:a="http://schemas.openxmlformats.org/drawingml/2006/main">
            <a:pPr algn="l">
              <a:defRPr sz="2400" b="1">
                <a:solidFill>
                  <a:srgbClr val="164E91"/>
                </a:solidFill>
                <a:latin typeface="Arial"/>
                <a:ea typeface="Arial"/>
                <a:cs typeface="Arial"/>
              </a:defRPr>
            </a:pPr>
            <a:r>
              <a:rPr sz="2400" b="1">
                <a:solidFill>
                  <a:srgbClr val="164E91"/>
                </a:solidFill>
                <a:latin typeface="Arial"/>
                <a:ea typeface="Arial"/>
                <a:cs typeface="Arial"/>
              </a:rPr>
              <a:t>Geron et al. (2025)</a:t>
            </a:r>
          </a:p>
        </p:txBody>
      </p:sp>
      <p:sp>
        <p:nvSpPr>
          <p:cNvPr id="7" name="idea-label">
            <a:extLst xmlns:a="http://schemas.openxmlformats.org/drawingml/2006/main">
              <a:ext uri="{FF2B5EF4-FFF2-40B4-BE49-F238E27FC236}">
                <a16:creationId xmlns:a16="http://schemas.microsoft.com/office/drawing/2014/main" id="{6A6BF6BD-8645-435A-A769-6A2FCBC1FB60}"/>
              </a:ext>
            </a:extLst>
          </p:cNvPr>
          <p:cNvSpPr>
            <a:spLocks xmlns:a="http://schemas.openxmlformats.org/drawingml/2006/main" noGrp="1"/>
          </p:cNvSpPr>
          <p:nvPr/>
        </p:nvSpPr>
        <p:spPr>
          <a:xfrm xmlns:a="http://schemas.openxmlformats.org/drawingml/2006/main">
            <a:off x="762000" y="3333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METHOD AND DOCUMENTED OUTPUT</a:t>
            </a:r>
          </a:p>
        </p:txBody>
      </p:sp>
      <p:sp>
        <p:nvSpPr>
          <p:cNvPr id="8" name="principal-idea">
            <a:extLst xmlns:a="http://schemas.openxmlformats.org/drawingml/2006/main">
              <a:ext uri="{FF2B5EF4-FFF2-40B4-BE49-F238E27FC236}">
                <a16:creationId xmlns:a16="http://schemas.microsoft.com/office/drawing/2014/main" id="{A3D2C501-2B3E-473F-9656-53D32DD9F334}"/>
              </a:ext>
            </a:extLst>
          </p:cNvPr>
          <p:cNvSpPr>
            <a:spLocks xmlns:a="http://schemas.openxmlformats.org/drawingml/2006/main" noGrp="1"/>
          </p:cNvSpPr>
          <p:nvPr/>
        </p:nvSpPr>
        <p:spPr>
          <a:xfrm xmlns:a="http://schemas.openxmlformats.org/drawingml/2006/main">
            <a:off x="762000" y="3829050"/>
            <a:ext cx="13716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Mixed methods, expert AHP weighting, and QGIS analysis produced a Pampanga road map and alerts tested in 30 simulated events.</a:t>
            </a:r>
          </a:p>
        </p:txBody>
      </p:sp>
      <p:sp>
        <p:nvSpPr>
          <p:cNvPr id="9" name="relevance-label">
            <a:extLst xmlns:a="http://schemas.openxmlformats.org/drawingml/2006/main">
              <a:ext uri="{FF2B5EF4-FFF2-40B4-BE49-F238E27FC236}">
                <a16:creationId xmlns:a16="http://schemas.microsoft.com/office/drawing/2014/main" id="{16FE2666-D3A5-482D-AA4C-AC2E4474F707}"/>
              </a:ext>
            </a:extLst>
          </p:cNvPr>
          <p:cNvSpPr>
            <a:spLocks xmlns:a="http://schemas.openxmlformats.org/drawingml/2006/main" noGrp="1"/>
          </p:cNvSpPr>
          <p:nvPr/>
        </p:nvSpPr>
        <p:spPr>
          <a:xfrm xmlns:a="http://schemas.openxmlformats.org/drawingml/2006/main">
            <a:off x="762000" y="553402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4E91"/>
                </a:solidFill>
                <a:latin typeface="Arial"/>
                <a:ea typeface="Arial"/>
                <a:cs typeface="Arial"/>
              </a:defRPr>
            </a:defPPr>
            <a:lvl1pPr algn="l">
              <a:defRPr sz="2100" b="1">
                <a:solidFill>
                  <a:srgbClr val="164E91"/>
                </a:solidFill>
                <a:latin typeface="Arial"/>
                <a:ea typeface="Arial"/>
                <a:cs typeface="Arial"/>
              </a:defRPr>
            </a:lvl1pPr>
            <a:lvl2pPr algn="l">
              <a:defRPr sz="2100" b="1">
                <a:solidFill>
                  <a:srgbClr val="164E91"/>
                </a:solidFill>
                <a:latin typeface="Arial"/>
                <a:ea typeface="Arial"/>
                <a:cs typeface="Arial"/>
              </a:defRPr>
            </a:lvl2pPr>
            <a:lvl3pPr algn="l">
              <a:defRPr sz="2100" b="1">
                <a:solidFill>
                  <a:srgbClr val="164E91"/>
                </a:solidFill>
                <a:latin typeface="Arial"/>
                <a:ea typeface="Arial"/>
                <a:cs typeface="Arial"/>
              </a:defRPr>
            </a:lvl3pPr>
            <a:lvl4pPr algn="l">
              <a:defRPr sz="2100" b="1">
                <a:solidFill>
                  <a:srgbClr val="164E91"/>
                </a:solidFill>
                <a:latin typeface="Arial"/>
                <a:ea typeface="Arial"/>
                <a:cs typeface="Arial"/>
              </a:defRPr>
            </a:lvl4pPr>
            <a:lvl5pPr algn="l">
              <a:defRPr sz="2100" b="1">
                <a:solidFill>
                  <a:srgbClr val="164E91"/>
                </a:solidFill>
                <a:latin typeface="Arial"/>
                <a:ea typeface="Arial"/>
                <a:cs typeface="Arial"/>
              </a:defRPr>
            </a:lvl5pPr>
            <a:lvl6pPr algn="l">
              <a:defRPr sz="2100" b="1">
                <a:solidFill>
                  <a:srgbClr val="164E91"/>
                </a:solidFill>
                <a:latin typeface="Arial"/>
                <a:ea typeface="Arial"/>
                <a:cs typeface="Arial"/>
              </a:defRPr>
            </a:lvl6pPr>
            <a:lvl7pPr algn="l">
              <a:defRPr sz="2100" b="1">
                <a:solidFill>
                  <a:srgbClr val="164E91"/>
                </a:solidFill>
                <a:latin typeface="Arial"/>
                <a:ea typeface="Arial"/>
                <a:cs typeface="Arial"/>
              </a:defRPr>
            </a:lvl7pPr>
            <a:lvl8pPr algn="l">
              <a:defRPr sz="2100" b="1">
                <a:solidFill>
                  <a:srgbClr val="164E91"/>
                </a:solidFill>
                <a:latin typeface="Arial"/>
                <a:ea typeface="Arial"/>
                <a:cs typeface="Arial"/>
              </a:defRPr>
            </a:lvl8pPr>
            <a:lvl9pPr algn="l">
              <a:defRPr sz="2100" b="1">
                <a:solidFill>
                  <a:srgbClr val="164E91"/>
                </a:solidFill>
                <a:latin typeface="Arial"/>
                <a:ea typeface="Arial"/>
                <a:cs typeface="Arial"/>
              </a:defRPr>
            </a:lvl9pPr>
          </a:lstStyle>
          <a:p xmlns:a="http://schemas.openxmlformats.org/drawingml/2006/main">
            <a:pPr algn="l">
              <a:defRPr sz="2100" b="1">
                <a:solidFill>
                  <a:srgbClr val="164E91"/>
                </a:solidFill>
                <a:latin typeface="Arial"/>
                <a:ea typeface="Arial"/>
                <a:cs typeface="Arial"/>
              </a:defRPr>
            </a:pPr>
            <a:r>
              <a:rPr sz="2100" b="1">
                <a:solidFill>
                  <a:srgbClr val="164E91"/>
                </a:solidFill>
                <a:latin typeface="Arial"/>
                <a:ea typeface="Arial"/>
                <a:cs typeface="Arial"/>
              </a:rPr>
              <a:t>RELEVANCE TO THE PROPOSED STUDY</a:t>
            </a:r>
          </a:p>
        </p:txBody>
      </p:sp>
      <p:sp>
        <p:nvSpPr>
          <p:cNvPr id="10" name="relevance">
            <a:extLst xmlns:a="http://schemas.openxmlformats.org/drawingml/2006/main">
              <a:ext uri="{FF2B5EF4-FFF2-40B4-BE49-F238E27FC236}">
                <a16:creationId xmlns:a16="http://schemas.microsoft.com/office/drawing/2014/main" id="{897DCF83-2658-4C06-B7BA-B87DCB5E30EF}"/>
              </a:ext>
            </a:extLst>
          </p:cNvPr>
          <p:cNvSpPr>
            <a:spLocks xmlns:a="http://schemas.openxmlformats.org/drawingml/2006/main" noGrp="1"/>
          </p:cNvSpPr>
          <p:nvPr/>
        </p:nvSpPr>
        <p:spPr>
          <a:xfrm xmlns:a="http://schemas.openxmlformats.org/drawingml/2006/main">
            <a:off x="762000" y="6029325"/>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Link geographic outputs to their evidence and test conditions. Road weights and simulated alerts cannot validate Bacoor classifications.</a:t>
            </a:r>
          </a:p>
        </p:txBody>
      </p:sp>
    </p:spTree>
    <p:extLst>
      <p:ext uri="{BB962C8B-B14F-4D97-AF65-F5344CB8AC3E}">
        <p14:creationId xmlns:p14="http://schemas.microsoft.com/office/powerpoint/2010/main" val="172944997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F26EC0B3-83B2-4BB1-97D8-42BE31B3C781}"/>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2</a:t>
            </a:r>
          </a:p>
        </p:txBody>
      </p:sp>
      <p:sp>
        <p:nvSpPr>
          <p:cNvPr id="2" name="title">
            <a:extLst xmlns:a="http://schemas.openxmlformats.org/drawingml/2006/main">
              <a:ext uri="{FF2B5EF4-FFF2-40B4-BE49-F238E27FC236}">
                <a16:creationId xmlns:a16="http://schemas.microsoft.com/office/drawing/2014/main" id="{B0847A89-71ED-4AB4-AB1C-5C20C59413C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Design implications of related work</a:t>
            </a:r>
          </a:p>
        </p:txBody>
      </p:sp>
      <p:sp>
        <p:nvSpPr>
          <p:cNvPr id="3" name="yellow-accent-rule">
            <a:extLst xmlns:a="http://schemas.openxmlformats.org/drawingml/2006/main">
              <a:ext uri="{FF2B5EF4-FFF2-40B4-BE49-F238E27FC236}">
                <a16:creationId xmlns:a16="http://schemas.microsoft.com/office/drawing/2014/main" id="{34AFC955-F8A8-4426-9696-5E580929C1CA}"/>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823B5F8C-8948-4ED0-8797-955362F36A9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2, comparative discussion and Tables 1–3</a:t>
            </a:r>
          </a:p>
        </p:txBody>
      </p:sp>
      <p:sp>
        <p:nvSpPr>
          <p:cNvPr id="5" name="page">
            <a:extLst xmlns:a="http://schemas.openxmlformats.org/drawingml/2006/main">
              <a:ext uri="{FF2B5EF4-FFF2-40B4-BE49-F238E27FC236}">
                <a16:creationId xmlns:a16="http://schemas.microsoft.com/office/drawing/2014/main" id="{E604EB98-AD17-4F8B-BBBF-0D92C3A11D8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34</a:t>
            </a:r>
          </a:p>
        </p:txBody>
      </p:sp>
      <p:sp>
        <p:nvSpPr>
          <p:cNvPr id="6" name="statement-1">
            <a:extLst xmlns:a="http://schemas.openxmlformats.org/drawingml/2006/main">
              <a:ext uri="{FF2B5EF4-FFF2-40B4-BE49-F238E27FC236}">
                <a16:creationId xmlns:a16="http://schemas.microsoft.com/office/drawing/2014/main" id="{CFFBD1BD-784E-40F1-81A8-1F9883E9095B}"/>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Explain assessment context and the basis of a result.</a:t>
            </a:r>
          </a:p>
        </p:txBody>
      </p:sp>
      <p:sp>
        <p:nvSpPr>
          <p:cNvPr id="7" name="statement-2">
            <a:extLst xmlns:a="http://schemas.openxmlformats.org/drawingml/2006/main">
              <a:ext uri="{FF2B5EF4-FFF2-40B4-BE49-F238E27FC236}">
                <a16:creationId xmlns:a16="http://schemas.microsoft.com/office/drawing/2014/main" id="{21506947-3337-41CB-B9AA-E2D68B91ADE1}"/>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Identify sources and geographic validation needs.</a:t>
            </a:r>
          </a:p>
        </p:txBody>
      </p:sp>
      <p:sp>
        <p:nvSpPr>
          <p:cNvPr id="8" name="statement-3">
            <a:extLst xmlns:a="http://schemas.openxmlformats.org/drawingml/2006/main">
              <a:ext uri="{FF2B5EF4-FFF2-40B4-BE49-F238E27FC236}">
                <a16:creationId xmlns:a16="http://schemas.microsoft.com/office/drawing/2014/main" id="{BF8B80A6-3446-4B9C-B474-D9ED7DAA97D0}"/>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Preserve the boundary between scenario assessment and operational warning.</a:t>
            </a:r>
          </a:p>
        </p:txBody>
      </p:sp>
      <p:sp>
        <p:nvSpPr>
          <p:cNvPr id="9" name="statement-4">
            <a:extLst xmlns:a="http://schemas.openxmlformats.org/drawingml/2006/main">
              <a:ext uri="{FF2B5EF4-FFF2-40B4-BE49-F238E27FC236}">
                <a16:creationId xmlns:a16="http://schemas.microsoft.com/office/drawing/2014/main" id="{E7E98D80-3692-40FD-8361-2C0CAD686D8D}"/>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Evaluate the proposed application with its own data and intended participants.</a:t>
            </a:r>
          </a:p>
        </p:txBody>
      </p:sp>
    </p:spTree>
    <p:extLst>
      <p:ext uri="{BB962C8B-B14F-4D97-AF65-F5344CB8AC3E}">
        <p14:creationId xmlns:p14="http://schemas.microsoft.com/office/powerpoint/2010/main" val="174703939"/>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E0EC563D-E6F7-47AB-93C2-8B08611D5E98}"/>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0408F8CE-108E-4A7E-BD0D-7CEB11300317}"/>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Research and development roles</a:t>
            </a:r>
          </a:p>
        </p:txBody>
      </p:sp>
      <p:sp>
        <p:nvSpPr>
          <p:cNvPr id="3" name="yellow-accent-rule">
            <a:extLst xmlns:a="http://schemas.openxmlformats.org/drawingml/2006/main">
              <a:ext uri="{FF2B5EF4-FFF2-40B4-BE49-F238E27FC236}">
                <a16:creationId xmlns:a16="http://schemas.microsoft.com/office/drawing/2014/main" id="{43626B9A-7029-4A9B-886C-5FC6FBCEED2F}"/>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F798AA7C-F30E-488C-B1D3-8993695116F2}"/>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Materials and Method</a:t>
            </a:r>
          </a:p>
        </p:txBody>
      </p:sp>
      <p:sp>
        <p:nvSpPr>
          <p:cNvPr id="5" name="page">
            <a:extLst xmlns:a="http://schemas.openxmlformats.org/drawingml/2006/main">
              <a:ext uri="{FF2B5EF4-FFF2-40B4-BE49-F238E27FC236}">
                <a16:creationId xmlns:a16="http://schemas.microsoft.com/office/drawing/2014/main" id="{860A053F-4041-40E8-9A9A-55AA7482ABF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35</a:t>
            </a:r>
          </a:p>
        </p:txBody>
      </p:sp>
      <p:sp>
        <p:nvSpPr>
          <p:cNvPr id="6" name="row-1-label">
            <a:extLst xmlns:a="http://schemas.openxmlformats.org/drawingml/2006/main">
              <a:ext uri="{FF2B5EF4-FFF2-40B4-BE49-F238E27FC236}">
                <a16:creationId xmlns:a16="http://schemas.microsoft.com/office/drawing/2014/main" id="{A7E64276-4B7D-41E4-AE77-0AD15A6F957B}"/>
              </a:ext>
            </a:extLst>
          </p:cNvPr>
          <p:cNvSpPr>
            <a:spLocks xmlns:a="http://schemas.openxmlformats.org/drawingml/2006/main" noGrp="1"/>
          </p:cNvSpPr>
          <p:nvPr/>
        </p:nvSpPr>
        <p:spPr>
          <a:xfrm xmlns:a="http://schemas.openxmlformats.org/drawingml/2006/main">
            <a:off x="762000" y="2667000"/>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Framework</a:t>
            </a:r>
          </a:p>
        </p:txBody>
      </p:sp>
      <p:sp>
        <p:nvSpPr>
          <p:cNvPr id="7" name="row-1-text">
            <a:extLst xmlns:a="http://schemas.openxmlformats.org/drawingml/2006/main">
              <a:ext uri="{FF2B5EF4-FFF2-40B4-BE49-F238E27FC236}">
                <a16:creationId xmlns:a16="http://schemas.microsoft.com/office/drawing/2014/main" id="{71BBD1B8-CC47-480B-8946-501CD7F1737D}"/>
              </a:ext>
            </a:extLst>
          </p:cNvPr>
          <p:cNvSpPr>
            <a:spLocks xmlns:a="http://schemas.openxmlformats.org/drawingml/2006/main" noGrp="1"/>
          </p:cNvSpPr>
          <p:nvPr/>
        </p:nvSpPr>
        <p:spPr>
          <a:xfrm xmlns:a="http://schemas.openxmlformats.org/drawingml/2006/main">
            <a:off x="3752850" y="266700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Design Thinking</a:t>
            </a:r>
          </a:p>
        </p:txBody>
      </p:sp>
      <p:sp>
        <p:nvSpPr>
          <p:cNvPr id="8" name="row-2-label">
            <a:extLst xmlns:a="http://schemas.openxmlformats.org/drawingml/2006/main">
              <a:ext uri="{FF2B5EF4-FFF2-40B4-BE49-F238E27FC236}">
                <a16:creationId xmlns:a16="http://schemas.microsoft.com/office/drawing/2014/main" id="{4363FF01-5928-45DA-AB06-35CA095954BC}"/>
              </a:ext>
            </a:extLst>
          </p:cNvPr>
          <p:cNvSpPr>
            <a:spLocks xmlns:a="http://schemas.openxmlformats.org/drawingml/2006/main" noGrp="1"/>
          </p:cNvSpPr>
          <p:nvPr/>
        </p:nvSpPr>
        <p:spPr>
          <a:xfrm xmlns:a="http://schemas.openxmlformats.org/drawingml/2006/main">
            <a:off x="762000" y="380047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SDLC</a:t>
            </a:r>
          </a:p>
        </p:txBody>
      </p:sp>
      <p:sp>
        <p:nvSpPr>
          <p:cNvPr id="9" name="row-2-text">
            <a:extLst xmlns:a="http://schemas.openxmlformats.org/drawingml/2006/main">
              <a:ext uri="{FF2B5EF4-FFF2-40B4-BE49-F238E27FC236}">
                <a16:creationId xmlns:a16="http://schemas.microsoft.com/office/drawing/2014/main" id="{9758505D-2027-4008-91B3-88D40F175D1B}"/>
              </a:ext>
            </a:extLst>
          </p:cNvPr>
          <p:cNvSpPr>
            <a:spLocks xmlns:a="http://schemas.openxmlformats.org/drawingml/2006/main" noGrp="1"/>
          </p:cNvSpPr>
          <p:nvPr/>
        </p:nvSpPr>
        <p:spPr>
          <a:xfrm xmlns:a="http://schemas.openxmlformats.org/drawingml/2006/main">
            <a:off x="3752850" y="380047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Evolutionary Prototyping</a:t>
            </a:r>
          </a:p>
        </p:txBody>
      </p:sp>
      <p:sp>
        <p:nvSpPr>
          <p:cNvPr id="10" name="row-3-label">
            <a:extLst xmlns:a="http://schemas.openxmlformats.org/drawingml/2006/main">
              <a:ext uri="{FF2B5EF4-FFF2-40B4-BE49-F238E27FC236}">
                <a16:creationId xmlns:a16="http://schemas.microsoft.com/office/drawing/2014/main" id="{47C99EAC-07D9-4C39-857C-4D1487C3C9BE}"/>
              </a:ext>
            </a:extLst>
          </p:cNvPr>
          <p:cNvSpPr>
            <a:spLocks xmlns:a="http://schemas.openxmlformats.org/drawingml/2006/main" noGrp="1"/>
          </p:cNvSpPr>
          <p:nvPr/>
        </p:nvSpPr>
        <p:spPr>
          <a:xfrm xmlns:a="http://schemas.openxmlformats.org/drawingml/2006/main">
            <a:off x="762000" y="4933950"/>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Evidence</a:t>
            </a:r>
          </a:p>
        </p:txBody>
      </p:sp>
      <p:sp>
        <p:nvSpPr>
          <p:cNvPr id="11" name="row-3-text">
            <a:extLst xmlns:a="http://schemas.openxmlformats.org/drawingml/2006/main">
              <a:ext uri="{FF2B5EF4-FFF2-40B4-BE49-F238E27FC236}">
                <a16:creationId xmlns:a16="http://schemas.microsoft.com/office/drawing/2014/main" id="{EDA1C4C5-65C4-46BD-A191-E7013FB5ACEF}"/>
              </a:ext>
            </a:extLst>
          </p:cNvPr>
          <p:cNvSpPr>
            <a:spLocks xmlns:a="http://schemas.openxmlformats.org/drawingml/2006/main" noGrp="1"/>
          </p:cNvSpPr>
          <p:nvPr/>
        </p:nvSpPr>
        <p:spPr>
          <a:xfrm xmlns:a="http://schemas.openxmlformats.org/drawingml/2006/main">
            <a:off x="3752850" y="4933950"/>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Needs survey and consented institutional interviews</a:t>
            </a:r>
          </a:p>
        </p:txBody>
      </p:sp>
      <p:sp>
        <p:nvSpPr>
          <p:cNvPr id="12" name="row-4-label">
            <a:extLst xmlns:a="http://schemas.openxmlformats.org/drawingml/2006/main">
              <a:ext uri="{FF2B5EF4-FFF2-40B4-BE49-F238E27FC236}">
                <a16:creationId xmlns:a16="http://schemas.microsoft.com/office/drawing/2014/main" id="{EB5C4917-E7DE-4BE3-9F92-1B9A4AF92516}"/>
              </a:ext>
            </a:extLst>
          </p:cNvPr>
          <p:cNvSpPr>
            <a:spLocks xmlns:a="http://schemas.openxmlformats.org/drawingml/2006/main" noGrp="1"/>
          </p:cNvSpPr>
          <p:nvPr/>
        </p:nvSpPr>
        <p:spPr>
          <a:xfrm xmlns:a="http://schemas.openxmlformats.org/drawingml/2006/main">
            <a:off x="762000" y="6067425"/>
            <a:ext cx="2762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Work tools</a:t>
            </a:r>
          </a:p>
        </p:txBody>
      </p:sp>
      <p:sp>
        <p:nvSpPr>
          <p:cNvPr id="13" name="row-4-text">
            <a:extLst xmlns:a="http://schemas.openxmlformats.org/drawingml/2006/main">
              <a:ext uri="{FF2B5EF4-FFF2-40B4-BE49-F238E27FC236}">
                <a16:creationId xmlns:a16="http://schemas.microsoft.com/office/drawing/2014/main" id="{0627448B-4A34-43C7-B62B-9907DADAF8F6}"/>
              </a:ext>
            </a:extLst>
          </p:cNvPr>
          <p:cNvSpPr>
            <a:spLocks xmlns:a="http://schemas.openxmlformats.org/drawingml/2006/main" noGrp="1"/>
          </p:cNvSpPr>
          <p:nvPr/>
        </p:nvSpPr>
        <p:spPr>
          <a:xfrm xmlns:a="http://schemas.openxmlformats.org/drawingml/2006/main">
            <a:off x="3752850" y="6067425"/>
            <a:ext cx="107156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0">
                <a:solidFill>
                  <a:srgbClr val="182B45"/>
                </a:solidFill>
                <a:latin typeface="Arial"/>
                <a:ea typeface="Arial"/>
                <a:cs typeface="Arial"/>
              </a:defRPr>
            </a:defPPr>
            <a:lvl1pPr algn="l">
              <a:defRPr sz="3000" b="0">
                <a:solidFill>
                  <a:srgbClr val="182B45"/>
                </a:solidFill>
                <a:latin typeface="Arial"/>
                <a:ea typeface="Arial"/>
                <a:cs typeface="Arial"/>
              </a:defRPr>
            </a:lvl1pPr>
            <a:lvl2pPr algn="l">
              <a:defRPr sz="3000" b="0">
                <a:solidFill>
                  <a:srgbClr val="182B45"/>
                </a:solidFill>
                <a:latin typeface="Arial"/>
                <a:ea typeface="Arial"/>
                <a:cs typeface="Arial"/>
              </a:defRPr>
            </a:lvl2pPr>
            <a:lvl3pPr algn="l">
              <a:defRPr sz="3000" b="0">
                <a:solidFill>
                  <a:srgbClr val="182B45"/>
                </a:solidFill>
                <a:latin typeface="Arial"/>
                <a:ea typeface="Arial"/>
                <a:cs typeface="Arial"/>
              </a:defRPr>
            </a:lvl3pPr>
            <a:lvl4pPr algn="l">
              <a:defRPr sz="3000" b="0">
                <a:solidFill>
                  <a:srgbClr val="182B45"/>
                </a:solidFill>
                <a:latin typeface="Arial"/>
                <a:ea typeface="Arial"/>
                <a:cs typeface="Arial"/>
              </a:defRPr>
            </a:lvl4pPr>
            <a:lvl5pPr algn="l">
              <a:defRPr sz="3000" b="0">
                <a:solidFill>
                  <a:srgbClr val="182B45"/>
                </a:solidFill>
                <a:latin typeface="Arial"/>
                <a:ea typeface="Arial"/>
                <a:cs typeface="Arial"/>
              </a:defRPr>
            </a:lvl5pPr>
            <a:lvl6pPr algn="l">
              <a:defRPr sz="3000" b="0">
                <a:solidFill>
                  <a:srgbClr val="182B45"/>
                </a:solidFill>
                <a:latin typeface="Arial"/>
                <a:ea typeface="Arial"/>
                <a:cs typeface="Arial"/>
              </a:defRPr>
            </a:lvl6pPr>
            <a:lvl7pPr algn="l">
              <a:defRPr sz="3000" b="0">
                <a:solidFill>
                  <a:srgbClr val="182B45"/>
                </a:solidFill>
                <a:latin typeface="Arial"/>
                <a:ea typeface="Arial"/>
                <a:cs typeface="Arial"/>
              </a:defRPr>
            </a:lvl7pPr>
            <a:lvl8pPr algn="l">
              <a:defRPr sz="3000" b="0">
                <a:solidFill>
                  <a:srgbClr val="182B45"/>
                </a:solidFill>
                <a:latin typeface="Arial"/>
                <a:ea typeface="Arial"/>
                <a:cs typeface="Arial"/>
              </a:defRPr>
            </a:lvl8pPr>
            <a:lvl9pPr algn="l">
              <a:defRPr sz="3000" b="0">
                <a:solidFill>
                  <a:srgbClr val="182B45"/>
                </a:solidFill>
                <a:latin typeface="Arial"/>
                <a:ea typeface="Arial"/>
                <a:cs typeface="Arial"/>
              </a:defRPr>
            </a:lvl9pPr>
          </a:lstStyle>
          <a:p xmlns:a="http://schemas.openxmlformats.org/drawingml/2006/main">
            <a:pPr algn="l">
              <a:defRPr sz="3000" b="0">
                <a:solidFill>
                  <a:srgbClr val="182B45"/>
                </a:solidFill>
                <a:latin typeface="Arial"/>
                <a:ea typeface="Arial"/>
                <a:cs typeface="Arial"/>
              </a:defRPr>
            </a:pPr>
            <a:r>
              <a:rPr sz="3000" b="0">
                <a:solidFill>
                  <a:srgbClr val="182B45"/>
                </a:solidFill>
                <a:latin typeface="Arial"/>
                <a:ea typeface="Arial"/>
                <a:cs typeface="Arial"/>
              </a:rPr>
              <a:t>Handwritten board, Excel, and GitHub</a:t>
            </a:r>
          </a:p>
        </p:txBody>
      </p:sp>
    </p:spTree>
    <p:extLst>
      <p:ext uri="{BB962C8B-B14F-4D97-AF65-F5344CB8AC3E}">
        <p14:creationId xmlns:p14="http://schemas.microsoft.com/office/powerpoint/2010/main" val="26404627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457D24E-B748-4F4D-9E1D-80E9392F806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22E69F26-96DB-485F-A9BB-B786224015EE}"/>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Design Thinking</a:t>
            </a:r>
          </a:p>
        </p:txBody>
      </p:sp>
      <p:sp>
        <p:nvSpPr>
          <p:cNvPr id="3" name="yellow-accent-rule">
            <a:extLst xmlns:a="http://schemas.openxmlformats.org/drawingml/2006/main">
              <a:ext uri="{FF2B5EF4-FFF2-40B4-BE49-F238E27FC236}">
                <a16:creationId xmlns:a16="http://schemas.microsoft.com/office/drawing/2014/main" id="{CBD577F9-21D9-408F-B0BE-0254FEAF5935}"/>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D8559D3E-ACC0-43FB-9917-F1EF04AC6F4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Manuscript Figure 2; Wörle (2025); Lawrence et al. (2022)</a:t>
            </a:r>
          </a:p>
        </p:txBody>
      </p:sp>
      <p:sp>
        <p:nvSpPr>
          <p:cNvPr id="5" name="page">
            <a:extLst xmlns:a="http://schemas.openxmlformats.org/drawingml/2006/main">
              <a:ext uri="{FF2B5EF4-FFF2-40B4-BE49-F238E27FC236}">
                <a16:creationId xmlns:a16="http://schemas.microsoft.com/office/drawing/2014/main" id="{9E58C3AC-2CD0-467B-96CE-ADCDBB786E41}"/>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36</a:t>
            </a:r>
          </a:p>
        </p:txBody>
      </p:sp>
      <p:pic>
        <p:nvPicPr>
          <p:cNvPr id="6" name="">
            <a:extLst xmlns:a="http://schemas.openxmlformats.org/drawingml/2006/main">
              <a:ext uri="{FF2B5EF4-FFF2-40B4-BE49-F238E27FC236}">
                <a16:creationId xmlns:a16="http://schemas.microsoft.com/office/drawing/2014/main" id="{482D4B8B-AA86-48E6-BE60-FF9058337453}"/>
              </a:ext>
            </a:extLst>
          </p:cNvPr>
          <p:cNvPicPr>
            <a:picLocks xmlns:a="http://schemas.openxmlformats.org/drawingml/2006/main" noChangeAspect="1"/>
          </p:cNvPicPr>
          <p:nvPr/>
        </p:nvPicPr>
        <p:blipFill>
          <a:blip xmlns:r="http://schemas.openxmlformats.org/officeDocument/2006/relationships" xmlns:a="http://schemas.openxmlformats.org/drawingml/2006/main" r:embed="R469c255605bf4619"/>
          <a:stretch xmlns:a="http://schemas.openxmlformats.org/drawingml/2006/main"/>
        </p:blipFill>
        <p:spPr>
          <a:xfrm xmlns:a="http://schemas.openxmlformats.org/drawingml/2006/main">
            <a:off x="762000" y="2524125"/>
            <a:ext cx="5381625" cy="5381625"/>
          </a:xfrm>
          <a:prstGeom xmlns:a="http://schemas.openxmlformats.org/drawingml/2006/main" prst="rect">
            <a:avLst/>
          </a:prstGeom>
        </p:spPr>
      </p:pic>
      <p:sp>
        <p:nvSpPr>
          <p:cNvPr id="7" name="phase-1">
            <a:extLst xmlns:a="http://schemas.openxmlformats.org/drawingml/2006/main">
              <a:ext uri="{FF2B5EF4-FFF2-40B4-BE49-F238E27FC236}">
                <a16:creationId xmlns:a16="http://schemas.microsoft.com/office/drawing/2014/main" id="{48B0F71C-9E7D-4E80-AD6F-5C3D3E9B3AD1}"/>
              </a:ext>
            </a:extLst>
          </p:cNvPr>
          <p:cNvSpPr>
            <a:spLocks xmlns:a="http://schemas.openxmlformats.org/drawingml/2006/main" noGrp="1"/>
          </p:cNvSpPr>
          <p:nvPr/>
        </p:nvSpPr>
        <p:spPr>
          <a:xfrm xmlns:a="http://schemas.openxmlformats.org/drawingml/2006/main">
            <a:off x="7429500" y="28575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82B45"/>
                </a:solidFill>
                <a:latin typeface="Arial"/>
                <a:ea typeface="Arial"/>
                <a:cs typeface="Arial"/>
              </a:defRPr>
            </a:defPPr>
            <a:lvl1pPr algn="l">
              <a:defRPr sz="3150" b="0">
                <a:solidFill>
                  <a:srgbClr val="182B45"/>
                </a:solidFill>
                <a:latin typeface="Arial"/>
                <a:ea typeface="Arial"/>
                <a:cs typeface="Arial"/>
              </a:defRPr>
            </a:lvl1pPr>
            <a:lvl2pPr algn="l">
              <a:defRPr sz="3150" b="0">
                <a:solidFill>
                  <a:srgbClr val="182B45"/>
                </a:solidFill>
                <a:latin typeface="Arial"/>
                <a:ea typeface="Arial"/>
                <a:cs typeface="Arial"/>
              </a:defRPr>
            </a:lvl2pPr>
            <a:lvl3pPr algn="l">
              <a:defRPr sz="3150" b="0">
                <a:solidFill>
                  <a:srgbClr val="182B45"/>
                </a:solidFill>
                <a:latin typeface="Arial"/>
                <a:ea typeface="Arial"/>
                <a:cs typeface="Arial"/>
              </a:defRPr>
            </a:lvl3pPr>
            <a:lvl4pPr algn="l">
              <a:defRPr sz="3150" b="0">
                <a:solidFill>
                  <a:srgbClr val="182B45"/>
                </a:solidFill>
                <a:latin typeface="Arial"/>
                <a:ea typeface="Arial"/>
                <a:cs typeface="Arial"/>
              </a:defRPr>
            </a:lvl4pPr>
            <a:lvl5pPr algn="l">
              <a:defRPr sz="3150" b="0">
                <a:solidFill>
                  <a:srgbClr val="182B45"/>
                </a:solidFill>
                <a:latin typeface="Arial"/>
                <a:ea typeface="Arial"/>
                <a:cs typeface="Arial"/>
              </a:defRPr>
            </a:lvl5pPr>
            <a:lvl6pPr algn="l">
              <a:defRPr sz="3150" b="0">
                <a:solidFill>
                  <a:srgbClr val="182B45"/>
                </a:solidFill>
                <a:latin typeface="Arial"/>
                <a:ea typeface="Arial"/>
                <a:cs typeface="Arial"/>
              </a:defRPr>
            </a:lvl6pPr>
            <a:lvl7pPr algn="l">
              <a:defRPr sz="3150" b="0">
                <a:solidFill>
                  <a:srgbClr val="182B45"/>
                </a:solidFill>
                <a:latin typeface="Arial"/>
                <a:ea typeface="Arial"/>
                <a:cs typeface="Arial"/>
              </a:defRPr>
            </a:lvl7pPr>
            <a:lvl8pPr algn="l">
              <a:defRPr sz="3150" b="0">
                <a:solidFill>
                  <a:srgbClr val="182B45"/>
                </a:solidFill>
                <a:latin typeface="Arial"/>
                <a:ea typeface="Arial"/>
                <a:cs typeface="Arial"/>
              </a:defRPr>
            </a:lvl8pPr>
            <a:lvl9pPr algn="l">
              <a:defRPr sz="3150" b="0">
                <a:solidFill>
                  <a:srgbClr val="182B45"/>
                </a:solidFill>
                <a:latin typeface="Arial"/>
                <a:ea typeface="Arial"/>
                <a:cs typeface="Arial"/>
              </a:defRPr>
            </a:lvl9pPr>
          </a:lstStyle>
          <a:p xmlns:a="http://schemas.openxmlformats.org/drawingml/2006/main">
            <a:pPr algn="l">
              <a:defRPr sz="3150" b="0">
                <a:solidFill>
                  <a:srgbClr val="182B45"/>
                </a:solidFill>
                <a:latin typeface="Arial"/>
                <a:ea typeface="Arial"/>
                <a:cs typeface="Arial"/>
              </a:defRPr>
            </a:pPr>
            <a:r>
              <a:rPr sz="3150" b="0">
                <a:solidFill>
                  <a:srgbClr val="182B45"/>
                </a:solidFill>
                <a:latin typeface="Arial"/>
                <a:ea typeface="Arial"/>
                <a:cs typeface="Arial"/>
              </a:rPr>
              <a:t>Empathize</a:t>
            </a:r>
          </a:p>
        </p:txBody>
      </p:sp>
      <p:sp>
        <p:nvSpPr>
          <p:cNvPr id="8" name="phase-2">
            <a:extLst xmlns:a="http://schemas.openxmlformats.org/drawingml/2006/main">
              <a:ext uri="{FF2B5EF4-FFF2-40B4-BE49-F238E27FC236}">
                <a16:creationId xmlns:a16="http://schemas.microsoft.com/office/drawing/2014/main" id="{00E1BEDE-C75E-4717-B43F-C1D31235746A}"/>
              </a:ext>
            </a:extLst>
          </p:cNvPr>
          <p:cNvSpPr>
            <a:spLocks xmlns:a="http://schemas.openxmlformats.org/drawingml/2006/main" noGrp="1"/>
          </p:cNvSpPr>
          <p:nvPr/>
        </p:nvSpPr>
        <p:spPr>
          <a:xfrm xmlns:a="http://schemas.openxmlformats.org/drawingml/2006/main">
            <a:off x="7429500" y="38100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82B45"/>
                </a:solidFill>
                <a:latin typeface="Arial"/>
                <a:ea typeface="Arial"/>
                <a:cs typeface="Arial"/>
              </a:defRPr>
            </a:defPPr>
            <a:lvl1pPr algn="l">
              <a:defRPr sz="3150" b="0">
                <a:solidFill>
                  <a:srgbClr val="182B45"/>
                </a:solidFill>
                <a:latin typeface="Arial"/>
                <a:ea typeface="Arial"/>
                <a:cs typeface="Arial"/>
              </a:defRPr>
            </a:lvl1pPr>
            <a:lvl2pPr algn="l">
              <a:defRPr sz="3150" b="0">
                <a:solidFill>
                  <a:srgbClr val="182B45"/>
                </a:solidFill>
                <a:latin typeface="Arial"/>
                <a:ea typeface="Arial"/>
                <a:cs typeface="Arial"/>
              </a:defRPr>
            </a:lvl2pPr>
            <a:lvl3pPr algn="l">
              <a:defRPr sz="3150" b="0">
                <a:solidFill>
                  <a:srgbClr val="182B45"/>
                </a:solidFill>
                <a:latin typeface="Arial"/>
                <a:ea typeface="Arial"/>
                <a:cs typeface="Arial"/>
              </a:defRPr>
            </a:lvl3pPr>
            <a:lvl4pPr algn="l">
              <a:defRPr sz="3150" b="0">
                <a:solidFill>
                  <a:srgbClr val="182B45"/>
                </a:solidFill>
                <a:latin typeface="Arial"/>
                <a:ea typeface="Arial"/>
                <a:cs typeface="Arial"/>
              </a:defRPr>
            </a:lvl4pPr>
            <a:lvl5pPr algn="l">
              <a:defRPr sz="3150" b="0">
                <a:solidFill>
                  <a:srgbClr val="182B45"/>
                </a:solidFill>
                <a:latin typeface="Arial"/>
                <a:ea typeface="Arial"/>
                <a:cs typeface="Arial"/>
              </a:defRPr>
            </a:lvl5pPr>
            <a:lvl6pPr algn="l">
              <a:defRPr sz="3150" b="0">
                <a:solidFill>
                  <a:srgbClr val="182B45"/>
                </a:solidFill>
                <a:latin typeface="Arial"/>
                <a:ea typeface="Arial"/>
                <a:cs typeface="Arial"/>
              </a:defRPr>
            </a:lvl6pPr>
            <a:lvl7pPr algn="l">
              <a:defRPr sz="3150" b="0">
                <a:solidFill>
                  <a:srgbClr val="182B45"/>
                </a:solidFill>
                <a:latin typeface="Arial"/>
                <a:ea typeface="Arial"/>
                <a:cs typeface="Arial"/>
              </a:defRPr>
            </a:lvl7pPr>
            <a:lvl8pPr algn="l">
              <a:defRPr sz="3150" b="0">
                <a:solidFill>
                  <a:srgbClr val="182B45"/>
                </a:solidFill>
                <a:latin typeface="Arial"/>
                <a:ea typeface="Arial"/>
                <a:cs typeface="Arial"/>
              </a:defRPr>
            </a:lvl8pPr>
            <a:lvl9pPr algn="l">
              <a:defRPr sz="3150" b="0">
                <a:solidFill>
                  <a:srgbClr val="182B45"/>
                </a:solidFill>
                <a:latin typeface="Arial"/>
                <a:ea typeface="Arial"/>
                <a:cs typeface="Arial"/>
              </a:defRPr>
            </a:lvl9pPr>
          </a:lstStyle>
          <a:p xmlns:a="http://schemas.openxmlformats.org/drawingml/2006/main">
            <a:pPr algn="l">
              <a:defRPr sz="3150" b="0">
                <a:solidFill>
                  <a:srgbClr val="182B45"/>
                </a:solidFill>
                <a:latin typeface="Arial"/>
                <a:ea typeface="Arial"/>
                <a:cs typeface="Arial"/>
              </a:defRPr>
            </a:pPr>
            <a:r>
              <a:rPr sz="3150" b="0">
                <a:solidFill>
                  <a:srgbClr val="182B45"/>
                </a:solidFill>
                <a:latin typeface="Arial"/>
                <a:ea typeface="Arial"/>
                <a:cs typeface="Arial"/>
              </a:rPr>
              <a:t>Define</a:t>
            </a:r>
          </a:p>
        </p:txBody>
      </p:sp>
      <p:sp>
        <p:nvSpPr>
          <p:cNvPr id="9" name="phase-3">
            <a:extLst xmlns:a="http://schemas.openxmlformats.org/drawingml/2006/main">
              <a:ext uri="{FF2B5EF4-FFF2-40B4-BE49-F238E27FC236}">
                <a16:creationId xmlns:a16="http://schemas.microsoft.com/office/drawing/2014/main" id="{B77A91B0-B3F7-49F9-B697-496CFCD9C719}"/>
              </a:ext>
            </a:extLst>
          </p:cNvPr>
          <p:cNvSpPr>
            <a:spLocks xmlns:a="http://schemas.openxmlformats.org/drawingml/2006/main" noGrp="1"/>
          </p:cNvSpPr>
          <p:nvPr/>
        </p:nvSpPr>
        <p:spPr>
          <a:xfrm xmlns:a="http://schemas.openxmlformats.org/drawingml/2006/main">
            <a:off x="7429500" y="47625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82B45"/>
                </a:solidFill>
                <a:latin typeface="Arial"/>
                <a:ea typeface="Arial"/>
                <a:cs typeface="Arial"/>
              </a:defRPr>
            </a:defPPr>
            <a:lvl1pPr algn="l">
              <a:defRPr sz="3150" b="0">
                <a:solidFill>
                  <a:srgbClr val="182B45"/>
                </a:solidFill>
                <a:latin typeface="Arial"/>
                <a:ea typeface="Arial"/>
                <a:cs typeface="Arial"/>
              </a:defRPr>
            </a:lvl1pPr>
            <a:lvl2pPr algn="l">
              <a:defRPr sz="3150" b="0">
                <a:solidFill>
                  <a:srgbClr val="182B45"/>
                </a:solidFill>
                <a:latin typeface="Arial"/>
                <a:ea typeface="Arial"/>
                <a:cs typeface="Arial"/>
              </a:defRPr>
            </a:lvl2pPr>
            <a:lvl3pPr algn="l">
              <a:defRPr sz="3150" b="0">
                <a:solidFill>
                  <a:srgbClr val="182B45"/>
                </a:solidFill>
                <a:latin typeface="Arial"/>
                <a:ea typeface="Arial"/>
                <a:cs typeface="Arial"/>
              </a:defRPr>
            </a:lvl3pPr>
            <a:lvl4pPr algn="l">
              <a:defRPr sz="3150" b="0">
                <a:solidFill>
                  <a:srgbClr val="182B45"/>
                </a:solidFill>
                <a:latin typeface="Arial"/>
                <a:ea typeface="Arial"/>
                <a:cs typeface="Arial"/>
              </a:defRPr>
            </a:lvl4pPr>
            <a:lvl5pPr algn="l">
              <a:defRPr sz="3150" b="0">
                <a:solidFill>
                  <a:srgbClr val="182B45"/>
                </a:solidFill>
                <a:latin typeface="Arial"/>
                <a:ea typeface="Arial"/>
                <a:cs typeface="Arial"/>
              </a:defRPr>
            </a:lvl5pPr>
            <a:lvl6pPr algn="l">
              <a:defRPr sz="3150" b="0">
                <a:solidFill>
                  <a:srgbClr val="182B45"/>
                </a:solidFill>
                <a:latin typeface="Arial"/>
                <a:ea typeface="Arial"/>
                <a:cs typeface="Arial"/>
              </a:defRPr>
            </a:lvl6pPr>
            <a:lvl7pPr algn="l">
              <a:defRPr sz="3150" b="0">
                <a:solidFill>
                  <a:srgbClr val="182B45"/>
                </a:solidFill>
                <a:latin typeface="Arial"/>
                <a:ea typeface="Arial"/>
                <a:cs typeface="Arial"/>
              </a:defRPr>
            </a:lvl7pPr>
            <a:lvl8pPr algn="l">
              <a:defRPr sz="3150" b="0">
                <a:solidFill>
                  <a:srgbClr val="182B45"/>
                </a:solidFill>
                <a:latin typeface="Arial"/>
                <a:ea typeface="Arial"/>
                <a:cs typeface="Arial"/>
              </a:defRPr>
            </a:lvl8pPr>
            <a:lvl9pPr algn="l">
              <a:defRPr sz="3150" b="0">
                <a:solidFill>
                  <a:srgbClr val="182B45"/>
                </a:solidFill>
                <a:latin typeface="Arial"/>
                <a:ea typeface="Arial"/>
                <a:cs typeface="Arial"/>
              </a:defRPr>
            </a:lvl9pPr>
          </a:lstStyle>
          <a:p xmlns:a="http://schemas.openxmlformats.org/drawingml/2006/main">
            <a:pPr algn="l">
              <a:defRPr sz="3150" b="0">
                <a:solidFill>
                  <a:srgbClr val="182B45"/>
                </a:solidFill>
                <a:latin typeface="Arial"/>
                <a:ea typeface="Arial"/>
                <a:cs typeface="Arial"/>
              </a:defRPr>
            </a:pPr>
            <a:r>
              <a:rPr sz="3150" b="0">
                <a:solidFill>
                  <a:srgbClr val="182B45"/>
                </a:solidFill>
                <a:latin typeface="Arial"/>
                <a:ea typeface="Arial"/>
                <a:cs typeface="Arial"/>
              </a:rPr>
              <a:t>Ideate</a:t>
            </a:r>
          </a:p>
        </p:txBody>
      </p:sp>
      <p:sp>
        <p:nvSpPr>
          <p:cNvPr id="10" name="phase-4">
            <a:extLst xmlns:a="http://schemas.openxmlformats.org/drawingml/2006/main">
              <a:ext uri="{FF2B5EF4-FFF2-40B4-BE49-F238E27FC236}">
                <a16:creationId xmlns:a16="http://schemas.microsoft.com/office/drawing/2014/main" id="{2FCD3EAE-829D-4B0C-B70C-B8DD701D963C}"/>
              </a:ext>
            </a:extLst>
          </p:cNvPr>
          <p:cNvSpPr>
            <a:spLocks xmlns:a="http://schemas.openxmlformats.org/drawingml/2006/main" noGrp="1"/>
          </p:cNvSpPr>
          <p:nvPr/>
        </p:nvSpPr>
        <p:spPr>
          <a:xfrm xmlns:a="http://schemas.openxmlformats.org/drawingml/2006/main">
            <a:off x="7429500" y="57150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82B45"/>
                </a:solidFill>
                <a:latin typeface="Arial"/>
                <a:ea typeface="Arial"/>
                <a:cs typeface="Arial"/>
              </a:defRPr>
            </a:defPPr>
            <a:lvl1pPr algn="l">
              <a:defRPr sz="3150" b="0">
                <a:solidFill>
                  <a:srgbClr val="182B45"/>
                </a:solidFill>
                <a:latin typeface="Arial"/>
                <a:ea typeface="Arial"/>
                <a:cs typeface="Arial"/>
              </a:defRPr>
            </a:lvl1pPr>
            <a:lvl2pPr algn="l">
              <a:defRPr sz="3150" b="0">
                <a:solidFill>
                  <a:srgbClr val="182B45"/>
                </a:solidFill>
                <a:latin typeface="Arial"/>
                <a:ea typeface="Arial"/>
                <a:cs typeface="Arial"/>
              </a:defRPr>
            </a:lvl2pPr>
            <a:lvl3pPr algn="l">
              <a:defRPr sz="3150" b="0">
                <a:solidFill>
                  <a:srgbClr val="182B45"/>
                </a:solidFill>
                <a:latin typeface="Arial"/>
                <a:ea typeface="Arial"/>
                <a:cs typeface="Arial"/>
              </a:defRPr>
            </a:lvl3pPr>
            <a:lvl4pPr algn="l">
              <a:defRPr sz="3150" b="0">
                <a:solidFill>
                  <a:srgbClr val="182B45"/>
                </a:solidFill>
                <a:latin typeface="Arial"/>
                <a:ea typeface="Arial"/>
                <a:cs typeface="Arial"/>
              </a:defRPr>
            </a:lvl4pPr>
            <a:lvl5pPr algn="l">
              <a:defRPr sz="3150" b="0">
                <a:solidFill>
                  <a:srgbClr val="182B45"/>
                </a:solidFill>
                <a:latin typeface="Arial"/>
                <a:ea typeface="Arial"/>
                <a:cs typeface="Arial"/>
              </a:defRPr>
            </a:lvl5pPr>
            <a:lvl6pPr algn="l">
              <a:defRPr sz="3150" b="0">
                <a:solidFill>
                  <a:srgbClr val="182B45"/>
                </a:solidFill>
                <a:latin typeface="Arial"/>
                <a:ea typeface="Arial"/>
                <a:cs typeface="Arial"/>
              </a:defRPr>
            </a:lvl6pPr>
            <a:lvl7pPr algn="l">
              <a:defRPr sz="3150" b="0">
                <a:solidFill>
                  <a:srgbClr val="182B45"/>
                </a:solidFill>
                <a:latin typeface="Arial"/>
                <a:ea typeface="Arial"/>
                <a:cs typeface="Arial"/>
              </a:defRPr>
            </a:lvl7pPr>
            <a:lvl8pPr algn="l">
              <a:defRPr sz="3150" b="0">
                <a:solidFill>
                  <a:srgbClr val="182B45"/>
                </a:solidFill>
                <a:latin typeface="Arial"/>
                <a:ea typeface="Arial"/>
                <a:cs typeface="Arial"/>
              </a:defRPr>
            </a:lvl8pPr>
            <a:lvl9pPr algn="l">
              <a:defRPr sz="3150" b="0">
                <a:solidFill>
                  <a:srgbClr val="182B45"/>
                </a:solidFill>
                <a:latin typeface="Arial"/>
                <a:ea typeface="Arial"/>
                <a:cs typeface="Arial"/>
              </a:defRPr>
            </a:lvl9pPr>
          </a:lstStyle>
          <a:p xmlns:a="http://schemas.openxmlformats.org/drawingml/2006/main">
            <a:pPr algn="l">
              <a:defRPr sz="3150" b="0">
                <a:solidFill>
                  <a:srgbClr val="182B45"/>
                </a:solidFill>
                <a:latin typeface="Arial"/>
                <a:ea typeface="Arial"/>
                <a:cs typeface="Arial"/>
              </a:defRPr>
            </a:pPr>
            <a:r>
              <a:rPr sz="3150" b="0">
                <a:solidFill>
                  <a:srgbClr val="182B45"/>
                </a:solidFill>
                <a:latin typeface="Arial"/>
                <a:ea typeface="Arial"/>
                <a:cs typeface="Arial"/>
              </a:rPr>
              <a:t>Prototype</a:t>
            </a:r>
          </a:p>
        </p:txBody>
      </p:sp>
      <p:sp>
        <p:nvSpPr>
          <p:cNvPr id="11" name="phase-5">
            <a:extLst xmlns:a="http://schemas.openxmlformats.org/drawingml/2006/main">
              <a:ext uri="{FF2B5EF4-FFF2-40B4-BE49-F238E27FC236}">
                <a16:creationId xmlns:a16="http://schemas.microsoft.com/office/drawing/2014/main" id="{C078EFB1-3C26-4295-9792-872F96150910}"/>
              </a:ext>
            </a:extLst>
          </p:cNvPr>
          <p:cNvSpPr>
            <a:spLocks xmlns:a="http://schemas.openxmlformats.org/drawingml/2006/main" noGrp="1"/>
          </p:cNvSpPr>
          <p:nvPr/>
        </p:nvSpPr>
        <p:spPr>
          <a:xfrm xmlns:a="http://schemas.openxmlformats.org/drawingml/2006/main">
            <a:off x="7429500" y="6667500"/>
            <a:ext cx="685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0">
                <a:solidFill>
                  <a:srgbClr val="182B45"/>
                </a:solidFill>
                <a:latin typeface="Arial"/>
                <a:ea typeface="Arial"/>
                <a:cs typeface="Arial"/>
              </a:defRPr>
            </a:defPPr>
            <a:lvl1pPr algn="l">
              <a:defRPr sz="3150" b="0">
                <a:solidFill>
                  <a:srgbClr val="182B45"/>
                </a:solidFill>
                <a:latin typeface="Arial"/>
                <a:ea typeface="Arial"/>
                <a:cs typeface="Arial"/>
              </a:defRPr>
            </a:lvl1pPr>
            <a:lvl2pPr algn="l">
              <a:defRPr sz="3150" b="0">
                <a:solidFill>
                  <a:srgbClr val="182B45"/>
                </a:solidFill>
                <a:latin typeface="Arial"/>
                <a:ea typeface="Arial"/>
                <a:cs typeface="Arial"/>
              </a:defRPr>
            </a:lvl2pPr>
            <a:lvl3pPr algn="l">
              <a:defRPr sz="3150" b="0">
                <a:solidFill>
                  <a:srgbClr val="182B45"/>
                </a:solidFill>
                <a:latin typeface="Arial"/>
                <a:ea typeface="Arial"/>
                <a:cs typeface="Arial"/>
              </a:defRPr>
            </a:lvl3pPr>
            <a:lvl4pPr algn="l">
              <a:defRPr sz="3150" b="0">
                <a:solidFill>
                  <a:srgbClr val="182B45"/>
                </a:solidFill>
                <a:latin typeface="Arial"/>
                <a:ea typeface="Arial"/>
                <a:cs typeface="Arial"/>
              </a:defRPr>
            </a:lvl4pPr>
            <a:lvl5pPr algn="l">
              <a:defRPr sz="3150" b="0">
                <a:solidFill>
                  <a:srgbClr val="182B45"/>
                </a:solidFill>
                <a:latin typeface="Arial"/>
                <a:ea typeface="Arial"/>
                <a:cs typeface="Arial"/>
              </a:defRPr>
            </a:lvl5pPr>
            <a:lvl6pPr algn="l">
              <a:defRPr sz="3150" b="0">
                <a:solidFill>
                  <a:srgbClr val="182B45"/>
                </a:solidFill>
                <a:latin typeface="Arial"/>
                <a:ea typeface="Arial"/>
                <a:cs typeface="Arial"/>
              </a:defRPr>
            </a:lvl6pPr>
            <a:lvl7pPr algn="l">
              <a:defRPr sz="3150" b="0">
                <a:solidFill>
                  <a:srgbClr val="182B45"/>
                </a:solidFill>
                <a:latin typeface="Arial"/>
                <a:ea typeface="Arial"/>
                <a:cs typeface="Arial"/>
              </a:defRPr>
            </a:lvl7pPr>
            <a:lvl8pPr algn="l">
              <a:defRPr sz="3150" b="0">
                <a:solidFill>
                  <a:srgbClr val="182B45"/>
                </a:solidFill>
                <a:latin typeface="Arial"/>
                <a:ea typeface="Arial"/>
                <a:cs typeface="Arial"/>
              </a:defRPr>
            </a:lvl8pPr>
            <a:lvl9pPr algn="l">
              <a:defRPr sz="3150" b="0">
                <a:solidFill>
                  <a:srgbClr val="182B45"/>
                </a:solidFill>
                <a:latin typeface="Arial"/>
                <a:ea typeface="Arial"/>
                <a:cs typeface="Arial"/>
              </a:defRPr>
            </a:lvl9pPr>
          </a:lstStyle>
          <a:p xmlns:a="http://schemas.openxmlformats.org/drawingml/2006/main">
            <a:pPr algn="l">
              <a:defRPr sz="3150" b="0">
                <a:solidFill>
                  <a:srgbClr val="182B45"/>
                </a:solidFill>
                <a:latin typeface="Arial"/>
                <a:ea typeface="Arial"/>
                <a:cs typeface="Arial"/>
              </a:defRPr>
            </a:pPr>
            <a:r>
              <a:rPr sz="3150" b="0">
                <a:solidFill>
                  <a:srgbClr val="182B45"/>
                </a:solidFill>
                <a:latin typeface="Arial"/>
                <a:ea typeface="Arial"/>
                <a:cs typeface="Arial"/>
              </a:rPr>
              <a:t>Test</a:t>
            </a:r>
          </a:p>
        </p:txBody>
      </p:sp>
    </p:spTree>
    <p:extLst>
      <p:ext uri="{BB962C8B-B14F-4D97-AF65-F5344CB8AC3E}">
        <p14:creationId xmlns:p14="http://schemas.microsoft.com/office/powerpoint/2010/main" val="9137808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DCDEAE4E-A933-4FE2-9368-9C1B79B1F3E4}"/>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63C8BB74-147F-4073-B5C4-2112C4D20368}"/>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Empathize</a:t>
            </a:r>
          </a:p>
        </p:txBody>
      </p:sp>
      <p:sp>
        <p:nvSpPr>
          <p:cNvPr id="3" name="yellow-accent-rule">
            <a:extLst xmlns:a="http://schemas.openxmlformats.org/drawingml/2006/main">
              <a:ext uri="{FF2B5EF4-FFF2-40B4-BE49-F238E27FC236}">
                <a16:creationId xmlns:a16="http://schemas.microsoft.com/office/drawing/2014/main" id="{447EEDC7-E452-4657-8D69-D201612B122C}"/>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E1C29F64-57D8-4EE0-B7D5-97DDC8B7103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Empathize; Chapter 1, Time and Place</a:t>
            </a:r>
          </a:p>
        </p:txBody>
      </p:sp>
      <p:sp>
        <p:nvSpPr>
          <p:cNvPr id="5" name="page">
            <a:extLst xmlns:a="http://schemas.openxmlformats.org/drawingml/2006/main">
              <a:ext uri="{FF2B5EF4-FFF2-40B4-BE49-F238E27FC236}">
                <a16:creationId xmlns:a16="http://schemas.microsoft.com/office/drawing/2014/main" id="{E2A7F4F5-11DA-4205-9752-C88E047A2138}"/>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37</a:t>
            </a:r>
          </a:p>
        </p:txBody>
      </p:sp>
      <p:sp>
        <p:nvSpPr>
          <p:cNvPr id="6" name="statement-1">
            <a:extLst xmlns:a="http://schemas.openxmlformats.org/drawingml/2006/main">
              <a:ext uri="{FF2B5EF4-FFF2-40B4-BE49-F238E27FC236}">
                <a16:creationId xmlns:a16="http://schemas.microsoft.com/office/drawing/2014/main" id="{B3E0A0CE-0CA5-4174-90D5-920D74AE342B}"/>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Institutional interviews with BDRRMO and CPDCO</a:t>
            </a:r>
          </a:p>
        </p:txBody>
      </p:sp>
      <p:sp>
        <p:nvSpPr>
          <p:cNvPr id="7" name="statement-2">
            <a:extLst xmlns:a="http://schemas.openxmlformats.org/drawingml/2006/main">
              <a:ext uri="{FF2B5EF4-FFF2-40B4-BE49-F238E27FC236}">
                <a16:creationId xmlns:a16="http://schemas.microsoft.com/office/drawing/2014/main" id="{AA8C5CCD-0966-4BB7-A63E-5C2071B3DEB8}"/>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Consented recordings and transcripts for review</a:t>
            </a:r>
          </a:p>
        </p:txBody>
      </p:sp>
      <p:sp>
        <p:nvSpPr>
          <p:cNvPr id="8" name="statement-3">
            <a:extLst xmlns:a="http://schemas.openxmlformats.org/drawingml/2006/main">
              <a:ext uri="{FF2B5EF4-FFF2-40B4-BE49-F238E27FC236}">
                <a16:creationId xmlns:a16="http://schemas.microsoft.com/office/drawing/2014/main" id="{59BA78AC-80EA-4BED-B0A8-069E015564D4}"/>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Initial needs survey on October 11, 2026</a:t>
            </a:r>
          </a:p>
        </p:txBody>
      </p:sp>
      <p:sp>
        <p:nvSpPr>
          <p:cNvPr id="9" name="statement-4">
            <a:extLst xmlns:a="http://schemas.openxmlformats.org/drawingml/2006/main">
              <a:ext uri="{FF2B5EF4-FFF2-40B4-BE49-F238E27FC236}">
                <a16:creationId xmlns:a16="http://schemas.microsoft.com/office/drawing/2014/main" id="{CEEE6D8B-89F7-443C-9A1C-846D135B72BE}"/>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Forty qualified adults described information and preparedness needs</a:t>
            </a:r>
          </a:p>
        </p:txBody>
      </p:sp>
    </p:spTree>
    <p:extLst>
      <p:ext uri="{BB962C8B-B14F-4D97-AF65-F5344CB8AC3E}">
        <p14:creationId xmlns:p14="http://schemas.microsoft.com/office/powerpoint/2010/main" val="86616194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BFE4D696-5672-4470-A5BF-C83EF5582214}"/>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7CC61232-2E0D-4BD8-9F98-91AB3B70B6FE}"/>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Define</a:t>
            </a:r>
          </a:p>
        </p:txBody>
      </p:sp>
      <p:sp>
        <p:nvSpPr>
          <p:cNvPr id="3" name="yellow-accent-rule">
            <a:extLst xmlns:a="http://schemas.openxmlformats.org/drawingml/2006/main">
              <a:ext uri="{FF2B5EF4-FFF2-40B4-BE49-F238E27FC236}">
                <a16:creationId xmlns:a16="http://schemas.microsoft.com/office/drawing/2014/main" id="{856C0039-C5AB-497A-A021-0DE1B39A9D85}"/>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E7DC9B5-4037-44BB-9E9B-025C5F05811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Define</a:t>
            </a:r>
          </a:p>
        </p:txBody>
      </p:sp>
      <p:sp>
        <p:nvSpPr>
          <p:cNvPr id="5" name="page">
            <a:extLst xmlns:a="http://schemas.openxmlformats.org/drawingml/2006/main">
              <a:ext uri="{FF2B5EF4-FFF2-40B4-BE49-F238E27FC236}">
                <a16:creationId xmlns:a16="http://schemas.microsoft.com/office/drawing/2014/main" id="{1C3C1F33-2FBE-4828-843F-6408F3904A86}"/>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38</a:t>
            </a:r>
          </a:p>
        </p:txBody>
      </p:sp>
      <p:sp>
        <p:nvSpPr>
          <p:cNvPr id="6" name="statement-1">
            <a:extLst xmlns:a="http://schemas.openxmlformats.org/drawingml/2006/main">
              <a:ext uri="{FF2B5EF4-FFF2-40B4-BE49-F238E27FC236}">
                <a16:creationId xmlns:a16="http://schemas.microsoft.com/office/drawing/2014/main" id="{1513A02B-88F5-4FA5-B455-878D6F9A298F}"/>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Summarized reported information and preparedness difficulties.</a:t>
            </a:r>
          </a:p>
        </p:txBody>
      </p:sp>
      <p:sp>
        <p:nvSpPr>
          <p:cNvPr id="7" name="statement-2">
            <a:extLst xmlns:a="http://schemas.openxmlformats.org/drawingml/2006/main">
              <a:ext uri="{FF2B5EF4-FFF2-40B4-BE49-F238E27FC236}">
                <a16:creationId xmlns:a16="http://schemas.microsoft.com/office/drawing/2014/main" id="{52F8DE54-ED72-4B0B-8938-5E94131A11EA}"/>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Reviewed institutional perspectives and documentary evidence.</a:t>
            </a:r>
          </a:p>
        </p:txBody>
      </p:sp>
      <p:sp>
        <p:nvSpPr>
          <p:cNvPr id="8" name="statement-3">
            <a:extLst xmlns:a="http://schemas.openxmlformats.org/drawingml/2006/main">
              <a:ext uri="{FF2B5EF4-FFF2-40B4-BE49-F238E27FC236}">
                <a16:creationId xmlns:a16="http://schemas.microsoft.com/office/drawing/2014/main" id="{95BC5A44-FE8F-40C6-B00F-E37FFDC3C74A}"/>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Mapped needs to requirements within the approved scope.</a:t>
            </a:r>
          </a:p>
        </p:txBody>
      </p:sp>
      <p:sp>
        <p:nvSpPr>
          <p:cNvPr id="9" name="statement-4">
            <a:extLst xmlns:a="http://schemas.openxmlformats.org/drawingml/2006/main">
              <a:ext uri="{FF2B5EF4-FFF2-40B4-BE49-F238E27FC236}">
                <a16:creationId xmlns:a16="http://schemas.microsoft.com/office/drawing/2014/main" id="{98D4A0B4-B0BC-4CB6-A802-356DF937DF42}"/>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Distinguished administrative boundaries from susceptibility evidence.</a:t>
            </a:r>
          </a:p>
        </p:txBody>
      </p:sp>
    </p:spTree>
    <p:extLst>
      <p:ext uri="{BB962C8B-B14F-4D97-AF65-F5344CB8AC3E}">
        <p14:creationId xmlns:p14="http://schemas.microsoft.com/office/powerpoint/2010/main" val="55021524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26734F76-9BB7-4AB4-B729-1B53626C7E56}"/>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82757EEC-E7F4-4E81-9B94-9AB075DB08FD}"/>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Ideate</a:t>
            </a:r>
          </a:p>
        </p:txBody>
      </p:sp>
      <p:sp>
        <p:nvSpPr>
          <p:cNvPr id="3" name="yellow-accent-rule">
            <a:extLst xmlns:a="http://schemas.openxmlformats.org/drawingml/2006/main">
              <a:ext uri="{FF2B5EF4-FFF2-40B4-BE49-F238E27FC236}">
                <a16:creationId xmlns:a16="http://schemas.microsoft.com/office/drawing/2014/main" id="{85E9F026-C178-4681-9FF5-D1115666D04B}"/>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95FC41D1-5E5C-4EE6-BD90-6BBE321A426A}"/>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Ideate</a:t>
            </a:r>
          </a:p>
        </p:txBody>
      </p:sp>
      <p:sp>
        <p:nvSpPr>
          <p:cNvPr id="5" name="page">
            <a:extLst xmlns:a="http://schemas.openxmlformats.org/drawingml/2006/main">
              <a:ext uri="{FF2B5EF4-FFF2-40B4-BE49-F238E27FC236}">
                <a16:creationId xmlns:a16="http://schemas.microsoft.com/office/drawing/2014/main" id="{D415333D-162B-4862-BCF8-5FC8ED48D153}"/>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39</a:t>
            </a:r>
          </a:p>
        </p:txBody>
      </p:sp>
      <p:sp>
        <p:nvSpPr>
          <p:cNvPr id="6" name="statement-1">
            <a:extLst xmlns:a="http://schemas.openxmlformats.org/drawingml/2006/main">
              <a:ext uri="{FF2B5EF4-FFF2-40B4-BE49-F238E27FC236}">
                <a16:creationId xmlns:a16="http://schemas.microsoft.com/office/drawing/2014/main" id="{E39FDBF8-B17B-489A-8802-273CA4A2C454}"/>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Chose barangay selection, a temporary pin, and optional foreground location.</a:t>
            </a:r>
          </a:p>
        </p:txBody>
      </p:sp>
      <p:sp>
        <p:nvSpPr>
          <p:cNvPr id="7" name="statement-2">
            <a:extLst xmlns:a="http://schemas.openxmlformats.org/drawingml/2006/main">
              <a:ext uri="{FF2B5EF4-FFF2-40B4-BE49-F238E27FC236}">
                <a16:creationId xmlns:a16="http://schemas.microsoft.com/office/drawing/2014/main" id="{E64EFC72-E744-45B3-8796-8A38650A93B0}"/>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Placed scenario and location confirmation before assessment.</a:t>
            </a:r>
          </a:p>
        </p:txBody>
      </p:sp>
      <p:sp>
        <p:nvSpPr>
          <p:cNvPr id="8" name="statement-3">
            <a:extLst xmlns:a="http://schemas.openxmlformats.org/drawingml/2006/main">
              <a:ext uri="{FF2B5EF4-FFF2-40B4-BE49-F238E27FC236}">
                <a16:creationId xmlns:a16="http://schemas.microsoft.com/office/drawing/2014/main" id="{0E884662-311A-4A36-B06F-D7C4C0305830}"/>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Designed an explained result with geographic context.</a:t>
            </a:r>
          </a:p>
        </p:txBody>
      </p:sp>
      <p:sp>
        <p:nvSpPr>
          <p:cNvPr id="9" name="statement-4">
            <a:extLst xmlns:a="http://schemas.openxmlformats.org/drawingml/2006/main">
              <a:ext uri="{FF2B5EF4-FFF2-40B4-BE49-F238E27FC236}">
                <a16:creationId xmlns:a16="http://schemas.microsoft.com/office/drawing/2014/main" id="{B8B5B784-39DC-4CB4-A2A6-BA70CDD210FC}"/>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Organized preparedness content and controlled review workflows.</a:t>
            </a:r>
          </a:p>
        </p:txBody>
      </p:sp>
    </p:spTree>
    <p:extLst>
      <p:ext uri="{BB962C8B-B14F-4D97-AF65-F5344CB8AC3E}">
        <p14:creationId xmlns:p14="http://schemas.microsoft.com/office/powerpoint/2010/main" val="76655398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42D24E08-E922-4D61-803A-E6604AC54CE8}"/>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8D8D1BA9-B1AE-48BF-B54F-97BC09F15D94}"/>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Documented prototype views</a:t>
            </a:r>
          </a:p>
        </p:txBody>
      </p:sp>
      <p:sp>
        <p:nvSpPr>
          <p:cNvPr id="3" name="yellow-accent-rule">
            <a:extLst xmlns:a="http://schemas.openxmlformats.org/drawingml/2006/main">
              <a:ext uri="{FF2B5EF4-FFF2-40B4-BE49-F238E27FC236}">
                <a16:creationId xmlns:a16="http://schemas.microsoft.com/office/drawing/2014/main" id="{42C64EC2-0DCD-454D-B63D-94CDE79E034A}"/>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75B68536-5748-4430-8528-2A033E42132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Appendix 6, Appendix Figure 8; prototype periods not established</a:t>
            </a:r>
          </a:p>
        </p:txBody>
      </p:sp>
      <p:sp>
        <p:nvSpPr>
          <p:cNvPr id="5" name="page">
            <a:extLst xmlns:a="http://schemas.openxmlformats.org/drawingml/2006/main">
              <a:ext uri="{FF2B5EF4-FFF2-40B4-BE49-F238E27FC236}">
                <a16:creationId xmlns:a16="http://schemas.microsoft.com/office/drawing/2014/main" id="{210EF7FA-624B-48ED-ADD6-1D2A93AAF459}"/>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40</a:t>
            </a:r>
          </a:p>
        </p:txBody>
      </p:sp>
      <p:pic>
        <p:nvPicPr>
          <p:cNvPr id="6" name="">
            <a:extLst xmlns:a="http://schemas.openxmlformats.org/drawingml/2006/main">
              <a:ext uri="{FF2B5EF4-FFF2-40B4-BE49-F238E27FC236}">
                <a16:creationId xmlns:a16="http://schemas.microsoft.com/office/drawing/2014/main" id="{C4DCF046-C729-4555-B2F2-0E5B4ECC7F1A}"/>
              </a:ext>
            </a:extLst>
          </p:cNvPr>
          <p:cNvPicPr>
            <a:picLocks xmlns:a="http://schemas.openxmlformats.org/drawingml/2006/main" noChangeAspect="1"/>
          </p:cNvPicPr>
          <p:nvPr/>
        </p:nvPicPr>
        <p:blipFill>
          <a:blip xmlns:r="http://schemas.openxmlformats.org/officeDocument/2006/relationships" xmlns:a="http://schemas.openxmlformats.org/drawingml/2006/main" r:embed="R7fadccdd89b64397"/>
          <a:stretch xmlns:a="http://schemas.openxmlformats.org/drawingml/2006/main"/>
        </p:blipFill>
        <p:spPr>
          <a:xfrm xmlns:a="http://schemas.openxmlformats.org/drawingml/2006/main">
            <a:off x="2741305" y="2571750"/>
            <a:ext cx="2165965" cy="4572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4BE7D518-8B35-44F3-B080-88FAA5BD9D86}"/>
              </a:ext>
            </a:extLst>
          </p:cNvPr>
          <p:cNvPicPr>
            <a:picLocks xmlns:a="http://schemas.openxmlformats.org/drawingml/2006/main" noChangeAspect="1"/>
          </p:cNvPicPr>
          <p:nvPr/>
        </p:nvPicPr>
        <p:blipFill>
          <a:blip xmlns:r="http://schemas.openxmlformats.org/officeDocument/2006/relationships" xmlns:a="http://schemas.openxmlformats.org/drawingml/2006/main" r:embed="Re19ae5c4c16c4acb"/>
          <a:stretch xmlns:a="http://schemas.openxmlformats.org/drawingml/2006/main"/>
        </p:blipFill>
        <p:spPr>
          <a:xfrm xmlns:a="http://schemas.openxmlformats.org/drawingml/2006/main">
            <a:off x="9724087" y="2571750"/>
            <a:ext cx="2297401" cy="4572000"/>
          </a:xfrm>
          <a:prstGeom xmlns:a="http://schemas.openxmlformats.org/drawingml/2006/main" prst="rect">
            <a:avLst/>
          </a:prstGeom>
        </p:spPr>
      </p:pic>
      <p:sp>
        <p:nvSpPr>
          <p:cNvPr id="8" name="map-caption">
            <a:extLst xmlns:a="http://schemas.openxmlformats.org/drawingml/2006/main">
              <a:ext uri="{FF2B5EF4-FFF2-40B4-BE49-F238E27FC236}">
                <a16:creationId xmlns:a16="http://schemas.microsoft.com/office/drawing/2014/main" id="{60DE9635-5D77-4578-9041-7C09C13B879E}"/>
              </a:ext>
            </a:extLst>
          </p:cNvPr>
          <p:cNvSpPr>
            <a:spLocks xmlns:a="http://schemas.openxmlformats.org/drawingml/2006/main" noGrp="1"/>
          </p:cNvSpPr>
          <p:nvPr/>
        </p:nvSpPr>
        <p:spPr>
          <a:xfrm xmlns:a="http://schemas.openxmlformats.org/drawingml/2006/main">
            <a:off x="762000" y="7410450"/>
            <a:ext cx="676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a:solidFill>
                  <a:srgbClr val="182B45"/>
                </a:solidFill>
                <a:latin typeface="Arial"/>
                <a:ea typeface="Arial"/>
                <a:cs typeface="Arial"/>
              </a:defRPr>
            </a:defPPr>
            <a:lvl1pPr algn="ctr">
              <a:defRPr sz="2550" b="1">
                <a:solidFill>
                  <a:srgbClr val="182B45"/>
                </a:solidFill>
                <a:latin typeface="Arial"/>
                <a:ea typeface="Arial"/>
                <a:cs typeface="Arial"/>
              </a:defRPr>
            </a:lvl1pPr>
            <a:lvl2pPr algn="ctr">
              <a:defRPr sz="2550" b="1">
                <a:solidFill>
                  <a:srgbClr val="182B45"/>
                </a:solidFill>
                <a:latin typeface="Arial"/>
                <a:ea typeface="Arial"/>
                <a:cs typeface="Arial"/>
              </a:defRPr>
            </a:lvl2pPr>
            <a:lvl3pPr algn="ctr">
              <a:defRPr sz="2550" b="1">
                <a:solidFill>
                  <a:srgbClr val="182B45"/>
                </a:solidFill>
                <a:latin typeface="Arial"/>
                <a:ea typeface="Arial"/>
                <a:cs typeface="Arial"/>
              </a:defRPr>
            </a:lvl3pPr>
            <a:lvl4pPr algn="ctr">
              <a:defRPr sz="2550" b="1">
                <a:solidFill>
                  <a:srgbClr val="182B45"/>
                </a:solidFill>
                <a:latin typeface="Arial"/>
                <a:ea typeface="Arial"/>
                <a:cs typeface="Arial"/>
              </a:defRPr>
            </a:lvl4pPr>
            <a:lvl5pPr algn="ctr">
              <a:defRPr sz="2550" b="1">
                <a:solidFill>
                  <a:srgbClr val="182B45"/>
                </a:solidFill>
                <a:latin typeface="Arial"/>
                <a:ea typeface="Arial"/>
                <a:cs typeface="Arial"/>
              </a:defRPr>
            </a:lvl5pPr>
            <a:lvl6pPr algn="ctr">
              <a:defRPr sz="2550" b="1">
                <a:solidFill>
                  <a:srgbClr val="182B45"/>
                </a:solidFill>
                <a:latin typeface="Arial"/>
                <a:ea typeface="Arial"/>
                <a:cs typeface="Arial"/>
              </a:defRPr>
            </a:lvl6pPr>
            <a:lvl7pPr algn="ctr">
              <a:defRPr sz="2550" b="1">
                <a:solidFill>
                  <a:srgbClr val="182B45"/>
                </a:solidFill>
                <a:latin typeface="Arial"/>
                <a:ea typeface="Arial"/>
                <a:cs typeface="Arial"/>
              </a:defRPr>
            </a:lvl7pPr>
            <a:lvl8pPr algn="ctr">
              <a:defRPr sz="2550" b="1">
                <a:solidFill>
                  <a:srgbClr val="182B45"/>
                </a:solidFill>
                <a:latin typeface="Arial"/>
                <a:ea typeface="Arial"/>
                <a:cs typeface="Arial"/>
              </a:defRPr>
            </a:lvl8pPr>
            <a:lvl9pPr algn="ctr">
              <a:defRPr sz="2550" b="1">
                <a:solidFill>
                  <a:srgbClr val="182B45"/>
                </a:solidFill>
                <a:latin typeface="Arial"/>
                <a:ea typeface="Arial"/>
                <a:cs typeface="Arial"/>
              </a:defRPr>
            </a:lvl9pPr>
          </a:lstStyle>
          <a:p xmlns:a="http://schemas.openxmlformats.org/drawingml/2006/main">
            <a:pPr algn="ctr">
              <a:defRPr sz="2550" b="1">
                <a:solidFill>
                  <a:srgbClr val="182B45"/>
                </a:solidFill>
                <a:latin typeface="Arial"/>
                <a:ea typeface="Arial"/>
                <a:cs typeface="Arial"/>
              </a:defRPr>
            </a:pPr>
            <a:r>
              <a:rPr sz="2550" b="1">
                <a:solidFill>
                  <a:srgbClr val="182B45"/>
                </a:solidFill>
                <a:latin typeface="Arial"/>
                <a:ea typeface="Arial"/>
                <a:cs typeface="Arial"/>
              </a:rPr>
              <a:t>Map and scenario selection</a:t>
            </a:r>
          </a:p>
        </p:txBody>
      </p:sp>
      <p:sp>
        <p:nvSpPr>
          <p:cNvPr id="9" name="auth-caption">
            <a:extLst xmlns:a="http://schemas.openxmlformats.org/drawingml/2006/main">
              <a:ext uri="{FF2B5EF4-FFF2-40B4-BE49-F238E27FC236}">
                <a16:creationId xmlns:a16="http://schemas.microsoft.com/office/drawing/2014/main" id="{C9EB9E7C-9F12-4D80-B609-85DA0D3A26C0}"/>
              </a:ext>
            </a:extLst>
          </p:cNvPr>
          <p:cNvSpPr>
            <a:spLocks xmlns:a="http://schemas.openxmlformats.org/drawingml/2006/main" noGrp="1"/>
          </p:cNvSpPr>
          <p:nvPr/>
        </p:nvSpPr>
        <p:spPr>
          <a:xfrm xmlns:a="http://schemas.openxmlformats.org/drawingml/2006/main">
            <a:off x="7905750" y="7410450"/>
            <a:ext cx="657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1">
                <a:solidFill>
                  <a:srgbClr val="182B45"/>
                </a:solidFill>
                <a:latin typeface="Arial"/>
                <a:ea typeface="Arial"/>
                <a:cs typeface="Arial"/>
              </a:defRPr>
            </a:defPPr>
            <a:lvl1pPr algn="ctr">
              <a:defRPr sz="2550" b="1">
                <a:solidFill>
                  <a:srgbClr val="182B45"/>
                </a:solidFill>
                <a:latin typeface="Arial"/>
                <a:ea typeface="Arial"/>
                <a:cs typeface="Arial"/>
              </a:defRPr>
            </a:lvl1pPr>
            <a:lvl2pPr algn="ctr">
              <a:defRPr sz="2550" b="1">
                <a:solidFill>
                  <a:srgbClr val="182B45"/>
                </a:solidFill>
                <a:latin typeface="Arial"/>
                <a:ea typeface="Arial"/>
                <a:cs typeface="Arial"/>
              </a:defRPr>
            </a:lvl2pPr>
            <a:lvl3pPr algn="ctr">
              <a:defRPr sz="2550" b="1">
                <a:solidFill>
                  <a:srgbClr val="182B45"/>
                </a:solidFill>
                <a:latin typeface="Arial"/>
                <a:ea typeface="Arial"/>
                <a:cs typeface="Arial"/>
              </a:defRPr>
            </a:lvl3pPr>
            <a:lvl4pPr algn="ctr">
              <a:defRPr sz="2550" b="1">
                <a:solidFill>
                  <a:srgbClr val="182B45"/>
                </a:solidFill>
                <a:latin typeface="Arial"/>
                <a:ea typeface="Arial"/>
                <a:cs typeface="Arial"/>
              </a:defRPr>
            </a:lvl4pPr>
            <a:lvl5pPr algn="ctr">
              <a:defRPr sz="2550" b="1">
                <a:solidFill>
                  <a:srgbClr val="182B45"/>
                </a:solidFill>
                <a:latin typeface="Arial"/>
                <a:ea typeface="Arial"/>
                <a:cs typeface="Arial"/>
              </a:defRPr>
            </a:lvl5pPr>
            <a:lvl6pPr algn="ctr">
              <a:defRPr sz="2550" b="1">
                <a:solidFill>
                  <a:srgbClr val="182B45"/>
                </a:solidFill>
                <a:latin typeface="Arial"/>
                <a:ea typeface="Arial"/>
                <a:cs typeface="Arial"/>
              </a:defRPr>
            </a:lvl6pPr>
            <a:lvl7pPr algn="ctr">
              <a:defRPr sz="2550" b="1">
                <a:solidFill>
                  <a:srgbClr val="182B45"/>
                </a:solidFill>
                <a:latin typeface="Arial"/>
                <a:ea typeface="Arial"/>
                <a:cs typeface="Arial"/>
              </a:defRPr>
            </a:lvl7pPr>
            <a:lvl8pPr algn="ctr">
              <a:defRPr sz="2550" b="1">
                <a:solidFill>
                  <a:srgbClr val="182B45"/>
                </a:solidFill>
                <a:latin typeface="Arial"/>
                <a:ea typeface="Arial"/>
                <a:cs typeface="Arial"/>
              </a:defRPr>
            </a:lvl8pPr>
            <a:lvl9pPr algn="ctr">
              <a:defRPr sz="2550" b="1">
                <a:solidFill>
                  <a:srgbClr val="182B45"/>
                </a:solidFill>
                <a:latin typeface="Arial"/>
                <a:ea typeface="Arial"/>
                <a:cs typeface="Arial"/>
              </a:defRPr>
            </a:lvl9pPr>
          </a:lstStyle>
          <a:p xmlns:a="http://schemas.openxmlformats.org/drawingml/2006/main">
            <a:pPr algn="ctr">
              <a:defRPr sz="2550" b="1">
                <a:solidFill>
                  <a:srgbClr val="182B45"/>
                </a:solidFill>
                <a:latin typeface="Arial"/>
                <a:ea typeface="Arial"/>
                <a:cs typeface="Arial"/>
              </a:defRPr>
            </a:pPr>
            <a:r>
              <a:rPr sz="2550" b="1">
                <a:solidFill>
                  <a:srgbClr val="182B45"/>
                </a:solidFill>
                <a:latin typeface="Arial"/>
                <a:ea typeface="Arial"/>
                <a:cs typeface="Arial"/>
              </a:rPr>
              <a:t>Resident authentication</a:t>
            </a:r>
          </a:p>
        </p:txBody>
      </p:sp>
    </p:spTree>
    <p:extLst>
      <p:ext uri="{BB962C8B-B14F-4D97-AF65-F5344CB8AC3E}">
        <p14:creationId xmlns:p14="http://schemas.microsoft.com/office/powerpoint/2010/main" val="89287640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87454931-F42A-4A6C-B6EA-1EEA5CABE38A}"/>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A8FB2B1F-8C3E-4E82-9B15-9CAB539E6A6E}"/>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Evolutionary Prototyping</a:t>
            </a:r>
          </a:p>
        </p:txBody>
      </p:sp>
      <p:sp>
        <p:nvSpPr>
          <p:cNvPr id="3" name="yellow-accent-rule">
            <a:extLst xmlns:a="http://schemas.openxmlformats.org/drawingml/2006/main">
              <a:ext uri="{FF2B5EF4-FFF2-40B4-BE49-F238E27FC236}">
                <a16:creationId xmlns:a16="http://schemas.microsoft.com/office/drawing/2014/main" id="{AC5F312A-C052-4BBC-86AD-AFB18A033474}"/>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78698881-0719-456E-9E56-C332B54460A6}"/>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Manuscript Figure 3; model based on Saad et al. (2023)</a:t>
            </a:r>
          </a:p>
        </p:txBody>
      </p:sp>
      <p:sp>
        <p:nvSpPr>
          <p:cNvPr id="5" name="page">
            <a:extLst xmlns:a="http://schemas.openxmlformats.org/drawingml/2006/main">
              <a:ext uri="{FF2B5EF4-FFF2-40B4-BE49-F238E27FC236}">
                <a16:creationId xmlns:a16="http://schemas.microsoft.com/office/drawing/2014/main" id="{C4BC815A-6C5E-4371-8315-BDCBFB64C65A}"/>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41</a:t>
            </a:r>
          </a:p>
        </p:txBody>
      </p:sp>
      <p:pic>
        <p:nvPicPr>
          <p:cNvPr id="6" name="">
            <a:extLst xmlns:a="http://schemas.openxmlformats.org/drawingml/2006/main">
              <a:ext uri="{FF2B5EF4-FFF2-40B4-BE49-F238E27FC236}">
                <a16:creationId xmlns:a16="http://schemas.microsoft.com/office/drawing/2014/main" id="{E18A4CC1-A06E-4D04-BD0F-79F6D1B462A5}"/>
              </a:ext>
            </a:extLst>
          </p:cNvPr>
          <p:cNvPicPr>
            <a:picLocks xmlns:a="http://schemas.openxmlformats.org/drawingml/2006/main" noChangeAspect="1"/>
          </p:cNvPicPr>
          <p:nvPr/>
        </p:nvPicPr>
        <p:blipFill>
          <a:blip xmlns:r="http://schemas.openxmlformats.org/officeDocument/2006/relationships" xmlns:a="http://schemas.openxmlformats.org/drawingml/2006/main" r:embed="R7eb931ec342846cc"/>
          <a:stretch xmlns:a="http://schemas.openxmlformats.org/drawingml/2006/main"/>
        </p:blipFill>
        <p:spPr>
          <a:xfrm xmlns:a="http://schemas.openxmlformats.org/drawingml/2006/main">
            <a:off x="3448050" y="2371725"/>
            <a:ext cx="8343900" cy="5562600"/>
          </a:xfrm>
          <a:prstGeom xmlns:a="http://schemas.openxmlformats.org/drawingml/2006/main" prst="rect">
            <a:avLst/>
          </a:prstGeom>
        </p:spPr>
      </p:pic>
      <p:sp>
        <p:nvSpPr>
          <p:cNvPr id="7" name="model-qualification">
            <a:extLst xmlns:a="http://schemas.openxmlformats.org/drawingml/2006/main">
              <a:ext uri="{FF2B5EF4-FFF2-40B4-BE49-F238E27FC236}">
                <a16:creationId xmlns:a16="http://schemas.microsoft.com/office/drawing/2014/main" id="{106DABC6-901C-4792-83CE-D216173CAD18}"/>
              </a:ext>
            </a:extLst>
          </p:cNvPr>
          <p:cNvSpPr>
            <a:spLocks xmlns:a="http://schemas.openxmlformats.org/drawingml/2006/main" noGrp="1"/>
          </p:cNvSpPr>
          <p:nvPr/>
        </p:nvSpPr>
        <p:spPr>
          <a:xfrm xmlns:a="http://schemas.openxmlformats.org/drawingml/2006/main">
            <a:off x="762000" y="7553325"/>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82B45"/>
                </a:solidFill>
                <a:latin typeface="Arial"/>
                <a:ea typeface="Arial"/>
                <a:cs typeface="Arial"/>
              </a:defRPr>
            </a:defPPr>
            <a:lvl1pPr algn="l">
              <a:defRPr sz="2250" b="0">
                <a:solidFill>
                  <a:srgbClr val="182B45"/>
                </a:solidFill>
                <a:latin typeface="Arial"/>
                <a:ea typeface="Arial"/>
                <a:cs typeface="Arial"/>
              </a:defRPr>
            </a:lvl1pPr>
            <a:lvl2pPr algn="l">
              <a:defRPr sz="2250" b="0">
                <a:solidFill>
                  <a:srgbClr val="182B45"/>
                </a:solidFill>
                <a:latin typeface="Arial"/>
                <a:ea typeface="Arial"/>
                <a:cs typeface="Arial"/>
              </a:defRPr>
            </a:lvl2pPr>
            <a:lvl3pPr algn="l">
              <a:defRPr sz="2250" b="0">
                <a:solidFill>
                  <a:srgbClr val="182B45"/>
                </a:solidFill>
                <a:latin typeface="Arial"/>
                <a:ea typeface="Arial"/>
                <a:cs typeface="Arial"/>
              </a:defRPr>
            </a:lvl3pPr>
            <a:lvl4pPr algn="l">
              <a:defRPr sz="2250" b="0">
                <a:solidFill>
                  <a:srgbClr val="182B45"/>
                </a:solidFill>
                <a:latin typeface="Arial"/>
                <a:ea typeface="Arial"/>
                <a:cs typeface="Arial"/>
              </a:defRPr>
            </a:lvl4pPr>
            <a:lvl5pPr algn="l">
              <a:defRPr sz="2250" b="0">
                <a:solidFill>
                  <a:srgbClr val="182B45"/>
                </a:solidFill>
                <a:latin typeface="Arial"/>
                <a:ea typeface="Arial"/>
                <a:cs typeface="Arial"/>
              </a:defRPr>
            </a:lvl5pPr>
            <a:lvl6pPr algn="l">
              <a:defRPr sz="2250" b="0">
                <a:solidFill>
                  <a:srgbClr val="182B45"/>
                </a:solidFill>
                <a:latin typeface="Arial"/>
                <a:ea typeface="Arial"/>
                <a:cs typeface="Arial"/>
              </a:defRPr>
            </a:lvl6pPr>
            <a:lvl7pPr algn="l">
              <a:defRPr sz="2250" b="0">
                <a:solidFill>
                  <a:srgbClr val="182B45"/>
                </a:solidFill>
                <a:latin typeface="Arial"/>
                <a:ea typeface="Arial"/>
                <a:cs typeface="Arial"/>
              </a:defRPr>
            </a:lvl7pPr>
            <a:lvl8pPr algn="l">
              <a:defRPr sz="2250" b="0">
                <a:solidFill>
                  <a:srgbClr val="182B45"/>
                </a:solidFill>
                <a:latin typeface="Arial"/>
                <a:ea typeface="Arial"/>
                <a:cs typeface="Arial"/>
              </a:defRPr>
            </a:lvl8pPr>
            <a:lvl9pPr algn="l">
              <a:defRPr sz="2250" b="0">
                <a:solidFill>
                  <a:srgbClr val="182B45"/>
                </a:solidFill>
                <a:latin typeface="Arial"/>
                <a:ea typeface="Arial"/>
                <a:cs typeface="Arial"/>
              </a:defRPr>
            </a:lvl9pPr>
          </a:lstStyle>
          <a:p xmlns:a="http://schemas.openxmlformats.org/drawingml/2006/main">
            <a:pPr algn="l">
              <a:defRPr sz="2250" b="0">
                <a:solidFill>
                  <a:srgbClr val="182B45"/>
                </a:solidFill>
                <a:latin typeface="Arial"/>
                <a:ea typeface="Arial"/>
                <a:cs typeface="Arial"/>
              </a:defRPr>
            </a:pPr>
            <a:r>
              <a:rPr sz="2250" b="0">
                <a:solidFill>
                  <a:srgbClr val="182B45"/>
                </a:solidFill>
                <a:latin typeface="Arial"/>
                <a:ea typeface="Arial"/>
                <a:cs typeface="Arial"/>
              </a:rPr>
              <a:t>Model overview. Formal user evaluation and final deployment remain planned.</a:t>
            </a:r>
          </a:p>
        </p:txBody>
      </p:sp>
    </p:spTree>
    <p:extLst>
      <p:ext uri="{BB962C8B-B14F-4D97-AF65-F5344CB8AC3E}">
        <p14:creationId xmlns:p14="http://schemas.microsoft.com/office/powerpoint/2010/main" val="1823436519"/>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FF6CC4C2-C386-4858-9D6C-9E03AAE24D7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43F7A993-945A-4115-9BAD-3DAACC90BFD4}"/>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Refinement and release conditions</a:t>
            </a:r>
          </a:p>
        </p:txBody>
      </p:sp>
      <p:sp>
        <p:nvSpPr>
          <p:cNvPr id="3" name="yellow-accent-rule">
            <a:extLst xmlns:a="http://schemas.openxmlformats.org/drawingml/2006/main">
              <a:ext uri="{FF2B5EF4-FFF2-40B4-BE49-F238E27FC236}">
                <a16:creationId xmlns:a16="http://schemas.microsoft.com/office/drawing/2014/main" id="{97CB750B-B55D-49AC-B078-1F043AAD9622}"/>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22561F17-4542-41B2-B76E-9E18FD241DF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Prototype; Saad et al. (2023)</a:t>
            </a:r>
          </a:p>
        </p:txBody>
      </p:sp>
      <p:sp>
        <p:nvSpPr>
          <p:cNvPr id="5" name="page">
            <a:extLst xmlns:a="http://schemas.openxmlformats.org/drawingml/2006/main">
              <a:ext uri="{FF2B5EF4-FFF2-40B4-BE49-F238E27FC236}">
                <a16:creationId xmlns:a16="http://schemas.microsoft.com/office/drawing/2014/main" id="{9516E9DF-E205-41C0-9DC7-E44CE471A017}"/>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42</a:t>
            </a:r>
          </a:p>
        </p:txBody>
      </p:sp>
      <p:sp>
        <p:nvSpPr>
          <p:cNvPr id="6" name="row-1-label">
            <a:extLst xmlns:a="http://schemas.openxmlformats.org/drawingml/2006/main">
              <a:ext uri="{FF2B5EF4-FFF2-40B4-BE49-F238E27FC236}">
                <a16:creationId xmlns:a16="http://schemas.microsoft.com/office/drawing/2014/main" id="{4D16FA58-DFCF-40E8-B3D0-205555C15407}"/>
              </a:ext>
            </a:extLst>
          </p:cNvPr>
          <p:cNvSpPr>
            <a:spLocks xmlns:a="http://schemas.openxmlformats.org/drawingml/2006/main" noGrp="1"/>
          </p:cNvSpPr>
          <p:nvPr/>
        </p:nvSpPr>
        <p:spPr>
          <a:xfrm xmlns:a="http://schemas.openxmlformats.org/drawingml/2006/main">
            <a:off x="762000" y="266700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Entry</a:t>
            </a:r>
          </a:p>
        </p:txBody>
      </p:sp>
      <p:sp>
        <p:nvSpPr>
          <p:cNvPr id="7" name="row-1-text">
            <a:extLst xmlns:a="http://schemas.openxmlformats.org/drawingml/2006/main">
              <a:ext uri="{FF2B5EF4-FFF2-40B4-BE49-F238E27FC236}">
                <a16:creationId xmlns:a16="http://schemas.microsoft.com/office/drawing/2014/main" id="{CD94BB5B-5688-4E8B-B0C3-1FDADB4083E8}"/>
              </a:ext>
            </a:extLst>
          </p:cNvPr>
          <p:cNvSpPr>
            <a:spLocks xmlns:a="http://schemas.openxmlformats.org/drawingml/2006/main" noGrp="1"/>
          </p:cNvSpPr>
          <p:nvPr/>
        </p:nvSpPr>
        <p:spPr>
          <a:xfrm xmlns:a="http://schemas.openxmlformats.org/drawingml/2006/main">
            <a:off x="3848100" y="2667000"/>
            <a:ext cx="10620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Requirement Analysis informs Design.</a:t>
            </a:r>
          </a:p>
        </p:txBody>
      </p:sp>
      <p:sp>
        <p:nvSpPr>
          <p:cNvPr id="8" name="row-2-label">
            <a:extLst xmlns:a="http://schemas.openxmlformats.org/drawingml/2006/main">
              <a:ext uri="{FF2B5EF4-FFF2-40B4-BE49-F238E27FC236}">
                <a16:creationId xmlns:a16="http://schemas.microsoft.com/office/drawing/2014/main" id="{747CF9B1-D032-4725-971C-2F789C1F1371}"/>
              </a:ext>
            </a:extLst>
          </p:cNvPr>
          <p:cNvSpPr>
            <a:spLocks xmlns:a="http://schemas.openxmlformats.org/drawingml/2006/main" noGrp="1"/>
          </p:cNvSpPr>
          <p:nvPr/>
        </p:nvSpPr>
        <p:spPr>
          <a:xfrm xmlns:a="http://schemas.openxmlformats.org/drawingml/2006/main">
            <a:off x="762000" y="381000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Construction</a:t>
            </a:r>
          </a:p>
        </p:txBody>
      </p:sp>
      <p:sp>
        <p:nvSpPr>
          <p:cNvPr id="9" name="row-2-text">
            <a:extLst xmlns:a="http://schemas.openxmlformats.org/drawingml/2006/main">
              <a:ext uri="{FF2B5EF4-FFF2-40B4-BE49-F238E27FC236}">
                <a16:creationId xmlns:a16="http://schemas.microsoft.com/office/drawing/2014/main" id="{72AA2538-4072-4A84-BFBF-3C7AC02F6538}"/>
              </a:ext>
            </a:extLst>
          </p:cNvPr>
          <p:cNvSpPr>
            <a:spLocks xmlns:a="http://schemas.openxmlformats.org/drawingml/2006/main" noGrp="1"/>
          </p:cNvSpPr>
          <p:nvPr/>
        </p:nvSpPr>
        <p:spPr>
          <a:xfrm xmlns:a="http://schemas.openxmlformats.org/drawingml/2006/main">
            <a:off x="3848100" y="3810000"/>
            <a:ext cx="10620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Building and Prototyping produces a working version for review.</a:t>
            </a:r>
          </a:p>
        </p:txBody>
      </p:sp>
      <p:sp>
        <p:nvSpPr>
          <p:cNvPr id="10" name="row-3-label">
            <a:extLst xmlns:a="http://schemas.openxmlformats.org/drawingml/2006/main">
              <a:ext uri="{FF2B5EF4-FFF2-40B4-BE49-F238E27FC236}">
                <a16:creationId xmlns:a16="http://schemas.microsoft.com/office/drawing/2014/main" id="{DE029AD4-1792-419A-929A-61F518A1E935}"/>
              </a:ext>
            </a:extLst>
          </p:cNvPr>
          <p:cNvSpPr>
            <a:spLocks xmlns:a="http://schemas.openxmlformats.org/drawingml/2006/main" noGrp="1"/>
          </p:cNvSpPr>
          <p:nvPr/>
        </p:nvSpPr>
        <p:spPr>
          <a:xfrm xmlns:a="http://schemas.openxmlformats.org/drawingml/2006/main">
            <a:off x="762000" y="495300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Refinement</a:t>
            </a:r>
          </a:p>
        </p:txBody>
      </p:sp>
      <p:sp>
        <p:nvSpPr>
          <p:cNvPr id="11" name="row-3-text">
            <a:extLst xmlns:a="http://schemas.openxmlformats.org/drawingml/2006/main">
              <a:ext uri="{FF2B5EF4-FFF2-40B4-BE49-F238E27FC236}">
                <a16:creationId xmlns:a16="http://schemas.microsoft.com/office/drawing/2014/main" id="{CD19DA74-47F5-4C7E-AA6F-9D0B207E729F}"/>
              </a:ext>
            </a:extLst>
          </p:cNvPr>
          <p:cNvSpPr>
            <a:spLocks xmlns:a="http://schemas.openxmlformats.org/drawingml/2006/main" noGrp="1"/>
          </p:cNvSpPr>
          <p:nvPr/>
        </p:nvSpPr>
        <p:spPr>
          <a:xfrm xmlns:a="http://schemas.openxmlformats.org/drawingml/2006/main">
            <a:off x="3848100" y="4953000"/>
            <a:ext cx="10620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Evaluation by Customer can lead to Refining Prototype, then back to Design.</a:t>
            </a:r>
          </a:p>
        </p:txBody>
      </p:sp>
      <p:sp>
        <p:nvSpPr>
          <p:cNvPr id="12" name="row-4-label">
            <a:extLst xmlns:a="http://schemas.openxmlformats.org/drawingml/2006/main">
              <a:ext uri="{FF2B5EF4-FFF2-40B4-BE49-F238E27FC236}">
                <a16:creationId xmlns:a16="http://schemas.microsoft.com/office/drawing/2014/main" id="{A2D2F9F7-BD5E-4280-8679-2A52FD91A9BD}"/>
              </a:ext>
            </a:extLst>
          </p:cNvPr>
          <p:cNvSpPr>
            <a:spLocks xmlns:a="http://schemas.openxmlformats.org/drawingml/2006/main" noGrp="1"/>
          </p:cNvSpPr>
          <p:nvPr/>
        </p:nvSpPr>
        <p:spPr>
          <a:xfrm xmlns:a="http://schemas.openxmlformats.org/drawingml/2006/main">
            <a:off x="762000" y="6096000"/>
            <a:ext cx="2857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Release</a:t>
            </a:r>
          </a:p>
        </p:txBody>
      </p:sp>
      <p:sp>
        <p:nvSpPr>
          <p:cNvPr id="13" name="row-4-text">
            <a:extLst xmlns:a="http://schemas.openxmlformats.org/drawingml/2006/main">
              <a:ext uri="{FF2B5EF4-FFF2-40B4-BE49-F238E27FC236}">
                <a16:creationId xmlns:a16="http://schemas.microsoft.com/office/drawing/2014/main" id="{37975DC6-2617-4C95-A94D-74DF7E4F81B9}"/>
              </a:ext>
            </a:extLst>
          </p:cNvPr>
          <p:cNvSpPr>
            <a:spLocks xmlns:a="http://schemas.openxmlformats.org/drawingml/2006/main" noGrp="1"/>
          </p:cNvSpPr>
          <p:nvPr/>
        </p:nvSpPr>
        <p:spPr>
          <a:xfrm xmlns:a="http://schemas.openxmlformats.org/drawingml/2006/main">
            <a:off x="3848100" y="6096000"/>
            <a:ext cx="106203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Final Product Deployment follows the model’s requirements-met condition.</a:t>
            </a:r>
          </a:p>
        </p:txBody>
      </p:sp>
    </p:spTree>
    <p:extLst>
      <p:ext uri="{BB962C8B-B14F-4D97-AF65-F5344CB8AC3E}">
        <p14:creationId xmlns:p14="http://schemas.microsoft.com/office/powerpoint/2010/main" val="92252207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EEE9D684-F2F2-4490-9C8E-DB1F703A9762}"/>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93B18C8D-8071-4023-8C3D-1D7CD0ECAA12}"/>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Documented development work</a:t>
            </a:r>
          </a:p>
        </p:txBody>
      </p:sp>
      <p:sp>
        <p:nvSpPr>
          <p:cNvPr id="3" name="yellow-accent-rule">
            <a:extLst xmlns:a="http://schemas.openxmlformats.org/drawingml/2006/main">
              <a:ext uri="{FF2B5EF4-FFF2-40B4-BE49-F238E27FC236}">
                <a16:creationId xmlns:a16="http://schemas.microsoft.com/office/drawing/2014/main" id="{2C6C6037-44C4-4D5A-9260-2F7F6CB6BA0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F5F98673-AFDC-41D2-AFB0-CE1B7DD70DAD}"/>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Prototype</a:t>
            </a:r>
          </a:p>
        </p:txBody>
      </p:sp>
      <p:sp>
        <p:nvSpPr>
          <p:cNvPr id="5" name="page">
            <a:extLst xmlns:a="http://schemas.openxmlformats.org/drawingml/2006/main">
              <a:ext uri="{FF2B5EF4-FFF2-40B4-BE49-F238E27FC236}">
                <a16:creationId xmlns:a16="http://schemas.microsoft.com/office/drawing/2014/main" id="{33FC3083-61ED-4C42-9C90-2E95939421D8}"/>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43</a:t>
            </a:r>
          </a:p>
        </p:txBody>
      </p:sp>
      <p:sp>
        <p:nvSpPr>
          <p:cNvPr id="6" name="statement-1">
            <a:extLst xmlns:a="http://schemas.openxmlformats.org/drawingml/2006/main">
              <a:ext uri="{FF2B5EF4-FFF2-40B4-BE49-F238E27FC236}">
                <a16:creationId xmlns:a16="http://schemas.microsoft.com/office/drawing/2014/main" id="{DCD0E053-8E52-45E0-B259-BA64A71B0261}"/>
              </a:ext>
            </a:extLst>
          </p:cNvPr>
          <p:cNvSpPr>
            <a:spLocks xmlns:a="http://schemas.openxmlformats.org/drawingml/2006/main" noGrp="1"/>
          </p:cNvSpPr>
          <p:nvPr/>
        </p:nvSpPr>
        <p:spPr>
          <a:xfrm xmlns:a="http://schemas.openxmlformats.org/drawingml/2006/main">
            <a:off x="762000" y="274320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Connected Flutter/Dart with Django services and PostgreSQL/PostGIS.</a:t>
            </a:r>
          </a:p>
        </p:txBody>
      </p:sp>
      <p:sp>
        <p:nvSpPr>
          <p:cNvPr id="7" name="statement-2">
            <a:extLst xmlns:a="http://schemas.openxmlformats.org/drawingml/2006/main">
              <a:ext uri="{FF2B5EF4-FFF2-40B4-BE49-F238E27FC236}">
                <a16:creationId xmlns:a16="http://schemas.microsoft.com/office/drawing/2014/main" id="{D3D570AA-D6A9-4260-B929-7FD4508E9AC5}"/>
              </a:ext>
            </a:extLst>
          </p:cNvPr>
          <p:cNvSpPr>
            <a:spLocks xmlns:a="http://schemas.openxmlformats.org/drawingml/2006/main" noGrp="1"/>
          </p:cNvSpPr>
          <p:nvPr/>
        </p:nvSpPr>
        <p:spPr>
          <a:xfrm xmlns:a="http://schemas.openxmlformats.org/drawingml/2006/main">
            <a:off x="762000" y="391477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Integrated location resolution, assessment flow, and center lookup.</a:t>
            </a:r>
          </a:p>
        </p:txBody>
      </p:sp>
      <p:sp>
        <p:nvSpPr>
          <p:cNvPr id="8" name="statement-3">
            <a:extLst xmlns:a="http://schemas.openxmlformats.org/drawingml/2006/main">
              <a:ext uri="{FF2B5EF4-FFF2-40B4-BE49-F238E27FC236}">
                <a16:creationId xmlns:a16="http://schemas.microsoft.com/office/drawing/2014/main" id="{973E2F6E-B79A-4FFB-A113-9480C6449153}"/>
              </a:ext>
            </a:extLst>
          </p:cNvPr>
          <p:cNvSpPr>
            <a:spLocks xmlns:a="http://schemas.openxmlformats.org/drawingml/2006/main" noGrp="1"/>
          </p:cNvSpPr>
          <p:nvPr/>
        </p:nvSpPr>
        <p:spPr>
          <a:xfrm xmlns:a="http://schemas.openxmlformats.org/drawingml/2006/main">
            <a:off x="762000" y="5086350"/>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Refined authentication, map interaction, and account navigation.</a:t>
            </a:r>
          </a:p>
        </p:txBody>
      </p:sp>
      <p:sp>
        <p:nvSpPr>
          <p:cNvPr id="9" name="statement-4">
            <a:extLst xmlns:a="http://schemas.openxmlformats.org/drawingml/2006/main">
              <a:ext uri="{FF2B5EF4-FFF2-40B4-BE49-F238E27FC236}">
                <a16:creationId xmlns:a16="http://schemas.microsoft.com/office/drawing/2014/main" id="{8C450D16-0C13-4E13-9EED-21E8459FFA7F}"/>
              </a:ext>
            </a:extLst>
          </p:cNvPr>
          <p:cNvSpPr>
            <a:spLocks xmlns:a="http://schemas.openxmlformats.org/drawingml/2006/main" noGrp="1"/>
          </p:cNvSpPr>
          <p:nvPr/>
        </p:nvSpPr>
        <p:spPr>
          <a:xfrm xmlns:a="http://schemas.openxmlformats.org/drawingml/2006/main">
            <a:off x="762000" y="6257925"/>
            <a:ext cx="13716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Extended controlled content review, imports, and audit records.</a:t>
            </a:r>
          </a:p>
        </p:txBody>
      </p:sp>
    </p:spTree>
    <p:extLst>
      <p:ext uri="{BB962C8B-B14F-4D97-AF65-F5344CB8AC3E}">
        <p14:creationId xmlns:p14="http://schemas.microsoft.com/office/powerpoint/2010/main" val="17416054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ection">
            <a:extLst xmlns:a="http://schemas.openxmlformats.org/drawingml/2006/main">
              <a:ext uri="{FF2B5EF4-FFF2-40B4-BE49-F238E27FC236}">
                <a16:creationId xmlns:a16="http://schemas.microsoft.com/office/drawing/2014/main" id="{C5E65568-D0E6-4902-AF7B-AFC988F427F9}"/>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9FB6E9E9-0EB5-4183-AEC3-F956D6292FEA}"/>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Technical testing</a:t>
            </a:r>
          </a:p>
        </p:txBody>
      </p:sp>
      <p:sp>
        <p:nvSpPr>
          <p:cNvPr id="3" name="yellow-accent-rule">
            <a:extLst xmlns:a="http://schemas.openxmlformats.org/drawingml/2006/main">
              <a:ext uri="{FF2B5EF4-FFF2-40B4-BE49-F238E27FC236}">
                <a16:creationId xmlns:a16="http://schemas.microsoft.com/office/drawing/2014/main" id="{3312BFF4-B9C9-4A80-8DD1-B9D6875AF2B3}"/>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652DB888-51C2-4903-A0F6-D663B2FFF7A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Materials and Test</a:t>
            </a:r>
          </a:p>
        </p:txBody>
      </p:sp>
      <p:sp>
        <p:nvSpPr>
          <p:cNvPr id="5" name="page">
            <a:extLst xmlns:a="http://schemas.openxmlformats.org/drawingml/2006/main">
              <a:ext uri="{FF2B5EF4-FFF2-40B4-BE49-F238E27FC236}">
                <a16:creationId xmlns:a16="http://schemas.microsoft.com/office/drawing/2014/main" id="{34B6CD24-C3A2-49FC-AA7B-9A1A32592115}"/>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44</a:t>
            </a:r>
          </a:p>
        </p:txBody>
      </p:sp>
      <p:sp>
        <p:nvSpPr>
          <p:cNvPr id="6" name="row-1-label">
            <a:extLst xmlns:a="http://schemas.openxmlformats.org/drawingml/2006/main">
              <a:ext uri="{FF2B5EF4-FFF2-40B4-BE49-F238E27FC236}">
                <a16:creationId xmlns:a16="http://schemas.microsoft.com/office/drawing/2014/main" id="{B64F0AD2-BE5F-424D-A1CB-F6CC96747ECC}"/>
              </a:ext>
            </a:extLst>
          </p:cNvPr>
          <p:cNvSpPr>
            <a:spLocks xmlns:a="http://schemas.openxmlformats.org/drawingml/2006/main" noGrp="1"/>
          </p:cNvSpPr>
          <p:nvPr/>
        </p:nvSpPr>
        <p:spPr>
          <a:xfrm xmlns:a="http://schemas.openxmlformats.org/drawingml/2006/main">
            <a:off x="762000" y="2667000"/>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Hardware</a:t>
            </a:r>
          </a:p>
        </p:txBody>
      </p:sp>
      <p:sp>
        <p:nvSpPr>
          <p:cNvPr id="7" name="row-1-text">
            <a:extLst xmlns:a="http://schemas.openxmlformats.org/drawingml/2006/main">
              <a:ext uri="{FF2B5EF4-FFF2-40B4-BE49-F238E27FC236}">
                <a16:creationId xmlns:a16="http://schemas.microsoft.com/office/drawing/2014/main" id="{0449076E-2493-433D-9471-0DBCD23B36F7}"/>
              </a:ext>
            </a:extLst>
          </p:cNvPr>
          <p:cNvSpPr>
            <a:spLocks xmlns:a="http://schemas.openxmlformats.org/drawingml/2006/main" noGrp="1"/>
          </p:cNvSpPr>
          <p:nvPr/>
        </p:nvSpPr>
        <p:spPr>
          <a:xfrm xmlns:a="http://schemas.openxmlformats.org/drawingml/2006/main">
            <a:off x="4038600" y="2667000"/>
            <a:ext cx="10429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Android smartphone and laptop computer</a:t>
            </a:r>
          </a:p>
        </p:txBody>
      </p:sp>
      <p:sp>
        <p:nvSpPr>
          <p:cNvPr id="8" name="row-2-label">
            <a:extLst xmlns:a="http://schemas.openxmlformats.org/drawingml/2006/main">
              <a:ext uri="{FF2B5EF4-FFF2-40B4-BE49-F238E27FC236}">
                <a16:creationId xmlns:a16="http://schemas.microsoft.com/office/drawing/2014/main" id="{B447C6BB-8E16-47FD-9B90-80343B8AF6FD}"/>
              </a:ext>
            </a:extLst>
          </p:cNvPr>
          <p:cNvSpPr>
            <a:spLocks xmlns:a="http://schemas.openxmlformats.org/drawingml/2006/main" noGrp="1"/>
          </p:cNvSpPr>
          <p:nvPr/>
        </p:nvSpPr>
        <p:spPr>
          <a:xfrm xmlns:a="http://schemas.openxmlformats.org/drawingml/2006/main">
            <a:off x="762000" y="3810000"/>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Behavior</a:t>
            </a:r>
          </a:p>
        </p:txBody>
      </p:sp>
      <p:sp>
        <p:nvSpPr>
          <p:cNvPr id="9" name="row-2-text">
            <a:extLst xmlns:a="http://schemas.openxmlformats.org/drawingml/2006/main">
              <a:ext uri="{FF2B5EF4-FFF2-40B4-BE49-F238E27FC236}">
                <a16:creationId xmlns:a16="http://schemas.microsoft.com/office/drawing/2014/main" id="{875ADF27-FFC1-4B4B-9B04-6F4D7A15D99A}"/>
              </a:ext>
            </a:extLst>
          </p:cNvPr>
          <p:cNvSpPr>
            <a:spLocks xmlns:a="http://schemas.openxmlformats.org/drawingml/2006/main" noGrp="1"/>
          </p:cNvSpPr>
          <p:nvPr/>
        </p:nvSpPr>
        <p:spPr>
          <a:xfrm xmlns:a="http://schemas.openxmlformats.org/drawingml/2006/main">
            <a:off x="4038600" y="3810000"/>
            <a:ext cx="10429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Inputs, permission states, location resolution, and center lookup</a:t>
            </a:r>
          </a:p>
        </p:txBody>
      </p:sp>
      <p:sp>
        <p:nvSpPr>
          <p:cNvPr id="10" name="row-3-label">
            <a:extLst xmlns:a="http://schemas.openxmlformats.org/drawingml/2006/main">
              <a:ext uri="{FF2B5EF4-FFF2-40B4-BE49-F238E27FC236}">
                <a16:creationId xmlns:a16="http://schemas.microsoft.com/office/drawing/2014/main" id="{9FF2F439-3B5C-4AD1-AD09-74AAF0487883}"/>
              </a:ext>
            </a:extLst>
          </p:cNvPr>
          <p:cNvSpPr>
            <a:spLocks xmlns:a="http://schemas.openxmlformats.org/drawingml/2006/main" noGrp="1"/>
          </p:cNvSpPr>
          <p:nvPr/>
        </p:nvSpPr>
        <p:spPr>
          <a:xfrm xmlns:a="http://schemas.openxmlformats.org/drawingml/2006/main">
            <a:off x="762000" y="4953000"/>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Administration</a:t>
            </a:r>
          </a:p>
        </p:txBody>
      </p:sp>
      <p:sp>
        <p:nvSpPr>
          <p:cNvPr id="11" name="row-3-text">
            <a:extLst xmlns:a="http://schemas.openxmlformats.org/drawingml/2006/main">
              <a:ext uri="{FF2B5EF4-FFF2-40B4-BE49-F238E27FC236}">
                <a16:creationId xmlns:a16="http://schemas.microsoft.com/office/drawing/2014/main" id="{77EB06E6-63A6-40AE-BCFD-C554B0AEE4F5}"/>
              </a:ext>
            </a:extLst>
          </p:cNvPr>
          <p:cNvSpPr>
            <a:spLocks xmlns:a="http://schemas.openxmlformats.org/drawingml/2006/main" noGrp="1"/>
          </p:cNvSpPr>
          <p:nvPr/>
        </p:nvSpPr>
        <p:spPr>
          <a:xfrm xmlns:a="http://schemas.openxmlformats.org/drawingml/2006/main">
            <a:off x="4038600" y="4953000"/>
            <a:ext cx="10429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Access controls, validation, review transitions, and audit records</a:t>
            </a:r>
          </a:p>
        </p:txBody>
      </p:sp>
      <p:sp>
        <p:nvSpPr>
          <p:cNvPr id="12" name="row-4-label">
            <a:extLst xmlns:a="http://schemas.openxmlformats.org/drawingml/2006/main">
              <a:ext uri="{FF2B5EF4-FFF2-40B4-BE49-F238E27FC236}">
                <a16:creationId xmlns:a16="http://schemas.microsoft.com/office/drawing/2014/main" id="{BCD24544-958E-45C9-8B75-C325300979AB}"/>
              </a:ext>
            </a:extLst>
          </p:cNvPr>
          <p:cNvSpPr>
            <a:spLocks xmlns:a="http://schemas.openxmlformats.org/drawingml/2006/main" noGrp="1"/>
          </p:cNvSpPr>
          <p:nvPr/>
        </p:nvSpPr>
        <p:spPr>
          <a:xfrm xmlns:a="http://schemas.openxmlformats.org/drawingml/2006/main">
            <a:off x="762000" y="6096000"/>
            <a:ext cx="304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Regression</a:t>
            </a:r>
          </a:p>
        </p:txBody>
      </p:sp>
      <p:sp>
        <p:nvSpPr>
          <p:cNvPr id="13" name="row-4-text">
            <a:extLst xmlns:a="http://schemas.openxmlformats.org/drawingml/2006/main">
              <a:ext uri="{FF2B5EF4-FFF2-40B4-BE49-F238E27FC236}">
                <a16:creationId xmlns:a16="http://schemas.microsoft.com/office/drawing/2014/main" id="{D4B80CC2-64E9-4734-AE51-9F8DFC2206A4}"/>
              </a:ext>
            </a:extLst>
          </p:cNvPr>
          <p:cNvSpPr>
            <a:spLocks xmlns:a="http://schemas.openxmlformats.org/drawingml/2006/main" noGrp="1"/>
          </p:cNvSpPr>
          <p:nvPr/>
        </p:nvSpPr>
        <p:spPr>
          <a:xfrm xmlns:a="http://schemas.openxmlformats.org/drawingml/2006/main">
            <a:off x="4038600" y="6096000"/>
            <a:ext cx="10429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Repeated applicable checks after changes to connected functions</a:t>
            </a:r>
          </a:p>
        </p:txBody>
      </p:sp>
    </p:spTree>
    <p:extLst>
      <p:ext uri="{BB962C8B-B14F-4D97-AF65-F5344CB8AC3E}">
        <p14:creationId xmlns:p14="http://schemas.microsoft.com/office/powerpoint/2010/main" val="1206549494"/>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1B178A6-0242-4DC5-A105-1C83390903D4}"/>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EC591A2B-B35C-4425-AC83-78196082F16A}"/>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Feedback and evaluation boundaries</a:t>
            </a:r>
          </a:p>
        </p:txBody>
      </p:sp>
      <p:sp>
        <p:nvSpPr>
          <p:cNvPr id="3" name="yellow-accent-rule">
            <a:extLst xmlns:a="http://schemas.openxmlformats.org/drawingml/2006/main">
              <a:ext uri="{FF2B5EF4-FFF2-40B4-BE49-F238E27FC236}">
                <a16:creationId xmlns:a16="http://schemas.microsoft.com/office/drawing/2014/main" id="{D7F0817B-35CD-4A57-9730-18B5230D33E0}"/>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54322B49-0945-45FA-A568-21C6FED3F420}"/>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Test</a:t>
            </a:r>
          </a:p>
        </p:txBody>
      </p:sp>
      <p:sp>
        <p:nvSpPr>
          <p:cNvPr id="5" name="page">
            <a:extLst xmlns:a="http://schemas.openxmlformats.org/drawingml/2006/main">
              <a:ext uri="{FF2B5EF4-FFF2-40B4-BE49-F238E27FC236}">
                <a16:creationId xmlns:a16="http://schemas.microsoft.com/office/drawing/2014/main" id="{D6100147-B4A0-4E48-B241-4E95E151CBB3}"/>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45</a:t>
            </a:r>
          </a:p>
        </p:txBody>
      </p:sp>
      <p:sp>
        <p:nvSpPr>
          <p:cNvPr id="6" name="row-1-label">
            <a:extLst xmlns:a="http://schemas.openxmlformats.org/drawingml/2006/main">
              <a:ext uri="{FF2B5EF4-FFF2-40B4-BE49-F238E27FC236}">
                <a16:creationId xmlns:a16="http://schemas.microsoft.com/office/drawing/2014/main" id="{14D45E61-9437-4722-BD47-9149A72D459A}"/>
              </a:ext>
            </a:extLst>
          </p:cNvPr>
          <p:cNvSpPr>
            <a:spLocks xmlns:a="http://schemas.openxmlformats.org/drawingml/2006/main" noGrp="1"/>
          </p:cNvSpPr>
          <p:nvPr/>
        </p:nvSpPr>
        <p:spPr>
          <a:xfrm xmlns:a="http://schemas.openxmlformats.org/drawingml/2006/main">
            <a:off x="762000" y="2667000"/>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Institutional review</a:t>
            </a:r>
          </a:p>
        </p:txBody>
      </p:sp>
      <p:sp>
        <p:nvSpPr>
          <p:cNvPr id="7" name="row-1-text">
            <a:extLst xmlns:a="http://schemas.openxmlformats.org/drawingml/2006/main">
              <a:ext uri="{FF2B5EF4-FFF2-40B4-BE49-F238E27FC236}">
                <a16:creationId xmlns:a16="http://schemas.microsoft.com/office/drawing/2014/main" id="{B78D006C-F2D8-4057-B9C0-321A971D5BE7}"/>
              </a:ext>
            </a:extLst>
          </p:cNvPr>
          <p:cNvSpPr>
            <a:spLocks xmlns:a="http://schemas.openxmlformats.org/drawingml/2006/main" noGrp="1"/>
          </p:cNvSpPr>
          <p:nvPr/>
        </p:nvSpPr>
        <p:spPr>
          <a:xfrm xmlns:a="http://schemas.openxmlformats.org/drawingml/2006/main">
            <a:off x="4705350" y="2667000"/>
            <a:ext cx="9763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BDRRMO domain feedback on the demonstration and information basis.</a:t>
            </a:r>
          </a:p>
        </p:txBody>
      </p:sp>
      <p:sp>
        <p:nvSpPr>
          <p:cNvPr id="8" name="row-2-label">
            <a:extLst xmlns:a="http://schemas.openxmlformats.org/drawingml/2006/main">
              <a:ext uri="{FF2B5EF4-FFF2-40B4-BE49-F238E27FC236}">
                <a16:creationId xmlns:a16="http://schemas.microsoft.com/office/drawing/2014/main" id="{827F2853-C2A6-4F4A-B7B5-41204F6B07DD}"/>
              </a:ext>
            </a:extLst>
          </p:cNvPr>
          <p:cNvSpPr>
            <a:spLocks xmlns:a="http://schemas.openxmlformats.org/drawingml/2006/main" noGrp="1"/>
          </p:cNvSpPr>
          <p:nvPr/>
        </p:nvSpPr>
        <p:spPr>
          <a:xfrm xmlns:a="http://schemas.openxmlformats.org/drawingml/2006/main">
            <a:off x="762000" y="4286250"/>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Academic review</a:t>
            </a:r>
          </a:p>
        </p:txBody>
      </p:sp>
      <p:sp>
        <p:nvSpPr>
          <p:cNvPr id="9" name="row-2-text">
            <a:extLst xmlns:a="http://schemas.openxmlformats.org/drawingml/2006/main">
              <a:ext uri="{FF2B5EF4-FFF2-40B4-BE49-F238E27FC236}">
                <a16:creationId xmlns:a16="http://schemas.microsoft.com/office/drawing/2014/main" id="{B35E336E-6BEB-4B17-800A-3837F4EB87F6}"/>
              </a:ext>
            </a:extLst>
          </p:cNvPr>
          <p:cNvSpPr>
            <a:spLocks xmlns:a="http://schemas.openxmlformats.org/drawingml/2006/main" noGrp="1"/>
          </p:cNvSpPr>
          <p:nvPr/>
        </p:nvSpPr>
        <p:spPr>
          <a:xfrm xmlns:a="http://schemas.openxmlformats.org/drawingml/2006/main">
            <a:off x="4705350" y="4286250"/>
            <a:ext cx="9763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Feedback on scope, explanation, and research presentation.</a:t>
            </a:r>
          </a:p>
        </p:txBody>
      </p:sp>
      <p:sp>
        <p:nvSpPr>
          <p:cNvPr id="10" name="row-3-label">
            <a:extLst xmlns:a="http://schemas.openxmlformats.org/drawingml/2006/main">
              <a:ext uri="{FF2B5EF4-FFF2-40B4-BE49-F238E27FC236}">
                <a16:creationId xmlns:a16="http://schemas.microsoft.com/office/drawing/2014/main" id="{FAB76C36-61AC-45C0-AB42-807BDD6E00E1}"/>
              </a:ext>
            </a:extLst>
          </p:cNvPr>
          <p:cNvSpPr>
            <a:spLocks xmlns:a="http://schemas.openxmlformats.org/drawingml/2006/main" noGrp="1"/>
          </p:cNvSpPr>
          <p:nvPr/>
        </p:nvSpPr>
        <p:spPr>
          <a:xfrm xmlns:a="http://schemas.openxmlformats.org/drawingml/2006/main">
            <a:off x="762000" y="5905500"/>
            <a:ext cx="371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Intended-user evaluation</a:t>
            </a:r>
          </a:p>
        </p:txBody>
      </p:sp>
      <p:sp>
        <p:nvSpPr>
          <p:cNvPr id="11" name="row-3-text">
            <a:extLst xmlns:a="http://schemas.openxmlformats.org/drawingml/2006/main">
              <a:ext uri="{FF2B5EF4-FFF2-40B4-BE49-F238E27FC236}">
                <a16:creationId xmlns:a16="http://schemas.microsoft.com/office/drawing/2014/main" id="{5C4F484C-8044-4BDE-80D1-0F08D757B874}"/>
              </a:ext>
            </a:extLst>
          </p:cNvPr>
          <p:cNvSpPr>
            <a:spLocks xmlns:a="http://schemas.openxmlformats.org/drawingml/2006/main" noGrp="1"/>
          </p:cNvSpPr>
          <p:nvPr/>
        </p:nvSpPr>
        <p:spPr>
          <a:xfrm xmlns:a="http://schemas.openxmlformats.org/drawingml/2006/main">
            <a:off x="4705350" y="5905500"/>
            <a:ext cx="97631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Planned application-use tasks and feedback after instrument and procedure approval.</a:t>
            </a:r>
          </a:p>
        </p:txBody>
      </p:sp>
    </p:spTree>
    <p:extLst>
      <p:ext uri="{BB962C8B-B14F-4D97-AF65-F5344CB8AC3E}">
        <p14:creationId xmlns:p14="http://schemas.microsoft.com/office/powerpoint/2010/main" val="14216187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7BDA879F-5698-44EC-9DC6-FED41E96E76B}"/>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620741B2-0F46-42B1-AE45-E56BF4FDC6D2}"/>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Planned post-use participants</a:t>
            </a:r>
          </a:p>
        </p:txBody>
      </p:sp>
      <p:sp>
        <p:nvSpPr>
          <p:cNvPr id="3" name="yellow-accent-rule">
            <a:extLst xmlns:a="http://schemas.openxmlformats.org/drawingml/2006/main">
              <a:ext uri="{FF2B5EF4-FFF2-40B4-BE49-F238E27FC236}">
                <a16:creationId xmlns:a16="http://schemas.microsoft.com/office/drawing/2014/main" id="{5395185E-6925-420E-9988-FBD6BA5F22FC}"/>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6B46AD08-1FCC-40CA-9713-D5B1ADFED822}"/>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Table 4; recruitment targets only</a:t>
            </a:r>
          </a:p>
        </p:txBody>
      </p:sp>
      <p:sp>
        <p:nvSpPr>
          <p:cNvPr id="5" name="page">
            <a:extLst xmlns:a="http://schemas.openxmlformats.org/drawingml/2006/main">
              <a:ext uri="{FF2B5EF4-FFF2-40B4-BE49-F238E27FC236}">
                <a16:creationId xmlns:a16="http://schemas.microsoft.com/office/drawing/2014/main" id="{AA34953E-F6CB-4A07-87B2-E6BC5C53E013}"/>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46</a:t>
            </a:r>
          </a:p>
        </p:txBody>
      </p:sp>
      <p:graphicFrame>
        <p:nvGraphicFramePr>
          <p:cNvPr id="6" name="">
            <a:extLst xmlns:a="http://schemas.openxmlformats.org/drawingml/2006/main">
              <a:ext uri="{FF2B5EF4-FFF2-40B4-BE49-F238E27FC236}">
                <a16:creationId xmlns:a16="http://schemas.microsoft.com/office/drawing/2014/main" id="{3203EAE2-4873-4CF7-9FA3-4D88BDDC0103}"/>
              </a:ext>
            </a:extLst>
          </p:cNvPr>
          <p:cNvGraphicFramePr/>
          <p:nvPr/>
        </p:nvGraphicFramePr>
        <p:xfrm>
          <a:off xmlns:a="http://schemas.openxmlformats.org/drawingml/2006/main" x="762000" y="2762250"/>
          <a:ext xmlns:a="http://schemas.openxmlformats.org/drawingml/2006/main" cx="13716000" cy="4000500"/>
        </p:xfrm>
        <a:graphic xmlns:a="http://schemas.openxmlformats.org/drawingml/2006/main">
          <a:graphicData uri="http://schemas.openxmlformats.org/drawingml/2006/table">
            <a:tbl>
              <a:tblPr firstRow="1" bandRow="0"/>
              <a:tblGrid>
                <a:gridCol w="10001250"/>
                <a:gridCol w="3714750"/>
              </a:tblGrid>
              <a:tr h="666750">
                <a:tc>
                  <a:txBody>
                    <a:bodyPr lIns="171450" tIns="95250" rIns="171450" bIns="95250">
                      <a:noAutofit/>
                    </a:bodyPr>
                    <a:lstStyle/>
                    <a:p>
                      <a:pPr algn="l"/>
                      <a:r>
                        <a:rPr sz="2700" b="1">
                          <a:solidFill>
                            <a:srgbClr val="FFFFFF"/>
                          </a:solidFill>
                          <a:latin typeface="Arial"/>
                          <a:ea typeface="Arial"/>
                          <a:cs typeface="Arial"/>
                        </a:rPr>
                        <a:t>GROUP</a:t>
                      </a:r>
                    </a:p>
                  </a:txBody>
                  <a:tcPr marL="91440" marR="91440" marT="45720" marB="45720" anchor="ctr">
                    <a:lnL w="9525">
                      <a:solidFill>
                        <a:srgbClr val="CAD5E1"/>
                      </a:solidFill>
                      <a:prstDash val="solid"/>
                    </a:lnL>
                    <a:lnR w="9525">
                      <a:solidFill>
                        <a:srgbClr val="CAD5E1"/>
                      </a:solidFill>
                      <a:prstDash val="solid"/>
                    </a:lnR>
                    <a:lnT w="9525">
                      <a:solidFill>
                        <a:srgbClr val="CAD5E1"/>
                      </a:solidFill>
                      <a:prstDash val="solid"/>
                    </a:lnT>
                    <a:lnB w="9525">
                      <a:solidFill>
                        <a:srgbClr val="CAD5E1"/>
                      </a:solidFill>
                      <a:prstDash val="solid"/>
                    </a:lnB>
                    <a:solidFill>
                      <a:srgbClr val="164E91"/>
                    </a:solidFill>
                  </a:tcPr>
                </a:tc>
                <a:tc>
                  <a:txBody>
                    <a:bodyPr lIns="171450" tIns="95250" rIns="171450" bIns="95250">
                      <a:noAutofit/>
                    </a:bodyPr>
                    <a:lstStyle/>
                    <a:p>
                      <a:pPr algn="ctr"/>
                      <a:r>
                        <a:rPr sz="2700" b="1">
                          <a:solidFill>
                            <a:srgbClr val="FFFFFF"/>
                          </a:solidFill>
                          <a:latin typeface="Arial"/>
                          <a:ea typeface="Arial"/>
                          <a:cs typeface="Arial"/>
                        </a:rPr>
                        <a:t>TARGET</a:t>
                      </a:r>
                    </a:p>
                  </a:txBody>
                  <a:tcPr marL="91440" marR="91440" marT="45720" marB="45720" anchor="ctr">
                    <a:lnR w="9525">
                      <a:solidFill>
                        <a:srgbClr val="CAD5E1"/>
                      </a:solidFill>
                      <a:prstDash val="solid"/>
                    </a:lnR>
                    <a:lnT w="9525">
                      <a:solidFill>
                        <a:srgbClr val="CAD5E1"/>
                      </a:solidFill>
                      <a:prstDash val="solid"/>
                    </a:lnT>
                    <a:lnB w="9525">
                      <a:solidFill>
                        <a:srgbClr val="CAD5E1"/>
                      </a:solidFill>
                      <a:prstDash val="solid"/>
                    </a:lnB>
                    <a:solidFill>
                      <a:srgbClr val="164E91"/>
                    </a:solidFill>
                  </a:tcPr>
                </a:tc>
              </a:tr>
              <a:tr h="666750">
                <a:tc>
                  <a:txBody>
                    <a:bodyPr lIns="171450" tIns="95250" rIns="171450" bIns="95250">
                      <a:noAutofit/>
                    </a:bodyPr>
                    <a:lstStyle/>
                    <a:p>
                      <a:pPr algn="l"/>
                      <a:r>
                        <a:rPr sz="2700" b="0">
                          <a:solidFill>
                            <a:srgbClr val="182B45"/>
                          </a:solidFill>
                          <a:latin typeface="Arial"/>
                          <a:ea typeface="Arial"/>
                          <a:cs typeface="Arial"/>
                        </a:rPr>
                        <a:t>IT Experts</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10</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BDRRMO Admin/Staff</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26</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Barangay Officials</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30</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Bacoor Residents</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100</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SUM OF GROUP TARGETS</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166</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bl>
          </a:graphicData>
        </a:graphic>
      </p:graphicFrame>
      <p:sp>
        <p:nvSpPr>
          <p:cNvPr id="7" name="target-qualification">
            <a:extLst xmlns:a="http://schemas.openxmlformats.org/drawingml/2006/main">
              <a:ext uri="{FF2B5EF4-FFF2-40B4-BE49-F238E27FC236}">
                <a16:creationId xmlns:a16="http://schemas.microsoft.com/office/drawing/2014/main" id="{E239DB48-A3C5-44F7-8549-A8857E8D1A59}"/>
              </a:ext>
            </a:extLst>
          </p:cNvPr>
          <p:cNvSpPr>
            <a:spLocks xmlns:a="http://schemas.openxmlformats.org/drawingml/2006/main" noGrp="1"/>
          </p:cNvSpPr>
          <p:nvPr/>
        </p:nvSpPr>
        <p:spPr>
          <a:xfrm xmlns:a="http://schemas.openxmlformats.org/drawingml/2006/main">
            <a:off x="762000" y="719137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Group overlap and instrument assignments remain to be specified.</a:t>
            </a:r>
          </a:p>
        </p:txBody>
      </p:sp>
    </p:spTree>
    <p:extLst>
      <p:ext uri="{BB962C8B-B14F-4D97-AF65-F5344CB8AC3E}">
        <p14:creationId xmlns:p14="http://schemas.microsoft.com/office/powerpoint/2010/main" val="661553256"/>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ection">
            <a:extLst xmlns:a="http://schemas.openxmlformats.org/drawingml/2006/main">
              <a:ext uri="{FF2B5EF4-FFF2-40B4-BE49-F238E27FC236}">
                <a16:creationId xmlns:a16="http://schemas.microsoft.com/office/drawing/2014/main" id="{B4340557-6B23-47EC-A517-C8844A7DBA9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B916AA1A-4D78-4A03-A135-11ABCF6BF877}"/>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Initial needs-survey analysis</a:t>
            </a:r>
          </a:p>
        </p:txBody>
      </p:sp>
      <p:sp>
        <p:nvSpPr>
          <p:cNvPr id="3" name="yellow-accent-rule">
            <a:extLst xmlns:a="http://schemas.openxmlformats.org/drawingml/2006/main">
              <a:ext uri="{FF2B5EF4-FFF2-40B4-BE49-F238E27FC236}">
                <a16:creationId xmlns:a16="http://schemas.microsoft.com/office/drawing/2014/main" id="{A3877478-6C69-444B-970E-BAD0738824BC}"/>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A1F321D4-8F30-4BDE-B1CB-8FD038EB2413}"/>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Statistical Treatment of Data</a:t>
            </a:r>
          </a:p>
        </p:txBody>
      </p:sp>
      <p:sp>
        <p:nvSpPr>
          <p:cNvPr id="5" name="page">
            <a:extLst xmlns:a="http://schemas.openxmlformats.org/drawingml/2006/main">
              <a:ext uri="{FF2B5EF4-FFF2-40B4-BE49-F238E27FC236}">
                <a16:creationId xmlns:a16="http://schemas.microsoft.com/office/drawing/2014/main" id="{7DFDD28F-281F-4A61-A38D-8C24AE21C6C2}"/>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47</a:t>
            </a:r>
          </a:p>
        </p:txBody>
      </p:sp>
      <p:sp>
        <p:nvSpPr>
          <p:cNvPr id="6" name="percentage-label">
            <a:extLst xmlns:a="http://schemas.openxmlformats.org/drawingml/2006/main">
              <a:ext uri="{FF2B5EF4-FFF2-40B4-BE49-F238E27FC236}">
                <a16:creationId xmlns:a16="http://schemas.microsoft.com/office/drawing/2014/main" id="{CBB6735F-302B-4B0B-9304-97A55ECA4922}"/>
              </a:ext>
            </a:extLst>
          </p:cNvPr>
          <p:cNvSpPr>
            <a:spLocks xmlns:a="http://schemas.openxmlformats.org/drawingml/2006/main" noGrp="1"/>
          </p:cNvSpPr>
          <p:nvPr/>
        </p:nvSpPr>
        <p:spPr>
          <a:xfrm xmlns:a="http://schemas.openxmlformats.org/drawingml/2006/main">
            <a:off x="762000" y="2714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Percentage</a:t>
            </a:r>
          </a:p>
        </p:txBody>
      </p:sp>
      <p:sp>
        <p:nvSpPr>
          <p:cNvPr id="7" name="percentage-formula">
            <a:extLst xmlns:a="http://schemas.openxmlformats.org/drawingml/2006/main">
              <a:ext uri="{FF2B5EF4-FFF2-40B4-BE49-F238E27FC236}">
                <a16:creationId xmlns:a16="http://schemas.microsoft.com/office/drawing/2014/main" id="{F647FA1F-F64F-4E41-B942-AB2AB603A3CC}"/>
              </a:ext>
            </a:extLst>
          </p:cNvPr>
          <p:cNvSpPr>
            <a:spLocks xmlns:a="http://schemas.openxmlformats.org/drawingml/2006/main" noGrp="1"/>
          </p:cNvSpPr>
          <p:nvPr/>
        </p:nvSpPr>
        <p:spPr>
          <a:xfrm xmlns:a="http://schemas.openxmlformats.org/drawingml/2006/main">
            <a:off x="762000" y="35147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182B45"/>
                </a:solidFill>
                <a:latin typeface="Arial"/>
                <a:ea typeface="Arial"/>
                <a:cs typeface="Arial"/>
              </a:defRPr>
            </a:defPPr>
            <a:lvl1pPr algn="l">
              <a:defRPr sz="3750" b="0">
                <a:solidFill>
                  <a:srgbClr val="182B45"/>
                </a:solidFill>
                <a:latin typeface="Arial"/>
                <a:ea typeface="Arial"/>
                <a:cs typeface="Arial"/>
              </a:defRPr>
            </a:lvl1pPr>
            <a:lvl2pPr algn="l">
              <a:defRPr sz="3750" b="0">
                <a:solidFill>
                  <a:srgbClr val="182B45"/>
                </a:solidFill>
                <a:latin typeface="Arial"/>
                <a:ea typeface="Arial"/>
                <a:cs typeface="Arial"/>
              </a:defRPr>
            </a:lvl2pPr>
            <a:lvl3pPr algn="l">
              <a:defRPr sz="3750" b="0">
                <a:solidFill>
                  <a:srgbClr val="182B45"/>
                </a:solidFill>
                <a:latin typeface="Arial"/>
                <a:ea typeface="Arial"/>
                <a:cs typeface="Arial"/>
              </a:defRPr>
            </a:lvl3pPr>
            <a:lvl4pPr algn="l">
              <a:defRPr sz="3750" b="0">
                <a:solidFill>
                  <a:srgbClr val="182B45"/>
                </a:solidFill>
                <a:latin typeface="Arial"/>
                <a:ea typeface="Arial"/>
                <a:cs typeface="Arial"/>
              </a:defRPr>
            </a:lvl4pPr>
            <a:lvl5pPr algn="l">
              <a:defRPr sz="3750" b="0">
                <a:solidFill>
                  <a:srgbClr val="182B45"/>
                </a:solidFill>
                <a:latin typeface="Arial"/>
                <a:ea typeface="Arial"/>
                <a:cs typeface="Arial"/>
              </a:defRPr>
            </a:lvl5pPr>
            <a:lvl6pPr algn="l">
              <a:defRPr sz="3750" b="0">
                <a:solidFill>
                  <a:srgbClr val="182B45"/>
                </a:solidFill>
                <a:latin typeface="Arial"/>
                <a:ea typeface="Arial"/>
                <a:cs typeface="Arial"/>
              </a:defRPr>
            </a:lvl6pPr>
            <a:lvl7pPr algn="l">
              <a:defRPr sz="3750" b="0">
                <a:solidFill>
                  <a:srgbClr val="182B45"/>
                </a:solidFill>
                <a:latin typeface="Arial"/>
                <a:ea typeface="Arial"/>
                <a:cs typeface="Arial"/>
              </a:defRPr>
            </a:lvl7pPr>
            <a:lvl8pPr algn="l">
              <a:defRPr sz="3750" b="0">
                <a:solidFill>
                  <a:srgbClr val="182B45"/>
                </a:solidFill>
                <a:latin typeface="Arial"/>
                <a:ea typeface="Arial"/>
                <a:cs typeface="Arial"/>
              </a:defRPr>
            </a:lvl8pPr>
            <a:lvl9pPr algn="l">
              <a:defRPr sz="3750" b="0">
                <a:solidFill>
                  <a:srgbClr val="182B45"/>
                </a:solidFill>
                <a:latin typeface="Arial"/>
                <a:ea typeface="Arial"/>
                <a:cs typeface="Arial"/>
              </a:defRPr>
            </a:lvl9pPr>
          </a:lstStyle>
          <a:p xmlns:a="http://schemas.openxmlformats.org/drawingml/2006/main">
            <a:pPr algn="l">
              <a:defRPr sz="3750" b="0">
                <a:solidFill>
                  <a:srgbClr val="182B45"/>
                </a:solidFill>
                <a:latin typeface="Arial"/>
                <a:ea typeface="Arial"/>
                <a:cs typeface="Arial"/>
              </a:defRPr>
            </a:pPr>
            <a:r>
              <a:rPr sz="3750" b="0">
                <a:solidFill>
                  <a:srgbClr val="182B45"/>
                </a:solidFill>
                <a:latin typeface="Arial"/>
                <a:ea typeface="Arial"/>
                <a:cs typeface="Arial"/>
              </a:rPr>
              <a:t>P = (f / n) × 100</a:t>
            </a:r>
          </a:p>
        </p:txBody>
      </p:sp>
      <p:sp>
        <p:nvSpPr>
          <p:cNvPr id="8" name="percentage-use">
            <a:extLst xmlns:a="http://schemas.openxmlformats.org/drawingml/2006/main">
              <a:ext uri="{FF2B5EF4-FFF2-40B4-BE49-F238E27FC236}">
                <a16:creationId xmlns:a16="http://schemas.microsoft.com/office/drawing/2014/main" id="{505E3509-4CCD-43B6-B18C-4617A17436D2}"/>
              </a:ext>
            </a:extLst>
          </p:cNvPr>
          <p:cNvSpPr>
            <a:spLocks xmlns:a="http://schemas.openxmlformats.org/drawingml/2006/main" noGrp="1"/>
          </p:cNvSpPr>
          <p:nvPr/>
        </p:nvSpPr>
        <p:spPr>
          <a:xfrm xmlns:a="http://schemas.openxmlformats.org/drawingml/2006/main">
            <a:off x="762000" y="4543425"/>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 = 40 for each reported option</a:t>
            </a:r>
          </a:p>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Checkbox totals can exceed 100%.</a:t>
            </a:r>
          </a:p>
        </p:txBody>
      </p:sp>
      <p:sp>
        <p:nvSpPr>
          <p:cNvPr id="9" name="mean-label">
            <a:extLst xmlns:a="http://schemas.openxmlformats.org/drawingml/2006/main">
              <a:ext uri="{FF2B5EF4-FFF2-40B4-BE49-F238E27FC236}">
                <a16:creationId xmlns:a16="http://schemas.microsoft.com/office/drawing/2014/main" id="{FCFC172D-19D0-4498-AD0A-859A0B4AEE80}"/>
              </a:ext>
            </a:extLst>
          </p:cNvPr>
          <p:cNvSpPr>
            <a:spLocks xmlns:a="http://schemas.openxmlformats.org/drawingml/2006/main" noGrp="1"/>
          </p:cNvSpPr>
          <p:nvPr/>
        </p:nvSpPr>
        <p:spPr>
          <a:xfrm xmlns:a="http://schemas.openxmlformats.org/drawingml/2006/main">
            <a:off x="8096250" y="271462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64E91"/>
                </a:solidFill>
                <a:latin typeface="Arial"/>
                <a:ea typeface="Arial"/>
                <a:cs typeface="Arial"/>
              </a:defRPr>
            </a:defPPr>
            <a:lvl1pPr algn="l">
              <a:defRPr sz="3000" b="1">
                <a:solidFill>
                  <a:srgbClr val="164E91"/>
                </a:solidFill>
                <a:latin typeface="Arial"/>
                <a:ea typeface="Arial"/>
                <a:cs typeface="Arial"/>
              </a:defRPr>
            </a:lvl1pPr>
            <a:lvl2pPr algn="l">
              <a:defRPr sz="3000" b="1">
                <a:solidFill>
                  <a:srgbClr val="164E91"/>
                </a:solidFill>
                <a:latin typeface="Arial"/>
                <a:ea typeface="Arial"/>
                <a:cs typeface="Arial"/>
              </a:defRPr>
            </a:lvl2pPr>
            <a:lvl3pPr algn="l">
              <a:defRPr sz="3000" b="1">
                <a:solidFill>
                  <a:srgbClr val="164E91"/>
                </a:solidFill>
                <a:latin typeface="Arial"/>
                <a:ea typeface="Arial"/>
                <a:cs typeface="Arial"/>
              </a:defRPr>
            </a:lvl3pPr>
            <a:lvl4pPr algn="l">
              <a:defRPr sz="3000" b="1">
                <a:solidFill>
                  <a:srgbClr val="164E91"/>
                </a:solidFill>
                <a:latin typeface="Arial"/>
                <a:ea typeface="Arial"/>
                <a:cs typeface="Arial"/>
              </a:defRPr>
            </a:lvl4pPr>
            <a:lvl5pPr algn="l">
              <a:defRPr sz="3000" b="1">
                <a:solidFill>
                  <a:srgbClr val="164E91"/>
                </a:solidFill>
                <a:latin typeface="Arial"/>
                <a:ea typeface="Arial"/>
                <a:cs typeface="Arial"/>
              </a:defRPr>
            </a:lvl5pPr>
            <a:lvl6pPr algn="l">
              <a:defRPr sz="3000" b="1">
                <a:solidFill>
                  <a:srgbClr val="164E91"/>
                </a:solidFill>
                <a:latin typeface="Arial"/>
                <a:ea typeface="Arial"/>
                <a:cs typeface="Arial"/>
              </a:defRPr>
            </a:lvl6pPr>
            <a:lvl7pPr algn="l">
              <a:defRPr sz="3000" b="1">
                <a:solidFill>
                  <a:srgbClr val="164E91"/>
                </a:solidFill>
                <a:latin typeface="Arial"/>
                <a:ea typeface="Arial"/>
                <a:cs typeface="Arial"/>
              </a:defRPr>
            </a:lvl7pPr>
            <a:lvl8pPr algn="l">
              <a:defRPr sz="3000" b="1">
                <a:solidFill>
                  <a:srgbClr val="164E91"/>
                </a:solidFill>
                <a:latin typeface="Arial"/>
                <a:ea typeface="Arial"/>
                <a:cs typeface="Arial"/>
              </a:defRPr>
            </a:lvl8pPr>
            <a:lvl9pPr algn="l">
              <a:defRPr sz="3000" b="1">
                <a:solidFill>
                  <a:srgbClr val="164E91"/>
                </a:solidFill>
                <a:latin typeface="Arial"/>
                <a:ea typeface="Arial"/>
                <a:cs typeface="Arial"/>
              </a:defRPr>
            </a:lvl9pPr>
          </a:lstStyle>
          <a:p xmlns:a="http://schemas.openxmlformats.org/drawingml/2006/main">
            <a:pPr algn="l">
              <a:defRPr sz="3000" b="1">
                <a:solidFill>
                  <a:srgbClr val="164E91"/>
                </a:solidFill>
                <a:latin typeface="Arial"/>
                <a:ea typeface="Arial"/>
                <a:cs typeface="Arial"/>
              </a:defRPr>
            </a:pPr>
            <a:r>
              <a:rPr sz="3000" b="1">
                <a:solidFill>
                  <a:srgbClr val="164E91"/>
                </a:solidFill>
                <a:latin typeface="Arial"/>
                <a:ea typeface="Arial"/>
                <a:cs typeface="Arial"/>
              </a:rPr>
              <a:t>Weighted mean</a:t>
            </a:r>
          </a:p>
        </p:txBody>
      </p:sp>
      <p:sp>
        <p:nvSpPr>
          <p:cNvPr id="10" name="mean-formula">
            <a:extLst xmlns:a="http://schemas.openxmlformats.org/drawingml/2006/main">
              <a:ext uri="{FF2B5EF4-FFF2-40B4-BE49-F238E27FC236}">
                <a16:creationId xmlns:a16="http://schemas.microsoft.com/office/drawing/2014/main" id="{9160D1C7-0F19-4E30-BAC4-6329A10BF7E0}"/>
              </a:ext>
            </a:extLst>
          </p:cNvPr>
          <p:cNvSpPr>
            <a:spLocks xmlns:a="http://schemas.openxmlformats.org/drawingml/2006/main" noGrp="1"/>
          </p:cNvSpPr>
          <p:nvPr/>
        </p:nvSpPr>
        <p:spPr>
          <a:xfrm xmlns:a="http://schemas.openxmlformats.org/drawingml/2006/main">
            <a:off x="8096250" y="3514725"/>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0">
                <a:solidFill>
                  <a:srgbClr val="182B45"/>
                </a:solidFill>
                <a:latin typeface="Arial"/>
                <a:ea typeface="Arial"/>
                <a:cs typeface="Arial"/>
              </a:defRPr>
            </a:defPPr>
            <a:lvl1pPr algn="l">
              <a:defRPr sz="3750" b="0">
                <a:solidFill>
                  <a:srgbClr val="182B45"/>
                </a:solidFill>
                <a:latin typeface="Arial"/>
                <a:ea typeface="Arial"/>
                <a:cs typeface="Arial"/>
              </a:defRPr>
            </a:lvl1pPr>
            <a:lvl2pPr algn="l">
              <a:defRPr sz="3750" b="0">
                <a:solidFill>
                  <a:srgbClr val="182B45"/>
                </a:solidFill>
                <a:latin typeface="Arial"/>
                <a:ea typeface="Arial"/>
                <a:cs typeface="Arial"/>
              </a:defRPr>
            </a:lvl2pPr>
            <a:lvl3pPr algn="l">
              <a:defRPr sz="3750" b="0">
                <a:solidFill>
                  <a:srgbClr val="182B45"/>
                </a:solidFill>
                <a:latin typeface="Arial"/>
                <a:ea typeface="Arial"/>
                <a:cs typeface="Arial"/>
              </a:defRPr>
            </a:lvl3pPr>
            <a:lvl4pPr algn="l">
              <a:defRPr sz="3750" b="0">
                <a:solidFill>
                  <a:srgbClr val="182B45"/>
                </a:solidFill>
                <a:latin typeface="Arial"/>
                <a:ea typeface="Arial"/>
                <a:cs typeface="Arial"/>
              </a:defRPr>
            </a:lvl4pPr>
            <a:lvl5pPr algn="l">
              <a:defRPr sz="3750" b="0">
                <a:solidFill>
                  <a:srgbClr val="182B45"/>
                </a:solidFill>
                <a:latin typeface="Arial"/>
                <a:ea typeface="Arial"/>
                <a:cs typeface="Arial"/>
              </a:defRPr>
            </a:lvl5pPr>
            <a:lvl6pPr algn="l">
              <a:defRPr sz="3750" b="0">
                <a:solidFill>
                  <a:srgbClr val="182B45"/>
                </a:solidFill>
                <a:latin typeface="Arial"/>
                <a:ea typeface="Arial"/>
                <a:cs typeface="Arial"/>
              </a:defRPr>
            </a:lvl6pPr>
            <a:lvl7pPr algn="l">
              <a:defRPr sz="3750" b="0">
                <a:solidFill>
                  <a:srgbClr val="182B45"/>
                </a:solidFill>
                <a:latin typeface="Arial"/>
                <a:ea typeface="Arial"/>
                <a:cs typeface="Arial"/>
              </a:defRPr>
            </a:lvl7pPr>
            <a:lvl8pPr algn="l">
              <a:defRPr sz="3750" b="0">
                <a:solidFill>
                  <a:srgbClr val="182B45"/>
                </a:solidFill>
                <a:latin typeface="Arial"/>
                <a:ea typeface="Arial"/>
                <a:cs typeface="Arial"/>
              </a:defRPr>
            </a:lvl8pPr>
            <a:lvl9pPr algn="l">
              <a:defRPr sz="3750" b="0">
                <a:solidFill>
                  <a:srgbClr val="182B45"/>
                </a:solidFill>
                <a:latin typeface="Arial"/>
                <a:ea typeface="Arial"/>
                <a:cs typeface="Arial"/>
              </a:defRPr>
            </a:lvl9pPr>
          </a:lstStyle>
          <a:p xmlns:a="http://schemas.openxmlformats.org/drawingml/2006/main">
            <a:pPr algn="l">
              <a:defRPr sz="3750" b="0">
                <a:solidFill>
                  <a:srgbClr val="182B45"/>
                </a:solidFill>
                <a:latin typeface="Arial"/>
                <a:ea typeface="Arial"/>
                <a:cs typeface="Arial"/>
              </a:defRPr>
            </a:pPr>
            <a:r>
              <a:rPr sz="3750" b="0">
                <a:solidFill>
                  <a:srgbClr val="182B45"/>
                </a:solidFill>
                <a:latin typeface="Arial"/>
                <a:ea typeface="Arial"/>
                <a:cs typeface="Arial"/>
              </a:rPr>
              <a:t>x̄ = Σ(fᵢxᵢ) / N</a:t>
            </a:r>
          </a:p>
        </p:txBody>
      </p:sp>
      <p:sp>
        <p:nvSpPr>
          <p:cNvPr id="11" name="mean-use">
            <a:extLst xmlns:a="http://schemas.openxmlformats.org/drawingml/2006/main">
              <a:ext uri="{FF2B5EF4-FFF2-40B4-BE49-F238E27FC236}">
                <a16:creationId xmlns:a16="http://schemas.microsoft.com/office/drawing/2014/main" id="{4E73C913-3193-49CD-A0BA-50A360BB0444}"/>
              </a:ext>
            </a:extLst>
          </p:cNvPr>
          <p:cNvSpPr>
            <a:spLocks xmlns:a="http://schemas.openxmlformats.org/drawingml/2006/main" noGrp="1"/>
          </p:cNvSpPr>
          <p:nvPr/>
        </p:nvSpPr>
        <p:spPr>
          <a:xfrm xmlns:a="http://schemas.openxmlformats.org/drawingml/2006/main">
            <a:off x="8096250" y="4543425"/>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Never = 1 through Always = 5</a:t>
            </a:r>
          </a:p>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 excludes “Not sure” responses.</a:t>
            </a:r>
          </a:p>
        </p:txBody>
      </p:sp>
      <p:sp>
        <p:nvSpPr>
          <p:cNvPr id="12" name="analysis-boundary">
            <a:extLst xmlns:a="http://schemas.openxmlformats.org/drawingml/2006/main">
              <a:ext uri="{FF2B5EF4-FFF2-40B4-BE49-F238E27FC236}">
                <a16:creationId xmlns:a16="http://schemas.microsoft.com/office/drawing/2014/main" id="{FAB40D47-5404-4587-B0B7-BAAC3186B92E}"/>
              </a:ext>
            </a:extLst>
          </p:cNvPr>
          <p:cNvSpPr>
            <a:spLocks xmlns:a="http://schemas.openxmlformats.org/drawingml/2006/main" noGrp="1"/>
          </p:cNvSpPr>
          <p:nvPr/>
        </p:nvSpPr>
        <p:spPr>
          <a:xfrm xmlns:a="http://schemas.openxmlformats.org/drawingml/2006/main">
            <a:off x="762000" y="690562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64E91"/>
                </a:solidFill>
                <a:latin typeface="Arial"/>
                <a:ea typeface="Arial"/>
                <a:cs typeface="Arial"/>
              </a:defRPr>
            </a:defPPr>
            <a:lvl1pPr algn="l">
              <a:defRPr sz="2850" b="1">
                <a:solidFill>
                  <a:srgbClr val="164E91"/>
                </a:solidFill>
                <a:latin typeface="Arial"/>
                <a:ea typeface="Arial"/>
                <a:cs typeface="Arial"/>
              </a:defRPr>
            </a:lvl1pPr>
            <a:lvl2pPr algn="l">
              <a:defRPr sz="2850" b="1">
                <a:solidFill>
                  <a:srgbClr val="164E91"/>
                </a:solidFill>
                <a:latin typeface="Arial"/>
                <a:ea typeface="Arial"/>
                <a:cs typeface="Arial"/>
              </a:defRPr>
            </a:lvl2pPr>
            <a:lvl3pPr algn="l">
              <a:defRPr sz="2850" b="1">
                <a:solidFill>
                  <a:srgbClr val="164E91"/>
                </a:solidFill>
                <a:latin typeface="Arial"/>
                <a:ea typeface="Arial"/>
                <a:cs typeface="Arial"/>
              </a:defRPr>
            </a:lvl3pPr>
            <a:lvl4pPr algn="l">
              <a:defRPr sz="2850" b="1">
                <a:solidFill>
                  <a:srgbClr val="164E91"/>
                </a:solidFill>
                <a:latin typeface="Arial"/>
                <a:ea typeface="Arial"/>
                <a:cs typeface="Arial"/>
              </a:defRPr>
            </a:lvl4pPr>
            <a:lvl5pPr algn="l">
              <a:defRPr sz="2850" b="1">
                <a:solidFill>
                  <a:srgbClr val="164E91"/>
                </a:solidFill>
                <a:latin typeface="Arial"/>
                <a:ea typeface="Arial"/>
                <a:cs typeface="Arial"/>
              </a:defRPr>
            </a:lvl5pPr>
            <a:lvl6pPr algn="l">
              <a:defRPr sz="2850" b="1">
                <a:solidFill>
                  <a:srgbClr val="164E91"/>
                </a:solidFill>
                <a:latin typeface="Arial"/>
                <a:ea typeface="Arial"/>
                <a:cs typeface="Arial"/>
              </a:defRPr>
            </a:lvl6pPr>
            <a:lvl7pPr algn="l">
              <a:defRPr sz="2850" b="1">
                <a:solidFill>
                  <a:srgbClr val="164E91"/>
                </a:solidFill>
                <a:latin typeface="Arial"/>
                <a:ea typeface="Arial"/>
                <a:cs typeface="Arial"/>
              </a:defRPr>
            </a:lvl7pPr>
            <a:lvl8pPr algn="l">
              <a:defRPr sz="2850" b="1">
                <a:solidFill>
                  <a:srgbClr val="164E91"/>
                </a:solidFill>
                <a:latin typeface="Arial"/>
                <a:ea typeface="Arial"/>
                <a:cs typeface="Arial"/>
              </a:defRPr>
            </a:lvl8pPr>
            <a:lvl9pPr algn="l">
              <a:defRPr sz="2850" b="1">
                <a:solidFill>
                  <a:srgbClr val="164E91"/>
                </a:solidFill>
                <a:latin typeface="Arial"/>
                <a:ea typeface="Arial"/>
                <a:cs typeface="Arial"/>
              </a:defRPr>
            </a:lvl9pPr>
          </a:lstStyle>
          <a:p xmlns:a="http://schemas.openxmlformats.org/drawingml/2006/main">
            <a:pPr algn="l">
              <a:defRPr sz="2850" b="1">
                <a:solidFill>
                  <a:srgbClr val="164E91"/>
                </a:solidFill>
                <a:latin typeface="Arial"/>
                <a:ea typeface="Arial"/>
                <a:cs typeface="Arial"/>
              </a:defRPr>
            </a:pPr>
            <a:r>
              <a:rPr sz="2850" b="1">
                <a:solidFill>
                  <a:srgbClr val="164E91"/>
                </a:solidFill>
                <a:latin typeface="Arial"/>
                <a:ea typeface="Arial"/>
                <a:cs typeface="Arial"/>
              </a:rPr>
              <a:t>These summaries describe reported needs, not application quality.</a:t>
            </a:r>
          </a:p>
        </p:txBody>
      </p:sp>
    </p:spTree>
    <p:extLst>
      <p:ext uri="{BB962C8B-B14F-4D97-AF65-F5344CB8AC3E}">
        <p14:creationId xmlns:p14="http://schemas.microsoft.com/office/powerpoint/2010/main" val="68517803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D25568B6-7840-4C1B-A767-DABF81693D7A}"/>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5D4FBEA8-C878-460B-98A8-3E167C4E494F}"/>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Sample-size formula and sampling</a:t>
            </a:r>
          </a:p>
        </p:txBody>
      </p:sp>
      <p:sp>
        <p:nvSpPr>
          <p:cNvPr id="3" name="yellow-accent-rule">
            <a:extLst xmlns:a="http://schemas.openxmlformats.org/drawingml/2006/main">
              <a:ext uri="{FF2B5EF4-FFF2-40B4-BE49-F238E27FC236}">
                <a16:creationId xmlns:a16="http://schemas.microsoft.com/office/drawing/2014/main" id="{4E633E1B-2681-4295-8F3A-A53A24B3A8D6}"/>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FC8A3B0F-AD05-4DD9-96C2-7EF58EFB6753}"/>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Slovin’s Formula and Participants</a:t>
            </a:r>
          </a:p>
        </p:txBody>
      </p:sp>
      <p:sp>
        <p:nvSpPr>
          <p:cNvPr id="5" name="page">
            <a:extLst xmlns:a="http://schemas.openxmlformats.org/drawingml/2006/main">
              <a:ext uri="{FF2B5EF4-FFF2-40B4-BE49-F238E27FC236}">
                <a16:creationId xmlns:a16="http://schemas.microsoft.com/office/drawing/2014/main" id="{4A949CC5-311D-4C8B-844B-1CAF3544CC7B}"/>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48</a:t>
            </a:r>
          </a:p>
        </p:txBody>
      </p:sp>
      <p:sp>
        <p:nvSpPr>
          <p:cNvPr id="6" name="formula-name">
            <a:extLst xmlns:a="http://schemas.openxmlformats.org/drawingml/2006/main">
              <a:ext uri="{FF2B5EF4-FFF2-40B4-BE49-F238E27FC236}">
                <a16:creationId xmlns:a16="http://schemas.microsoft.com/office/drawing/2014/main" id="{78955BC5-0945-4664-85CF-B0F7C765900C}"/>
              </a:ext>
            </a:extLst>
          </p:cNvPr>
          <p:cNvSpPr>
            <a:spLocks xmlns:a="http://schemas.openxmlformats.org/drawingml/2006/main" noGrp="1"/>
          </p:cNvSpPr>
          <p:nvPr/>
        </p:nvSpPr>
        <p:spPr>
          <a:xfrm xmlns:a="http://schemas.openxmlformats.org/drawingml/2006/main">
            <a:off x="762000" y="2762250"/>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64E91"/>
                </a:solidFill>
                <a:latin typeface="Arial"/>
                <a:ea typeface="Arial"/>
                <a:cs typeface="Arial"/>
              </a:defRPr>
            </a:defPPr>
            <a:lvl1pPr algn="l">
              <a:defRPr sz="3150" b="1">
                <a:solidFill>
                  <a:srgbClr val="164E91"/>
                </a:solidFill>
                <a:latin typeface="Arial"/>
                <a:ea typeface="Arial"/>
                <a:cs typeface="Arial"/>
              </a:defRPr>
            </a:lvl1pPr>
            <a:lvl2pPr algn="l">
              <a:defRPr sz="3150" b="1">
                <a:solidFill>
                  <a:srgbClr val="164E91"/>
                </a:solidFill>
                <a:latin typeface="Arial"/>
                <a:ea typeface="Arial"/>
                <a:cs typeface="Arial"/>
              </a:defRPr>
            </a:lvl2pPr>
            <a:lvl3pPr algn="l">
              <a:defRPr sz="3150" b="1">
                <a:solidFill>
                  <a:srgbClr val="164E91"/>
                </a:solidFill>
                <a:latin typeface="Arial"/>
                <a:ea typeface="Arial"/>
                <a:cs typeface="Arial"/>
              </a:defRPr>
            </a:lvl3pPr>
            <a:lvl4pPr algn="l">
              <a:defRPr sz="3150" b="1">
                <a:solidFill>
                  <a:srgbClr val="164E91"/>
                </a:solidFill>
                <a:latin typeface="Arial"/>
                <a:ea typeface="Arial"/>
                <a:cs typeface="Arial"/>
              </a:defRPr>
            </a:lvl4pPr>
            <a:lvl5pPr algn="l">
              <a:defRPr sz="3150" b="1">
                <a:solidFill>
                  <a:srgbClr val="164E91"/>
                </a:solidFill>
                <a:latin typeface="Arial"/>
                <a:ea typeface="Arial"/>
                <a:cs typeface="Arial"/>
              </a:defRPr>
            </a:lvl5pPr>
            <a:lvl6pPr algn="l">
              <a:defRPr sz="3150" b="1">
                <a:solidFill>
                  <a:srgbClr val="164E91"/>
                </a:solidFill>
                <a:latin typeface="Arial"/>
                <a:ea typeface="Arial"/>
                <a:cs typeface="Arial"/>
              </a:defRPr>
            </a:lvl6pPr>
            <a:lvl7pPr algn="l">
              <a:defRPr sz="3150" b="1">
                <a:solidFill>
                  <a:srgbClr val="164E91"/>
                </a:solidFill>
                <a:latin typeface="Arial"/>
                <a:ea typeface="Arial"/>
                <a:cs typeface="Arial"/>
              </a:defRPr>
            </a:lvl7pPr>
            <a:lvl8pPr algn="l">
              <a:defRPr sz="3150" b="1">
                <a:solidFill>
                  <a:srgbClr val="164E91"/>
                </a:solidFill>
                <a:latin typeface="Arial"/>
                <a:ea typeface="Arial"/>
                <a:cs typeface="Arial"/>
              </a:defRPr>
            </a:lvl8pPr>
            <a:lvl9pPr algn="l">
              <a:defRPr sz="3150" b="1">
                <a:solidFill>
                  <a:srgbClr val="164E91"/>
                </a:solidFill>
                <a:latin typeface="Arial"/>
                <a:ea typeface="Arial"/>
                <a:cs typeface="Arial"/>
              </a:defRPr>
            </a:lvl9pPr>
          </a:lstStyle>
          <a:p xmlns:a="http://schemas.openxmlformats.org/drawingml/2006/main">
            <a:pPr algn="l">
              <a:defRPr sz="3150" b="1">
                <a:solidFill>
                  <a:srgbClr val="164E91"/>
                </a:solidFill>
                <a:latin typeface="Arial"/>
                <a:ea typeface="Arial"/>
                <a:cs typeface="Arial"/>
              </a:defRPr>
            </a:pPr>
            <a:r>
              <a:rPr sz="3150" b="1">
                <a:solidFill>
                  <a:srgbClr val="164E91"/>
                </a:solidFill>
                <a:latin typeface="Arial"/>
                <a:ea typeface="Arial"/>
                <a:cs typeface="Arial"/>
              </a:rPr>
              <a:t>Slovin’s formula</a:t>
            </a:r>
          </a:p>
        </p:txBody>
      </p:sp>
      <p:sp>
        <p:nvSpPr>
          <p:cNvPr id="7" name="slovin-formula">
            <a:extLst xmlns:a="http://schemas.openxmlformats.org/drawingml/2006/main">
              <a:ext uri="{FF2B5EF4-FFF2-40B4-BE49-F238E27FC236}">
                <a16:creationId xmlns:a16="http://schemas.microsoft.com/office/drawing/2014/main" id="{1B7739E8-BA1E-440A-82BB-BD31B06D72CB}"/>
              </a:ext>
            </a:extLst>
          </p:cNvPr>
          <p:cNvSpPr>
            <a:spLocks xmlns:a="http://schemas.openxmlformats.org/drawingml/2006/main" noGrp="1"/>
          </p:cNvSpPr>
          <p:nvPr/>
        </p:nvSpPr>
        <p:spPr>
          <a:xfrm xmlns:a="http://schemas.openxmlformats.org/drawingml/2006/main">
            <a:off x="762000" y="370522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350" b="0">
                <a:solidFill>
                  <a:srgbClr val="182B45"/>
                </a:solidFill>
                <a:latin typeface="Arial"/>
                <a:ea typeface="Arial"/>
                <a:cs typeface="Arial"/>
              </a:defRPr>
            </a:defPPr>
            <a:lvl1pPr algn="l">
              <a:defRPr sz="4350" b="0">
                <a:solidFill>
                  <a:srgbClr val="182B45"/>
                </a:solidFill>
                <a:latin typeface="Arial"/>
                <a:ea typeface="Arial"/>
                <a:cs typeface="Arial"/>
              </a:defRPr>
            </a:lvl1pPr>
            <a:lvl2pPr algn="l">
              <a:defRPr sz="4350" b="0">
                <a:solidFill>
                  <a:srgbClr val="182B45"/>
                </a:solidFill>
                <a:latin typeface="Arial"/>
                <a:ea typeface="Arial"/>
                <a:cs typeface="Arial"/>
              </a:defRPr>
            </a:lvl2pPr>
            <a:lvl3pPr algn="l">
              <a:defRPr sz="4350" b="0">
                <a:solidFill>
                  <a:srgbClr val="182B45"/>
                </a:solidFill>
                <a:latin typeface="Arial"/>
                <a:ea typeface="Arial"/>
                <a:cs typeface="Arial"/>
              </a:defRPr>
            </a:lvl3pPr>
            <a:lvl4pPr algn="l">
              <a:defRPr sz="4350" b="0">
                <a:solidFill>
                  <a:srgbClr val="182B45"/>
                </a:solidFill>
                <a:latin typeface="Arial"/>
                <a:ea typeface="Arial"/>
                <a:cs typeface="Arial"/>
              </a:defRPr>
            </a:lvl4pPr>
            <a:lvl5pPr algn="l">
              <a:defRPr sz="4350" b="0">
                <a:solidFill>
                  <a:srgbClr val="182B45"/>
                </a:solidFill>
                <a:latin typeface="Arial"/>
                <a:ea typeface="Arial"/>
                <a:cs typeface="Arial"/>
              </a:defRPr>
            </a:lvl5pPr>
            <a:lvl6pPr algn="l">
              <a:defRPr sz="4350" b="0">
                <a:solidFill>
                  <a:srgbClr val="182B45"/>
                </a:solidFill>
                <a:latin typeface="Arial"/>
                <a:ea typeface="Arial"/>
                <a:cs typeface="Arial"/>
              </a:defRPr>
            </a:lvl6pPr>
            <a:lvl7pPr algn="l">
              <a:defRPr sz="4350" b="0">
                <a:solidFill>
                  <a:srgbClr val="182B45"/>
                </a:solidFill>
                <a:latin typeface="Arial"/>
                <a:ea typeface="Arial"/>
                <a:cs typeface="Arial"/>
              </a:defRPr>
            </a:lvl7pPr>
            <a:lvl8pPr algn="l">
              <a:defRPr sz="4350" b="0">
                <a:solidFill>
                  <a:srgbClr val="182B45"/>
                </a:solidFill>
                <a:latin typeface="Arial"/>
                <a:ea typeface="Arial"/>
                <a:cs typeface="Arial"/>
              </a:defRPr>
            </a:lvl8pPr>
            <a:lvl9pPr algn="l">
              <a:defRPr sz="4350" b="0">
                <a:solidFill>
                  <a:srgbClr val="182B45"/>
                </a:solidFill>
                <a:latin typeface="Arial"/>
                <a:ea typeface="Arial"/>
                <a:cs typeface="Arial"/>
              </a:defRPr>
            </a:lvl9pPr>
          </a:lstStyle>
          <a:p xmlns:a="http://schemas.openxmlformats.org/drawingml/2006/main">
            <a:pPr algn="l">
              <a:defRPr sz="4350" b="0">
                <a:solidFill>
                  <a:srgbClr val="182B45"/>
                </a:solidFill>
                <a:latin typeface="Arial"/>
                <a:ea typeface="Arial"/>
                <a:cs typeface="Arial"/>
              </a:defRPr>
            </a:pPr>
            <a:r>
              <a:rPr sz="4350" b="0">
                <a:solidFill>
                  <a:srgbClr val="182B45"/>
                </a:solidFill>
                <a:latin typeface="Arial"/>
                <a:ea typeface="Arial"/>
                <a:cs typeface="Arial"/>
              </a:rPr>
              <a:t>n = N / (1 + N e²)</a:t>
            </a:r>
          </a:p>
        </p:txBody>
      </p:sp>
      <p:sp>
        <p:nvSpPr>
          <p:cNvPr id="8" name="symbols">
            <a:extLst xmlns:a="http://schemas.openxmlformats.org/drawingml/2006/main">
              <a:ext uri="{FF2B5EF4-FFF2-40B4-BE49-F238E27FC236}">
                <a16:creationId xmlns:a16="http://schemas.microsoft.com/office/drawing/2014/main" id="{F15D79B3-8E5D-427A-9EBD-47C0BB4E3907}"/>
              </a:ext>
            </a:extLst>
          </p:cNvPr>
          <p:cNvSpPr>
            <a:spLocks xmlns:a="http://schemas.openxmlformats.org/drawingml/2006/main" noGrp="1"/>
          </p:cNvSpPr>
          <p:nvPr/>
        </p:nvSpPr>
        <p:spPr>
          <a:xfrm xmlns:a="http://schemas.openxmlformats.org/drawingml/2006/main">
            <a:off x="762000" y="4829175"/>
            <a:ext cx="1371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 = population size     e = margin of error</a:t>
            </a:r>
          </a:p>
        </p:txBody>
      </p:sp>
      <p:sp>
        <p:nvSpPr>
          <p:cNvPr id="9" name="sampling-boundary">
            <a:extLst xmlns:a="http://schemas.openxmlformats.org/drawingml/2006/main">
              <a:ext uri="{FF2B5EF4-FFF2-40B4-BE49-F238E27FC236}">
                <a16:creationId xmlns:a16="http://schemas.microsoft.com/office/drawing/2014/main" id="{836AA142-5A15-4480-820A-149D4BB1A244}"/>
              </a:ext>
            </a:extLst>
          </p:cNvPr>
          <p:cNvSpPr>
            <a:spLocks xmlns:a="http://schemas.openxmlformats.org/drawingml/2006/main" noGrp="1"/>
          </p:cNvSpPr>
          <p:nvPr/>
        </p:nvSpPr>
        <p:spPr>
          <a:xfrm xmlns:a="http://schemas.openxmlformats.org/drawingml/2006/main">
            <a:off x="762000" y="6200775"/>
            <a:ext cx="1371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0">
                <a:solidFill>
                  <a:srgbClr val="182B45"/>
                </a:solidFill>
                <a:latin typeface="Arial"/>
                <a:ea typeface="Arial"/>
                <a:cs typeface="Arial"/>
              </a:defRPr>
            </a:defPPr>
            <a:lvl1pPr algn="l">
              <a:defRPr sz="2850" b="0">
                <a:solidFill>
                  <a:srgbClr val="182B45"/>
                </a:solidFill>
                <a:latin typeface="Arial"/>
                <a:ea typeface="Arial"/>
                <a:cs typeface="Arial"/>
              </a:defRPr>
            </a:lvl1pPr>
            <a:lvl2pPr algn="l">
              <a:defRPr sz="2850" b="0">
                <a:solidFill>
                  <a:srgbClr val="182B45"/>
                </a:solidFill>
                <a:latin typeface="Arial"/>
                <a:ea typeface="Arial"/>
                <a:cs typeface="Arial"/>
              </a:defRPr>
            </a:lvl2pPr>
            <a:lvl3pPr algn="l">
              <a:defRPr sz="2850" b="0">
                <a:solidFill>
                  <a:srgbClr val="182B45"/>
                </a:solidFill>
                <a:latin typeface="Arial"/>
                <a:ea typeface="Arial"/>
                <a:cs typeface="Arial"/>
              </a:defRPr>
            </a:lvl3pPr>
            <a:lvl4pPr algn="l">
              <a:defRPr sz="2850" b="0">
                <a:solidFill>
                  <a:srgbClr val="182B45"/>
                </a:solidFill>
                <a:latin typeface="Arial"/>
                <a:ea typeface="Arial"/>
                <a:cs typeface="Arial"/>
              </a:defRPr>
            </a:lvl4pPr>
            <a:lvl5pPr algn="l">
              <a:defRPr sz="2850" b="0">
                <a:solidFill>
                  <a:srgbClr val="182B45"/>
                </a:solidFill>
                <a:latin typeface="Arial"/>
                <a:ea typeface="Arial"/>
                <a:cs typeface="Arial"/>
              </a:defRPr>
            </a:lvl5pPr>
            <a:lvl6pPr algn="l">
              <a:defRPr sz="2850" b="0">
                <a:solidFill>
                  <a:srgbClr val="182B45"/>
                </a:solidFill>
                <a:latin typeface="Arial"/>
                <a:ea typeface="Arial"/>
                <a:cs typeface="Arial"/>
              </a:defRPr>
            </a:lvl6pPr>
            <a:lvl7pPr algn="l">
              <a:defRPr sz="2850" b="0">
                <a:solidFill>
                  <a:srgbClr val="182B45"/>
                </a:solidFill>
                <a:latin typeface="Arial"/>
                <a:ea typeface="Arial"/>
                <a:cs typeface="Arial"/>
              </a:defRPr>
            </a:lvl7pPr>
            <a:lvl8pPr algn="l">
              <a:defRPr sz="2850" b="0">
                <a:solidFill>
                  <a:srgbClr val="182B45"/>
                </a:solidFill>
                <a:latin typeface="Arial"/>
                <a:ea typeface="Arial"/>
                <a:cs typeface="Arial"/>
              </a:defRPr>
            </a:lvl8pPr>
            <a:lvl9pPr algn="l">
              <a:defRPr sz="2850" b="0">
                <a:solidFill>
                  <a:srgbClr val="182B45"/>
                </a:solidFill>
                <a:latin typeface="Arial"/>
                <a:ea typeface="Arial"/>
                <a:cs typeface="Arial"/>
              </a:defRPr>
            </a:lvl9pPr>
          </a:lstStyle>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The initial 40 respondents were purposively selected.</a:t>
            </a:r>
          </a:p>
          <a:p xmlns:a="http://schemas.openxmlformats.org/drawingml/2006/main">
            <a:pPr algn="l">
              <a:defRPr sz="2850" b="0">
                <a:solidFill>
                  <a:srgbClr val="182B45"/>
                </a:solidFill>
                <a:latin typeface="Arial"/>
                <a:ea typeface="Arial"/>
                <a:cs typeface="Arial"/>
              </a:defRPr>
            </a:pPr>
            <a:r>
              <a:rPr sz="2850" b="0">
                <a:solidFill>
                  <a:srgbClr val="182B45"/>
                </a:solidFill>
                <a:latin typeface="Arial"/>
                <a:ea typeface="Arial"/>
                <a:cs typeface="Arial"/>
              </a:rPr>
              <a:t>No documented calculation establishes 40 through this formula.</a:t>
            </a:r>
          </a:p>
        </p:txBody>
      </p:sp>
    </p:spTree>
    <p:extLst>
      <p:ext uri="{BB962C8B-B14F-4D97-AF65-F5344CB8AC3E}">
        <p14:creationId xmlns:p14="http://schemas.microsoft.com/office/powerpoint/2010/main" val="110635868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1226077A-0ACD-4859-ADA8-CA995F60993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CHAPTER 3</a:t>
            </a:r>
          </a:p>
        </p:txBody>
      </p:sp>
      <p:sp>
        <p:nvSpPr>
          <p:cNvPr id="2" name="title">
            <a:extLst xmlns:a="http://schemas.openxmlformats.org/drawingml/2006/main">
              <a:ext uri="{FF2B5EF4-FFF2-40B4-BE49-F238E27FC236}">
                <a16:creationId xmlns:a16="http://schemas.microsoft.com/office/drawing/2014/main" id="{12E8C56E-4F7C-4F97-A40E-AC59CDB09DD3}"/>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Planned evaluation rating scale</a:t>
            </a:r>
          </a:p>
        </p:txBody>
      </p:sp>
      <p:sp>
        <p:nvSpPr>
          <p:cNvPr id="3" name="yellow-accent-rule">
            <a:extLst xmlns:a="http://schemas.openxmlformats.org/drawingml/2006/main">
              <a:ext uri="{FF2B5EF4-FFF2-40B4-BE49-F238E27FC236}">
                <a16:creationId xmlns:a16="http://schemas.microsoft.com/office/drawing/2014/main" id="{DBFAC882-AFFD-447D-A3C5-F06F12973C8E}"/>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3C5542D5-0024-4435-8B25-0E76FF51F592}"/>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 3, Table 5; planned evaluation, no results</a:t>
            </a:r>
          </a:p>
        </p:txBody>
      </p:sp>
      <p:sp>
        <p:nvSpPr>
          <p:cNvPr id="5" name="page">
            <a:extLst xmlns:a="http://schemas.openxmlformats.org/drawingml/2006/main">
              <a:ext uri="{FF2B5EF4-FFF2-40B4-BE49-F238E27FC236}">
                <a16:creationId xmlns:a16="http://schemas.microsoft.com/office/drawing/2014/main" id="{7028330E-948F-426F-985D-5108BF5CCA34}"/>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49</a:t>
            </a:r>
          </a:p>
        </p:txBody>
      </p:sp>
      <p:graphicFrame>
        <p:nvGraphicFramePr>
          <p:cNvPr id="6" name="">
            <a:extLst xmlns:a="http://schemas.openxmlformats.org/drawingml/2006/main">
              <a:ext uri="{FF2B5EF4-FFF2-40B4-BE49-F238E27FC236}">
                <a16:creationId xmlns:a16="http://schemas.microsoft.com/office/drawing/2014/main" id="{9FFC1B04-05EF-4234-B392-19A65C803D8B}"/>
              </a:ext>
            </a:extLst>
          </p:cNvPr>
          <p:cNvGraphicFramePr/>
          <p:nvPr/>
        </p:nvGraphicFramePr>
        <p:xfrm>
          <a:off xmlns:a="http://schemas.openxmlformats.org/drawingml/2006/main" x="762000" y="2762250"/>
          <a:ext xmlns:a="http://schemas.openxmlformats.org/drawingml/2006/main" cx="13716000" cy="4000500"/>
        </p:xfrm>
        <a:graphic xmlns:a="http://schemas.openxmlformats.org/drawingml/2006/main">
          <a:graphicData uri="http://schemas.openxmlformats.org/drawingml/2006/table">
            <a:tbl>
              <a:tblPr firstRow="1" bandRow="0"/>
              <a:tblGrid>
                <a:gridCol w="2095500"/>
                <a:gridCol w="4286250"/>
                <a:gridCol w="7334250"/>
              </a:tblGrid>
              <a:tr h="666750">
                <a:tc>
                  <a:txBody>
                    <a:bodyPr lIns="171450" tIns="95250" rIns="171450" bIns="95250">
                      <a:noAutofit/>
                    </a:bodyPr>
                    <a:lstStyle/>
                    <a:p>
                      <a:pPr algn="l"/>
                      <a:r>
                        <a:rPr sz="2700" b="1">
                          <a:solidFill>
                            <a:srgbClr val="FFFFFF"/>
                          </a:solidFill>
                          <a:latin typeface="Arial"/>
                          <a:ea typeface="Arial"/>
                          <a:cs typeface="Arial"/>
                        </a:rPr>
                        <a:t>SCORE</a:t>
                      </a:r>
                    </a:p>
                  </a:txBody>
                  <a:tcPr marL="91440" marR="91440" marT="45720" marB="45720" anchor="ctr">
                    <a:lnL w="9525">
                      <a:solidFill>
                        <a:srgbClr val="CAD5E1"/>
                      </a:solidFill>
                      <a:prstDash val="solid"/>
                    </a:lnL>
                    <a:lnR w="9525">
                      <a:solidFill>
                        <a:srgbClr val="CAD5E1"/>
                      </a:solidFill>
                      <a:prstDash val="solid"/>
                    </a:lnR>
                    <a:lnT w="9525">
                      <a:solidFill>
                        <a:srgbClr val="CAD5E1"/>
                      </a:solidFill>
                      <a:prstDash val="solid"/>
                    </a:lnT>
                    <a:lnB w="9525">
                      <a:solidFill>
                        <a:srgbClr val="CAD5E1"/>
                      </a:solidFill>
                      <a:prstDash val="solid"/>
                    </a:lnB>
                    <a:solidFill>
                      <a:srgbClr val="164E91"/>
                    </a:solidFill>
                  </a:tcPr>
                </a:tc>
                <a:tc>
                  <a:txBody>
                    <a:bodyPr lIns="171450" tIns="95250" rIns="171450" bIns="95250">
                      <a:noAutofit/>
                    </a:bodyPr>
                    <a:lstStyle/>
                    <a:p>
                      <a:pPr algn="ctr"/>
                      <a:r>
                        <a:rPr sz="2700" b="1">
                          <a:solidFill>
                            <a:srgbClr val="FFFFFF"/>
                          </a:solidFill>
                          <a:latin typeface="Arial"/>
                          <a:ea typeface="Arial"/>
                          <a:cs typeface="Arial"/>
                        </a:rPr>
                        <a:t>MEAN RANGE</a:t>
                      </a:r>
                    </a:p>
                  </a:txBody>
                  <a:tcPr marL="91440" marR="91440" marT="45720" marB="45720" anchor="ctr">
                    <a:lnR w="9525">
                      <a:solidFill>
                        <a:srgbClr val="CAD5E1"/>
                      </a:solidFill>
                      <a:prstDash val="solid"/>
                    </a:lnR>
                    <a:lnT w="9525">
                      <a:solidFill>
                        <a:srgbClr val="CAD5E1"/>
                      </a:solidFill>
                      <a:prstDash val="solid"/>
                    </a:lnT>
                    <a:lnB w="9525">
                      <a:solidFill>
                        <a:srgbClr val="CAD5E1"/>
                      </a:solidFill>
                      <a:prstDash val="solid"/>
                    </a:lnB>
                    <a:solidFill>
                      <a:srgbClr val="164E91"/>
                    </a:solidFill>
                  </a:tcPr>
                </a:tc>
                <a:tc>
                  <a:txBody>
                    <a:bodyPr lIns="171450" tIns="95250" rIns="171450" bIns="95250">
                      <a:noAutofit/>
                    </a:bodyPr>
                    <a:lstStyle/>
                    <a:p>
                      <a:pPr algn="ctr"/>
                      <a:r>
                        <a:rPr sz="2700" b="1">
                          <a:solidFill>
                            <a:srgbClr val="FFFFFF"/>
                          </a:solidFill>
                          <a:latin typeface="Arial"/>
                          <a:ea typeface="Arial"/>
                          <a:cs typeface="Arial"/>
                        </a:rPr>
                        <a:t>INTERPRETATION</a:t>
                      </a:r>
                    </a:p>
                  </a:txBody>
                  <a:tcPr marL="91440" marR="91440" marT="45720" marB="45720" anchor="ctr">
                    <a:lnR w="9525">
                      <a:solidFill>
                        <a:srgbClr val="CAD5E1"/>
                      </a:solidFill>
                      <a:prstDash val="solid"/>
                    </a:lnR>
                    <a:lnT w="9525">
                      <a:solidFill>
                        <a:srgbClr val="CAD5E1"/>
                      </a:solidFill>
                      <a:prstDash val="solid"/>
                    </a:lnT>
                    <a:lnB w="9525">
                      <a:solidFill>
                        <a:srgbClr val="CAD5E1"/>
                      </a:solidFill>
                      <a:prstDash val="solid"/>
                    </a:lnB>
                    <a:solidFill>
                      <a:srgbClr val="164E91"/>
                    </a:solidFill>
                  </a:tcPr>
                </a:tc>
              </a:tr>
              <a:tr h="666750">
                <a:tc>
                  <a:txBody>
                    <a:bodyPr lIns="171450" tIns="95250" rIns="171450" bIns="95250">
                      <a:noAutofit/>
                    </a:bodyPr>
                    <a:lstStyle/>
                    <a:p>
                      <a:pPr algn="l"/>
                      <a:r>
                        <a:rPr sz="2700" b="0">
                          <a:solidFill>
                            <a:srgbClr val="182B45"/>
                          </a:solidFill>
                          <a:latin typeface="Arial"/>
                          <a:ea typeface="Arial"/>
                          <a:cs typeface="Arial"/>
                        </a:rPr>
                        <a:t>5</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4.50–5.00</a:t>
                      </a:r>
                    </a:p>
                  </a:txBody>
                  <a:tcPr marL="91440" marR="91440" marT="45720" marB="45720" anchor="ctr">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Excellent</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4</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3.50–4.49</a:t>
                      </a:r>
                    </a:p>
                  </a:txBody>
                  <a:tcPr marL="91440" marR="91440" marT="45720" marB="45720" anchor="ctr">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Very Satisfactory</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3</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2.50–3.49</a:t>
                      </a:r>
                    </a:p>
                  </a:txBody>
                  <a:tcPr marL="91440" marR="91440" marT="45720" marB="45720" anchor="ctr">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Satisfactory</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2</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1.50–2.49</a:t>
                      </a:r>
                    </a:p>
                  </a:txBody>
                  <a:tcPr marL="91440" marR="91440" marT="45720" marB="45720" anchor="ctr">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Fair</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r h="666750">
                <a:tc>
                  <a:txBody>
                    <a:bodyPr lIns="171450" tIns="95250" rIns="171450" bIns="95250">
                      <a:noAutofit/>
                    </a:bodyPr>
                    <a:lstStyle/>
                    <a:p>
                      <a:pPr algn="l"/>
                      <a:r>
                        <a:rPr sz="2700" b="0">
                          <a:solidFill>
                            <a:srgbClr val="182B45"/>
                          </a:solidFill>
                          <a:latin typeface="Arial"/>
                          <a:ea typeface="Arial"/>
                          <a:cs typeface="Arial"/>
                        </a:rPr>
                        <a:t>1</a:t>
                      </a:r>
                    </a:p>
                  </a:txBody>
                  <a:tcPr marL="91440" marR="91440" marT="45720" marB="45720" anchor="ctr">
                    <a:lnL w="9525">
                      <a:solidFill>
                        <a:srgbClr val="CAD5E1"/>
                      </a:solidFill>
                      <a:prstDash val="solid"/>
                    </a:lnL>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1.00–1.49</a:t>
                      </a:r>
                    </a:p>
                  </a:txBody>
                  <a:tcPr marL="91440" marR="91440" marT="45720" marB="45720" anchor="ctr">
                    <a:lnR w="9525">
                      <a:solidFill>
                        <a:srgbClr val="CAD5E1"/>
                      </a:solidFill>
                      <a:prstDash val="solid"/>
                    </a:lnR>
                    <a:lnB w="9525">
                      <a:solidFill>
                        <a:srgbClr val="CAD5E1"/>
                      </a:solidFill>
                      <a:prstDash val="solid"/>
                    </a:lnB>
                    <a:solidFill>
                      <a:srgbClr val="FFFFFF"/>
                    </a:solidFill>
                  </a:tcPr>
                </a:tc>
                <a:tc>
                  <a:txBody>
                    <a:bodyPr lIns="171450" tIns="95250" rIns="171450" bIns="95250">
                      <a:noAutofit/>
                    </a:bodyPr>
                    <a:lstStyle/>
                    <a:p>
                      <a:pPr algn="ctr"/>
                      <a:r>
                        <a:rPr sz="2700" b="0">
                          <a:solidFill>
                            <a:srgbClr val="182B45"/>
                          </a:solidFill>
                          <a:latin typeface="Arial"/>
                          <a:ea typeface="Arial"/>
                          <a:cs typeface="Arial"/>
                        </a:rPr>
                        <a:t>Poor</a:t>
                      </a:r>
                    </a:p>
                  </a:txBody>
                  <a:tcPr marL="91440" marR="91440" marT="45720" marB="45720" anchor="ctr">
                    <a:lnR w="9525">
                      <a:solidFill>
                        <a:srgbClr val="CAD5E1"/>
                      </a:solidFill>
                      <a:prstDash val="solid"/>
                    </a:lnR>
                    <a:lnB w="9525">
                      <a:solidFill>
                        <a:srgbClr val="CAD5E1"/>
                      </a:solidFill>
                      <a:prstDash val="solid"/>
                    </a:lnB>
                    <a:solidFill>
                      <a:srgbClr val="FFFFFF"/>
                    </a:solidFill>
                  </a:tcPr>
                </a:tc>
              </a:tr>
            </a:tbl>
          </a:graphicData>
        </a:graphic>
      </p:graphicFrame>
      <p:sp>
        <p:nvSpPr>
          <p:cNvPr id="7" name="evaluation-boundary">
            <a:extLst xmlns:a="http://schemas.openxmlformats.org/drawingml/2006/main">
              <a:ext uri="{FF2B5EF4-FFF2-40B4-BE49-F238E27FC236}">
                <a16:creationId xmlns:a16="http://schemas.microsoft.com/office/drawing/2014/main" id="{F06C193A-7B10-48A6-B112-85C5FA60CAF2}"/>
              </a:ext>
            </a:extLst>
          </p:cNvPr>
          <p:cNvSpPr>
            <a:spLocks xmlns:a="http://schemas.openxmlformats.org/drawingml/2006/main" noGrp="1"/>
          </p:cNvSpPr>
          <p:nvPr/>
        </p:nvSpPr>
        <p:spPr>
          <a:xfrm xmlns:a="http://schemas.openxmlformats.org/drawingml/2006/main">
            <a:off x="762000" y="7191375"/>
            <a:ext cx="13716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82B45"/>
                </a:solidFill>
                <a:latin typeface="Arial"/>
                <a:ea typeface="Arial"/>
                <a:cs typeface="Arial"/>
              </a:defRPr>
            </a:defPPr>
            <a:lvl1pPr algn="l">
              <a:defRPr sz="2700" b="0">
                <a:solidFill>
                  <a:srgbClr val="182B45"/>
                </a:solidFill>
                <a:latin typeface="Arial"/>
                <a:ea typeface="Arial"/>
                <a:cs typeface="Arial"/>
              </a:defRPr>
            </a:lvl1pPr>
            <a:lvl2pPr algn="l">
              <a:defRPr sz="2700" b="0">
                <a:solidFill>
                  <a:srgbClr val="182B45"/>
                </a:solidFill>
                <a:latin typeface="Arial"/>
                <a:ea typeface="Arial"/>
                <a:cs typeface="Arial"/>
              </a:defRPr>
            </a:lvl2pPr>
            <a:lvl3pPr algn="l">
              <a:defRPr sz="2700" b="0">
                <a:solidFill>
                  <a:srgbClr val="182B45"/>
                </a:solidFill>
                <a:latin typeface="Arial"/>
                <a:ea typeface="Arial"/>
                <a:cs typeface="Arial"/>
              </a:defRPr>
            </a:lvl3pPr>
            <a:lvl4pPr algn="l">
              <a:defRPr sz="2700" b="0">
                <a:solidFill>
                  <a:srgbClr val="182B45"/>
                </a:solidFill>
                <a:latin typeface="Arial"/>
                <a:ea typeface="Arial"/>
                <a:cs typeface="Arial"/>
              </a:defRPr>
            </a:lvl4pPr>
            <a:lvl5pPr algn="l">
              <a:defRPr sz="2700" b="0">
                <a:solidFill>
                  <a:srgbClr val="182B45"/>
                </a:solidFill>
                <a:latin typeface="Arial"/>
                <a:ea typeface="Arial"/>
                <a:cs typeface="Arial"/>
              </a:defRPr>
            </a:lvl5pPr>
            <a:lvl6pPr algn="l">
              <a:defRPr sz="2700" b="0">
                <a:solidFill>
                  <a:srgbClr val="182B45"/>
                </a:solidFill>
                <a:latin typeface="Arial"/>
                <a:ea typeface="Arial"/>
                <a:cs typeface="Arial"/>
              </a:defRPr>
            </a:lvl6pPr>
            <a:lvl7pPr algn="l">
              <a:defRPr sz="2700" b="0">
                <a:solidFill>
                  <a:srgbClr val="182B45"/>
                </a:solidFill>
                <a:latin typeface="Arial"/>
                <a:ea typeface="Arial"/>
                <a:cs typeface="Arial"/>
              </a:defRPr>
            </a:lvl7pPr>
            <a:lvl8pPr algn="l">
              <a:defRPr sz="2700" b="0">
                <a:solidFill>
                  <a:srgbClr val="182B45"/>
                </a:solidFill>
                <a:latin typeface="Arial"/>
                <a:ea typeface="Arial"/>
                <a:cs typeface="Arial"/>
              </a:defRPr>
            </a:lvl8pPr>
            <a:lvl9pPr algn="l">
              <a:defRPr sz="2700" b="0">
                <a:solidFill>
                  <a:srgbClr val="182B45"/>
                </a:solidFill>
                <a:latin typeface="Arial"/>
                <a:ea typeface="Arial"/>
                <a:cs typeface="Arial"/>
              </a:defRPr>
            </a:lvl9pPr>
          </a:lstStyle>
          <a:p xmlns:a="http://schemas.openxmlformats.org/drawingml/2006/main">
            <a:pPr algn="l">
              <a:defRPr sz="2700" b="0">
                <a:solidFill>
                  <a:srgbClr val="182B45"/>
                </a:solidFill>
                <a:latin typeface="Arial"/>
                <a:ea typeface="Arial"/>
                <a:cs typeface="Arial"/>
              </a:defRPr>
            </a:pPr>
            <a:r>
              <a:rPr sz="2700" b="0">
                <a:solidFill>
                  <a:srgbClr val="182B45"/>
                </a:solidFill>
                <a:latin typeface="Arial"/>
                <a:ea typeface="Arial"/>
                <a:cs typeface="Arial"/>
              </a:rPr>
              <a:t>Application-use evaluation and calculated means have not been completed.</a:t>
            </a:r>
          </a:p>
        </p:txBody>
      </p:sp>
    </p:spTree>
    <p:extLst>
      <p:ext uri="{BB962C8B-B14F-4D97-AF65-F5344CB8AC3E}">
        <p14:creationId xmlns:p14="http://schemas.microsoft.com/office/powerpoint/2010/main" val="1125000275"/>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38AD69A8-D2D5-4B87-B9DC-05A69534DF9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RESEARCH SUMMARY</a:t>
            </a:r>
          </a:p>
        </p:txBody>
      </p:sp>
      <p:sp>
        <p:nvSpPr>
          <p:cNvPr id="2" name="title">
            <a:extLst xmlns:a="http://schemas.openxmlformats.org/drawingml/2006/main">
              <a:ext uri="{FF2B5EF4-FFF2-40B4-BE49-F238E27FC236}">
                <a16:creationId xmlns:a16="http://schemas.microsoft.com/office/drawing/2014/main" id="{0A0A3765-08C1-467F-AFCC-243124F5361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Evidence and remaining requirements</a:t>
            </a:r>
          </a:p>
        </p:txBody>
      </p:sp>
      <p:sp>
        <p:nvSpPr>
          <p:cNvPr id="3" name="yellow-accent-rule">
            <a:extLst xmlns:a="http://schemas.openxmlformats.org/drawingml/2006/main">
              <a:ext uri="{FF2B5EF4-FFF2-40B4-BE49-F238E27FC236}">
                <a16:creationId xmlns:a16="http://schemas.microsoft.com/office/drawing/2014/main" id="{B7EC071E-54C6-459B-BAAE-8825942CD867}"/>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29F7E923-843F-48A5-873E-1ED389809334}"/>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Chapters 1–3</a:t>
            </a:r>
          </a:p>
        </p:txBody>
      </p:sp>
      <p:sp>
        <p:nvSpPr>
          <p:cNvPr id="5" name="page">
            <a:extLst xmlns:a="http://schemas.openxmlformats.org/drawingml/2006/main">
              <a:ext uri="{FF2B5EF4-FFF2-40B4-BE49-F238E27FC236}">
                <a16:creationId xmlns:a16="http://schemas.microsoft.com/office/drawing/2014/main" id="{FD6B3E82-6D99-4C4F-BE37-16360B752F1E}"/>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50</a:t>
            </a:r>
          </a:p>
        </p:txBody>
      </p:sp>
      <p:sp>
        <p:nvSpPr>
          <p:cNvPr id="6" name="row-1-label">
            <a:extLst xmlns:a="http://schemas.openxmlformats.org/drawingml/2006/main">
              <a:ext uri="{FF2B5EF4-FFF2-40B4-BE49-F238E27FC236}">
                <a16:creationId xmlns:a16="http://schemas.microsoft.com/office/drawing/2014/main" id="{373A403D-B52B-449A-8782-2E26F8128D93}"/>
              </a:ext>
            </a:extLst>
          </p:cNvPr>
          <p:cNvSpPr>
            <a:spLocks xmlns:a="http://schemas.openxmlformats.org/drawingml/2006/main" noGrp="1"/>
          </p:cNvSpPr>
          <p:nvPr/>
        </p:nvSpPr>
        <p:spPr>
          <a:xfrm xmlns:a="http://schemas.openxmlformats.org/drawingml/2006/main">
            <a:off x="762000" y="2667000"/>
            <a:ext cx="276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4E91"/>
                </a:solidFill>
                <a:latin typeface="Arial"/>
                <a:ea typeface="Arial"/>
                <a:cs typeface="Arial"/>
              </a:defRPr>
            </a:defPPr>
            <a:lvl1pPr algn="l">
              <a:defRPr sz="2925" b="1">
                <a:solidFill>
                  <a:srgbClr val="164E91"/>
                </a:solidFill>
                <a:latin typeface="Arial"/>
                <a:ea typeface="Arial"/>
                <a:cs typeface="Arial"/>
              </a:defRPr>
            </a:lvl1pPr>
            <a:lvl2pPr algn="l">
              <a:defRPr sz="2925" b="1">
                <a:solidFill>
                  <a:srgbClr val="164E91"/>
                </a:solidFill>
                <a:latin typeface="Arial"/>
                <a:ea typeface="Arial"/>
                <a:cs typeface="Arial"/>
              </a:defRPr>
            </a:lvl2pPr>
            <a:lvl3pPr algn="l">
              <a:defRPr sz="2925" b="1">
                <a:solidFill>
                  <a:srgbClr val="164E91"/>
                </a:solidFill>
                <a:latin typeface="Arial"/>
                <a:ea typeface="Arial"/>
                <a:cs typeface="Arial"/>
              </a:defRPr>
            </a:lvl3pPr>
            <a:lvl4pPr algn="l">
              <a:defRPr sz="2925" b="1">
                <a:solidFill>
                  <a:srgbClr val="164E91"/>
                </a:solidFill>
                <a:latin typeface="Arial"/>
                <a:ea typeface="Arial"/>
                <a:cs typeface="Arial"/>
              </a:defRPr>
            </a:lvl4pPr>
            <a:lvl5pPr algn="l">
              <a:defRPr sz="2925" b="1">
                <a:solidFill>
                  <a:srgbClr val="164E91"/>
                </a:solidFill>
                <a:latin typeface="Arial"/>
                <a:ea typeface="Arial"/>
                <a:cs typeface="Arial"/>
              </a:defRPr>
            </a:lvl5pPr>
            <a:lvl6pPr algn="l">
              <a:defRPr sz="2925" b="1">
                <a:solidFill>
                  <a:srgbClr val="164E91"/>
                </a:solidFill>
                <a:latin typeface="Arial"/>
                <a:ea typeface="Arial"/>
                <a:cs typeface="Arial"/>
              </a:defRPr>
            </a:lvl6pPr>
            <a:lvl7pPr algn="l">
              <a:defRPr sz="2925" b="1">
                <a:solidFill>
                  <a:srgbClr val="164E91"/>
                </a:solidFill>
                <a:latin typeface="Arial"/>
                <a:ea typeface="Arial"/>
                <a:cs typeface="Arial"/>
              </a:defRPr>
            </a:lvl7pPr>
            <a:lvl8pPr algn="l">
              <a:defRPr sz="2925" b="1">
                <a:solidFill>
                  <a:srgbClr val="164E91"/>
                </a:solidFill>
                <a:latin typeface="Arial"/>
                <a:ea typeface="Arial"/>
                <a:cs typeface="Arial"/>
              </a:defRPr>
            </a:lvl8pPr>
            <a:lvl9pPr algn="l">
              <a:defRPr sz="2925" b="1">
                <a:solidFill>
                  <a:srgbClr val="164E91"/>
                </a:solidFill>
                <a:latin typeface="Arial"/>
                <a:ea typeface="Arial"/>
                <a:cs typeface="Arial"/>
              </a:defRPr>
            </a:lvl9pPr>
          </a:lstStyle>
          <a:p xmlns:a="http://schemas.openxmlformats.org/drawingml/2006/main">
            <a:pPr algn="l">
              <a:defRPr sz="2925" b="1">
                <a:solidFill>
                  <a:srgbClr val="164E91"/>
                </a:solidFill>
                <a:latin typeface="Arial"/>
                <a:ea typeface="Arial"/>
                <a:cs typeface="Arial"/>
              </a:defRPr>
            </a:pPr>
            <a:r>
              <a:rPr sz="2925" b="1">
                <a:solidFill>
                  <a:srgbClr val="164E91"/>
                </a:solidFill>
                <a:latin typeface="Arial"/>
                <a:ea typeface="Arial"/>
                <a:cs typeface="Arial"/>
              </a:rPr>
              <a:t>Completed</a:t>
            </a:r>
          </a:p>
        </p:txBody>
      </p:sp>
      <p:sp>
        <p:nvSpPr>
          <p:cNvPr id="7" name="row-1-text">
            <a:extLst xmlns:a="http://schemas.openxmlformats.org/drawingml/2006/main">
              <a:ext uri="{FF2B5EF4-FFF2-40B4-BE49-F238E27FC236}">
                <a16:creationId xmlns:a16="http://schemas.microsoft.com/office/drawing/2014/main" id="{DDE3757B-DD8E-4782-ACB8-957AE1F06D87}"/>
              </a:ext>
            </a:extLst>
          </p:cNvPr>
          <p:cNvSpPr>
            <a:spLocks xmlns:a="http://schemas.openxmlformats.org/drawingml/2006/main" noGrp="1"/>
          </p:cNvSpPr>
          <p:nvPr/>
        </p:nvSpPr>
        <p:spPr>
          <a:xfrm xmlns:a="http://schemas.openxmlformats.org/drawingml/2006/main">
            <a:off x="3752850" y="2667000"/>
            <a:ext cx="10715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Initial needs assessment with 40 qualified respondents</a:t>
            </a:r>
          </a:p>
        </p:txBody>
      </p:sp>
      <p:sp>
        <p:nvSpPr>
          <p:cNvPr id="8" name="row-2-label">
            <a:extLst xmlns:a="http://schemas.openxmlformats.org/drawingml/2006/main">
              <a:ext uri="{FF2B5EF4-FFF2-40B4-BE49-F238E27FC236}">
                <a16:creationId xmlns:a16="http://schemas.microsoft.com/office/drawing/2014/main" id="{747DD50F-1F60-44EC-B322-3C019AF7E05E}"/>
              </a:ext>
            </a:extLst>
          </p:cNvPr>
          <p:cNvSpPr>
            <a:spLocks xmlns:a="http://schemas.openxmlformats.org/drawingml/2006/main" noGrp="1"/>
          </p:cNvSpPr>
          <p:nvPr/>
        </p:nvSpPr>
        <p:spPr>
          <a:xfrm xmlns:a="http://schemas.openxmlformats.org/drawingml/2006/main">
            <a:off x="762000" y="4286250"/>
            <a:ext cx="276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4E91"/>
                </a:solidFill>
                <a:latin typeface="Arial"/>
                <a:ea typeface="Arial"/>
                <a:cs typeface="Arial"/>
              </a:defRPr>
            </a:defPPr>
            <a:lvl1pPr algn="l">
              <a:defRPr sz="2925" b="1">
                <a:solidFill>
                  <a:srgbClr val="164E91"/>
                </a:solidFill>
                <a:latin typeface="Arial"/>
                <a:ea typeface="Arial"/>
                <a:cs typeface="Arial"/>
              </a:defRPr>
            </a:lvl1pPr>
            <a:lvl2pPr algn="l">
              <a:defRPr sz="2925" b="1">
                <a:solidFill>
                  <a:srgbClr val="164E91"/>
                </a:solidFill>
                <a:latin typeface="Arial"/>
                <a:ea typeface="Arial"/>
                <a:cs typeface="Arial"/>
              </a:defRPr>
            </a:lvl2pPr>
            <a:lvl3pPr algn="l">
              <a:defRPr sz="2925" b="1">
                <a:solidFill>
                  <a:srgbClr val="164E91"/>
                </a:solidFill>
                <a:latin typeface="Arial"/>
                <a:ea typeface="Arial"/>
                <a:cs typeface="Arial"/>
              </a:defRPr>
            </a:lvl3pPr>
            <a:lvl4pPr algn="l">
              <a:defRPr sz="2925" b="1">
                <a:solidFill>
                  <a:srgbClr val="164E91"/>
                </a:solidFill>
                <a:latin typeface="Arial"/>
                <a:ea typeface="Arial"/>
                <a:cs typeface="Arial"/>
              </a:defRPr>
            </a:lvl4pPr>
            <a:lvl5pPr algn="l">
              <a:defRPr sz="2925" b="1">
                <a:solidFill>
                  <a:srgbClr val="164E91"/>
                </a:solidFill>
                <a:latin typeface="Arial"/>
                <a:ea typeface="Arial"/>
                <a:cs typeface="Arial"/>
              </a:defRPr>
            </a:lvl5pPr>
            <a:lvl6pPr algn="l">
              <a:defRPr sz="2925" b="1">
                <a:solidFill>
                  <a:srgbClr val="164E91"/>
                </a:solidFill>
                <a:latin typeface="Arial"/>
                <a:ea typeface="Arial"/>
                <a:cs typeface="Arial"/>
              </a:defRPr>
            </a:lvl6pPr>
            <a:lvl7pPr algn="l">
              <a:defRPr sz="2925" b="1">
                <a:solidFill>
                  <a:srgbClr val="164E91"/>
                </a:solidFill>
                <a:latin typeface="Arial"/>
                <a:ea typeface="Arial"/>
                <a:cs typeface="Arial"/>
              </a:defRPr>
            </a:lvl7pPr>
            <a:lvl8pPr algn="l">
              <a:defRPr sz="2925" b="1">
                <a:solidFill>
                  <a:srgbClr val="164E91"/>
                </a:solidFill>
                <a:latin typeface="Arial"/>
                <a:ea typeface="Arial"/>
                <a:cs typeface="Arial"/>
              </a:defRPr>
            </a:lvl8pPr>
            <a:lvl9pPr algn="l">
              <a:defRPr sz="2925" b="1">
                <a:solidFill>
                  <a:srgbClr val="164E91"/>
                </a:solidFill>
                <a:latin typeface="Arial"/>
                <a:ea typeface="Arial"/>
                <a:cs typeface="Arial"/>
              </a:defRPr>
            </a:lvl9pPr>
          </a:lstStyle>
          <a:p xmlns:a="http://schemas.openxmlformats.org/drawingml/2006/main">
            <a:pPr algn="l">
              <a:defRPr sz="2925" b="1">
                <a:solidFill>
                  <a:srgbClr val="164E91"/>
                </a:solidFill>
                <a:latin typeface="Arial"/>
                <a:ea typeface="Arial"/>
                <a:cs typeface="Arial"/>
              </a:defRPr>
            </a:pPr>
            <a:r>
              <a:rPr sz="2925" b="1">
                <a:solidFill>
                  <a:srgbClr val="164E91"/>
                </a:solidFill>
                <a:latin typeface="Arial"/>
                <a:ea typeface="Arial"/>
                <a:cs typeface="Arial"/>
              </a:rPr>
              <a:t>Documented</a:t>
            </a:r>
          </a:p>
        </p:txBody>
      </p:sp>
      <p:sp>
        <p:nvSpPr>
          <p:cNvPr id="9" name="row-2-text">
            <a:extLst xmlns:a="http://schemas.openxmlformats.org/drawingml/2006/main">
              <a:ext uri="{FF2B5EF4-FFF2-40B4-BE49-F238E27FC236}">
                <a16:creationId xmlns:a16="http://schemas.microsoft.com/office/drawing/2014/main" id="{BCC008EE-E194-4010-9EFD-DDC57B465F4A}"/>
              </a:ext>
            </a:extLst>
          </p:cNvPr>
          <p:cNvSpPr>
            <a:spLocks xmlns:a="http://schemas.openxmlformats.org/drawingml/2006/main" noGrp="1"/>
          </p:cNvSpPr>
          <p:nvPr/>
        </p:nvSpPr>
        <p:spPr>
          <a:xfrm xmlns:a="http://schemas.openxmlformats.org/drawingml/2006/main">
            <a:off x="3752850" y="4286250"/>
            <a:ext cx="10715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Application development, technical checking, and institutional feedback</a:t>
            </a:r>
          </a:p>
        </p:txBody>
      </p:sp>
      <p:sp>
        <p:nvSpPr>
          <p:cNvPr id="10" name="row-3-label">
            <a:extLst xmlns:a="http://schemas.openxmlformats.org/drawingml/2006/main">
              <a:ext uri="{FF2B5EF4-FFF2-40B4-BE49-F238E27FC236}">
                <a16:creationId xmlns:a16="http://schemas.microsoft.com/office/drawing/2014/main" id="{6744A4AE-ECE6-4B46-851C-52683FA90B40}"/>
              </a:ext>
            </a:extLst>
          </p:cNvPr>
          <p:cNvSpPr>
            <a:spLocks xmlns:a="http://schemas.openxmlformats.org/drawingml/2006/main" noGrp="1"/>
          </p:cNvSpPr>
          <p:nvPr/>
        </p:nvSpPr>
        <p:spPr>
          <a:xfrm xmlns:a="http://schemas.openxmlformats.org/drawingml/2006/main">
            <a:off x="762000" y="5905500"/>
            <a:ext cx="276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64E91"/>
                </a:solidFill>
                <a:latin typeface="Arial"/>
                <a:ea typeface="Arial"/>
                <a:cs typeface="Arial"/>
              </a:defRPr>
            </a:defPPr>
            <a:lvl1pPr algn="l">
              <a:defRPr sz="2925" b="1">
                <a:solidFill>
                  <a:srgbClr val="164E91"/>
                </a:solidFill>
                <a:latin typeface="Arial"/>
                <a:ea typeface="Arial"/>
                <a:cs typeface="Arial"/>
              </a:defRPr>
            </a:lvl1pPr>
            <a:lvl2pPr algn="l">
              <a:defRPr sz="2925" b="1">
                <a:solidFill>
                  <a:srgbClr val="164E91"/>
                </a:solidFill>
                <a:latin typeface="Arial"/>
                <a:ea typeface="Arial"/>
                <a:cs typeface="Arial"/>
              </a:defRPr>
            </a:lvl2pPr>
            <a:lvl3pPr algn="l">
              <a:defRPr sz="2925" b="1">
                <a:solidFill>
                  <a:srgbClr val="164E91"/>
                </a:solidFill>
                <a:latin typeface="Arial"/>
                <a:ea typeface="Arial"/>
                <a:cs typeface="Arial"/>
              </a:defRPr>
            </a:lvl3pPr>
            <a:lvl4pPr algn="l">
              <a:defRPr sz="2925" b="1">
                <a:solidFill>
                  <a:srgbClr val="164E91"/>
                </a:solidFill>
                <a:latin typeface="Arial"/>
                <a:ea typeface="Arial"/>
                <a:cs typeface="Arial"/>
              </a:defRPr>
            </a:lvl4pPr>
            <a:lvl5pPr algn="l">
              <a:defRPr sz="2925" b="1">
                <a:solidFill>
                  <a:srgbClr val="164E91"/>
                </a:solidFill>
                <a:latin typeface="Arial"/>
                <a:ea typeface="Arial"/>
                <a:cs typeface="Arial"/>
              </a:defRPr>
            </a:lvl5pPr>
            <a:lvl6pPr algn="l">
              <a:defRPr sz="2925" b="1">
                <a:solidFill>
                  <a:srgbClr val="164E91"/>
                </a:solidFill>
                <a:latin typeface="Arial"/>
                <a:ea typeface="Arial"/>
                <a:cs typeface="Arial"/>
              </a:defRPr>
            </a:lvl6pPr>
            <a:lvl7pPr algn="l">
              <a:defRPr sz="2925" b="1">
                <a:solidFill>
                  <a:srgbClr val="164E91"/>
                </a:solidFill>
                <a:latin typeface="Arial"/>
                <a:ea typeface="Arial"/>
                <a:cs typeface="Arial"/>
              </a:defRPr>
            </a:lvl7pPr>
            <a:lvl8pPr algn="l">
              <a:defRPr sz="2925" b="1">
                <a:solidFill>
                  <a:srgbClr val="164E91"/>
                </a:solidFill>
                <a:latin typeface="Arial"/>
                <a:ea typeface="Arial"/>
                <a:cs typeface="Arial"/>
              </a:defRPr>
            </a:lvl8pPr>
            <a:lvl9pPr algn="l">
              <a:defRPr sz="2925" b="1">
                <a:solidFill>
                  <a:srgbClr val="164E91"/>
                </a:solidFill>
                <a:latin typeface="Arial"/>
                <a:ea typeface="Arial"/>
                <a:cs typeface="Arial"/>
              </a:defRPr>
            </a:lvl9pPr>
          </a:lstStyle>
          <a:p xmlns:a="http://schemas.openxmlformats.org/drawingml/2006/main">
            <a:pPr algn="l">
              <a:defRPr sz="2925" b="1">
                <a:solidFill>
                  <a:srgbClr val="164E91"/>
                </a:solidFill>
                <a:latin typeface="Arial"/>
                <a:ea typeface="Arial"/>
                <a:cs typeface="Arial"/>
              </a:defRPr>
            </a:pPr>
            <a:r>
              <a:rPr sz="2925" b="1">
                <a:solidFill>
                  <a:srgbClr val="164E91"/>
                </a:solidFill>
                <a:latin typeface="Arial"/>
                <a:ea typeface="Arial"/>
                <a:cs typeface="Arial"/>
              </a:rPr>
              <a:t>Pending</a:t>
            </a:r>
          </a:p>
        </p:txBody>
      </p:sp>
      <p:sp>
        <p:nvSpPr>
          <p:cNvPr id="11" name="row-3-text">
            <a:extLst xmlns:a="http://schemas.openxmlformats.org/drawingml/2006/main">
              <a:ext uri="{FF2B5EF4-FFF2-40B4-BE49-F238E27FC236}">
                <a16:creationId xmlns:a16="http://schemas.microsoft.com/office/drawing/2014/main" id="{10ADFF66-B521-4756-9F2F-504148835425}"/>
              </a:ext>
            </a:extLst>
          </p:cNvPr>
          <p:cNvSpPr>
            <a:spLocks xmlns:a="http://schemas.openxmlformats.org/drawingml/2006/main" noGrp="1"/>
          </p:cNvSpPr>
          <p:nvPr/>
        </p:nvSpPr>
        <p:spPr>
          <a:xfrm xmlns:a="http://schemas.openxmlformats.org/drawingml/2006/main">
            <a:off x="3752850" y="5905500"/>
            <a:ext cx="10715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82B45"/>
                </a:solidFill>
                <a:latin typeface="Arial"/>
                <a:ea typeface="Arial"/>
                <a:cs typeface="Arial"/>
              </a:defRPr>
            </a:defPPr>
            <a:lvl1pPr algn="l">
              <a:defRPr sz="2925" b="0">
                <a:solidFill>
                  <a:srgbClr val="182B45"/>
                </a:solidFill>
                <a:latin typeface="Arial"/>
                <a:ea typeface="Arial"/>
                <a:cs typeface="Arial"/>
              </a:defRPr>
            </a:lvl1pPr>
            <a:lvl2pPr algn="l">
              <a:defRPr sz="2925" b="0">
                <a:solidFill>
                  <a:srgbClr val="182B45"/>
                </a:solidFill>
                <a:latin typeface="Arial"/>
                <a:ea typeface="Arial"/>
                <a:cs typeface="Arial"/>
              </a:defRPr>
            </a:lvl2pPr>
            <a:lvl3pPr algn="l">
              <a:defRPr sz="2925" b="0">
                <a:solidFill>
                  <a:srgbClr val="182B45"/>
                </a:solidFill>
                <a:latin typeface="Arial"/>
                <a:ea typeface="Arial"/>
                <a:cs typeface="Arial"/>
              </a:defRPr>
            </a:lvl3pPr>
            <a:lvl4pPr algn="l">
              <a:defRPr sz="2925" b="0">
                <a:solidFill>
                  <a:srgbClr val="182B45"/>
                </a:solidFill>
                <a:latin typeface="Arial"/>
                <a:ea typeface="Arial"/>
                <a:cs typeface="Arial"/>
              </a:defRPr>
            </a:lvl4pPr>
            <a:lvl5pPr algn="l">
              <a:defRPr sz="2925" b="0">
                <a:solidFill>
                  <a:srgbClr val="182B45"/>
                </a:solidFill>
                <a:latin typeface="Arial"/>
                <a:ea typeface="Arial"/>
                <a:cs typeface="Arial"/>
              </a:defRPr>
            </a:lvl5pPr>
            <a:lvl6pPr algn="l">
              <a:defRPr sz="2925" b="0">
                <a:solidFill>
                  <a:srgbClr val="182B45"/>
                </a:solidFill>
                <a:latin typeface="Arial"/>
                <a:ea typeface="Arial"/>
                <a:cs typeface="Arial"/>
              </a:defRPr>
            </a:lvl6pPr>
            <a:lvl7pPr algn="l">
              <a:defRPr sz="2925" b="0">
                <a:solidFill>
                  <a:srgbClr val="182B45"/>
                </a:solidFill>
                <a:latin typeface="Arial"/>
                <a:ea typeface="Arial"/>
                <a:cs typeface="Arial"/>
              </a:defRPr>
            </a:lvl7pPr>
            <a:lvl8pPr algn="l">
              <a:defRPr sz="2925" b="0">
                <a:solidFill>
                  <a:srgbClr val="182B45"/>
                </a:solidFill>
                <a:latin typeface="Arial"/>
                <a:ea typeface="Arial"/>
                <a:cs typeface="Arial"/>
              </a:defRPr>
            </a:lvl8pPr>
            <a:lvl9pPr algn="l">
              <a:defRPr sz="2925" b="0">
                <a:solidFill>
                  <a:srgbClr val="182B45"/>
                </a:solidFill>
                <a:latin typeface="Arial"/>
                <a:ea typeface="Arial"/>
                <a:cs typeface="Arial"/>
              </a:defRPr>
            </a:lvl9pPr>
          </a:lstStyle>
          <a:p xmlns:a="http://schemas.openxmlformats.org/drawingml/2006/main">
            <a:pPr algn="l">
              <a:defRPr sz="2925" b="0">
                <a:solidFill>
                  <a:srgbClr val="182B45"/>
                </a:solidFill>
                <a:latin typeface="Arial"/>
                <a:ea typeface="Arial"/>
                <a:cs typeface="Arial"/>
              </a:defRPr>
            </a:pPr>
            <a:r>
              <a:rPr sz="2925" b="0">
                <a:solidFill>
                  <a:srgbClr val="182B45"/>
                </a:solidFill>
                <a:latin typeface="Arial"/>
                <a:ea typeface="Arial"/>
                <a:cs typeface="Arial"/>
              </a:rPr>
              <a:t>Approved post-use evaluation procedures, local validation, and final deployment</a:t>
            </a:r>
          </a:p>
        </p:txBody>
      </p:sp>
    </p:spTree>
    <p:extLst>
      <p:ext uri="{BB962C8B-B14F-4D97-AF65-F5344CB8AC3E}">
        <p14:creationId xmlns:p14="http://schemas.microsoft.com/office/powerpoint/2010/main" val="150507077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ction">
            <a:extLst xmlns:a="http://schemas.openxmlformats.org/drawingml/2006/main">
              <a:ext uri="{FF2B5EF4-FFF2-40B4-BE49-F238E27FC236}">
                <a16:creationId xmlns:a16="http://schemas.microsoft.com/office/drawing/2014/main" id="{005A5908-5B97-407E-B6FA-4FAE78DAEABD}"/>
              </a:ext>
            </a:extLst>
          </p:cNvPr>
          <p:cNvSpPr>
            <a:spLocks xmlns:a="http://schemas.openxmlformats.org/drawingml/2006/main" noGrp="1"/>
          </p:cNvSpPr>
          <p:nvPr/>
        </p:nvSpPr>
        <p:spPr>
          <a:xfrm xmlns:a="http://schemas.openxmlformats.org/drawingml/2006/main">
            <a:off x="762000" y="381000"/>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64E91"/>
                </a:solidFill>
                <a:latin typeface="Arial"/>
                <a:ea typeface="Arial"/>
                <a:cs typeface="Arial"/>
              </a:defRPr>
            </a:defPPr>
            <a:lvl1pPr algn="l">
              <a:defRPr sz="1950" b="1">
                <a:solidFill>
                  <a:srgbClr val="164E91"/>
                </a:solidFill>
                <a:latin typeface="Arial"/>
                <a:ea typeface="Arial"/>
                <a:cs typeface="Arial"/>
              </a:defRPr>
            </a:lvl1pPr>
            <a:lvl2pPr algn="l">
              <a:defRPr sz="1950" b="1">
                <a:solidFill>
                  <a:srgbClr val="164E91"/>
                </a:solidFill>
                <a:latin typeface="Arial"/>
                <a:ea typeface="Arial"/>
                <a:cs typeface="Arial"/>
              </a:defRPr>
            </a:lvl2pPr>
            <a:lvl3pPr algn="l">
              <a:defRPr sz="1950" b="1">
                <a:solidFill>
                  <a:srgbClr val="164E91"/>
                </a:solidFill>
                <a:latin typeface="Arial"/>
                <a:ea typeface="Arial"/>
                <a:cs typeface="Arial"/>
              </a:defRPr>
            </a:lvl3pPr>
            <a:lvl4pPr algn="l">
              <a:defRPr sz="1950" b="1">
                <a:solidFill>
                  <a:srgbClr val="164E91"/>
                </a:solidFill>
                <a:latin typeface="Arial"/>
                <a:ea typeface="Arial"/>
                <a:cs typeface="Arial"/>
              </a:defRPr>
            </a:lvl4pPr>
            <a:lvl5pPr algn="l">
              <a:defRPr sz="1950" b="1">
                <a:solidFill>
                  <a:srgbClr val="164E91"/>
                </a:solidFill>
                <a:latin typeface="Arial"/>
                <a:ea typeface="Arial"/>
                <a:cs typeface="Arial"/>
              </a:defRPr>
            </a:lvl5pPr>
            <a:lvl6pPr algn="l">
              <a:defRPr sz="1950" b="1">
                <a:solidFill>
                  <a:srgbClr val="164E91"/>
                </a:solidFill>
                <a:latin typeface="Arial"/>
                <a:ea typeface="Arial"/>
                <a:cs typeface="Arial"/>
              </a:defRPr>
            </a:lvl6pPr>
            <a:lvl7pPr algn="l">
              <a:defRPr sz="1950" b="1">
                <a:solidFill>
                  <a:srgbClr val="164E91"/>
                </a:solidFill>
                <a:latin typeface="Arial"/>
                <a:ea typeface="Arial"/>
                <a:cs typeface="Arial"/>
              </a:defRPr>
            </a:lvl7pPr>
            <a:lvl8pPr algn="l">
              <a:defRPr sz="1950" b="1">
                <a:solidFill>
                  <a:srgbClr val="164E91"/>
                </a:solidFill>
                <a:latin typeface="Arial"/>
                <a:ea typeface="Arial"/>
                <a:cs typeface="Arial"/>
              </a:defRPr>
            </a:lvl8pPr>
            <a:lvl9pPr algn="l">
              <a:defRPr sz="1950" b="1">
                <a:solidFill>
                  <a:srgbClr val="164E91"/>
                </a:solidFill>
                <a:latin typeface="Arial"/>
                <a:ea typeface="Arial"/>
                <a:cs typeface="Arial"/>
              </a:defRPr>
            </a:lvl9pPr>
          </a:lstStyle>
          <a:p xmlns:a="http://schemas.openxmlformats.org/drawingml/2006/main">
            <a:pPr algn="l">
              <a:defRPr sz="1950" b="1">
                <a:solidFill>
                  <a:srgbClr val="164E91"/>
                </a:solidFill>
                <a:latin typeface="Arial"/>
                <a:ea typeface="Arial"/>
                <a:cs typeface="Arial"/>
              </a:defRPr>
            </a:pPr>
            <a:r>
              <a:rPr sz="1950" b="1">
                <a:solidFill>
                  <a:srgbClr val="164E91"/>
                </a:solidFill>
                <a:latin typeface="Arial"/>
                <a:ea typeface="Arial"/>
                <a:cs typeface="Arial"/>
              </a:rPr>
              <a:t>DISCUSSION</a:t>
            </a:r>
          </a:p>
        </p:txBody>
      </p:sp>
      <p:sp>
        <p:nvSpPr>
          <p:cNvPr id="2" name="title">
            <a:extLst xmlns:a="http://schemas.openxmlformats.org/drawingml/2006/main">
              <a:ext uri="{FF2B5EF4-FFF2-40B4-BE49-F238E27FC236}">
                <a16:creationId xmlns:a16="http://schemas.microsoft.com/office/drawing/2014/main" id="{5F03E895-2F4A-47E4-A856-738C255450F6}"/>
              </a:ext>
            </a:extLst>
          </p:cNvPr>
          <p:cNvSpPr>
            <a:spLocks xmlns:a="http://schemas.openxmlformats.org/drawingml/2006/main" noGrp="1"/>
          </p:cNvSpPr>
          <p:nvPr/>
        </p:nvSpPr>
        <p:spPr>
          <a:xfrm xmlns:a="http://schemas.openxmlformats.org/drawingml/2006/main">
            <a:off x="762000" y="895350"/>
            <a:ext cx="13716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64E91"/>
                </a:solidFill>
                <a:latin typeface="Arial"/>
                <a:ea typeface="Arial"/>
                <a:cs typeface="Arial"/>
              </a:defRPr>
            </a:defPPr>
            <a:lvl1pPr algn="l">
              <a:defRPr sz="4200" b="1">
                <a:solidFill>
                  <a:srgbClr val="164E91"/>
                </a:solidFill>
                <a:latin typeface="Arial"/>
                <a:ea typeface="Arial"/>
                <a:cs typeface="Arial"/>
              </a:defRPr>
            </a:lvl1pPr>
            <a:lvl2pPr algn="l">
              <a:defRPr sz="4200" b="1">
                <a:solidFill>
                  <a:srgbClr val="164E91"/>
                </a:solidFill>
                <a:latin typeface="Arial"/>
                <a:ea typeface="Arial"/>
                <a:cs typeface="Arial"/>
              </a:defRPr>
            </a:lvl2pPr>
            <a:lvl3pPr algn="l">
              <a:defRPr sz="4200" b="1">
                <a:solidFill>
                  <a:srgbClr val="164E91"/>
                </a:solidFill>
                <a:latin typeface="Arial"/>
                <a:ea typeface="Arial"/>
                <a:cs typeface="Arial"/>
              </a:defRPr>
            </a:lvl3pPr>
            <a:lvl4pPr algn="l">
              <a:defRPr sz="4200" b="1">
                <a:solidFill>
                  <a:srgbClr val="164E91"/>
                </a:solidFill>
                <a:latin typeface="Arial"/>
                <a:ea typeface="Arial"/>
                <a:cs typeface="Arial"/>
              </a:defRPr>
            </a:lvl4pPr>
            <a:lvl5pPr algn="l">
              <a:defRPr sz="4200" b="1">
                <a:solidFill>
                  <a:srgbClr val="164E91"/>
                </a:solidFill>
                <a:latin typeface="Arial"/>
                <a:ea typeface="Arial"/>
                <a:cs typeface="Arial"/>
              </a:defRPr>
            </a:lvl5pPr>
            <a:lvl6pPr algn="l">
              <a:defRPr sz="4200" b="1">
                <a:solidFill>
                  <a:srgbClr val="164E91"/>
                </a:solidFill>
                <a:latin typeface="Arial"/>
                <a:ea typeface="Arial"/>
                <a:cs typeface="Arial"/>
              </a:defRPr>
            </a:lvl6pPr>
            <a:lvl7pPr algn="l">
              <a:defRPr sz="4200" b="1">
                <a:solidFill>
                  <a:srgbClr val="164E91"/>
                </a:solidFill>
                <a:latin typeface="Arial"/>
                <a:ea typeface="Arial"/>
                <a:cs typeface="Arial"/>
              </a:defRPr>
            </a:lvl7pPr>
            <a:lvl8pPr algn="l">
              <a:defRPr sz="4200" b="1">
                <a:solidFill>
                  <a:srgbClr val="164E91"/>
                </a:solidFill>
                <a:latin typeface="Arial"/>
                <a:ea typeface="Arial"/>
                <a:cs typeface="Arial"/>
              </a:defRPr>
            </a:lvl8pPr>
            <a:lvl9pPr algn="l">
              <a:defRPr sz="4200" b="1">
                <a:solidFill>
                  <a:srgbClr val="164E91"/>
                </a:solidFill>
                <a:latin typeface="Arial"/>
                <a:ea typeface="Arial"/>
                <a:cs typeface="Arial"/>
              </a:defRPr>
            </a:lvl9pPr>
          </a:lstStyle>
          <a:p xmlns:a="http://schemas.openxmlformats.org/drawingml/2006/main">
            <a:pPr algn="l">
              <a:defRPr sz="4200" b="1">
                <a:solidFill>
                  <a:srgbClr val="164E91"/>
                </a:solidFill>
                <a:latin typeface="Arial"/>
                <a:ea typeface="Arial"/>
                <a:cs typeface="Arial"/>
              </a:defRPr>
            </a:pPr>
            <a:r>
              <a:rPr sz="4200" b="1">
                <a:solidFill>
                  <a:srgbClr val="164E91"/>
                </a:solidFill>
                <a:latin typeface="Arial"/>
                <a:ea typeface="Arial"/>
                <a:cs typeface="Arial"/>
              </a:rPr>
              <a:t>FloodSense</a:t>
            </a:r>
          </a:p>
        </p:txBody>
      </p:sp>
      <p:sp>
        <p:nvSpPr>
          <p:cNvPr id="3" name="yellow-accent-rule">
            <a:extLst xmlns:a="http://schemas.openxmlformats.org/drawingml/2006/main">
              <a:ext uri="{FF2B5EF4-FFF2-40B4-BE49-F238E27FC236}">
                <a16:creationId xmlns:a16="http://schemas.microsoft.com/office/drawing/2014/main" id="{FC9AF811-B4A0-4F84-B9D9-FB385CE64618}"/>
              </a:ext>
            </a:extLst>
          </p:cNvPr>
          <p:cNvSpPr>
            <a:spLocks xmlns:a="http://schemas.openxmlformats.org/drawingml/2006/main" noGrp="1"/>
          </p:cNvSpPr>
          <p:nvPr/>
        </p:nvSpPr>
        <p:spPr>
          <a:xfrm xmlns:a="http://schemas.openxmlformats.org/drawingml/2006/main">
            <a:off x="762000" y="2209800"/>
            <a:ext cx="1162050" cy="57150"/>
          </a:xfrm>
          <a:prstGeom xmlns:a="http://schemas.openxmlformats.org/drawingml/2006/main" prst="rect">
            <a:avLst/>
          </a:prstGeom>
          <a:solidFill xmlns:a="http://schemas.openxmlformats.org/drawingml/2006/main">
            <a:srgbClr val="EDC54A"/>
          </a:solidFill>
          <a:ln xmlns:a="http://schemas.openxmlformats.org/drawingml/2006/main" w="0">
            <a:noFill/>
          </a:ln>
        </p:spPr>
      </p:sp>
      <p:sp>
        <p:nvSpPr>
          <p:cNvPr id="4" name="citation">
            <a:extLst xmlns:a="http://schemas.openxmlformats.org/drawingml/2006/main">
              <a:ext uri="{FF2B5EF4-FFF2-40B4-BE49-F238E27FC236}">
                <a16:creationId xmlns:a16="http://schemas.microsoft.com/office/drawing/2014/main" id="{238C0354-FF42-42DF-903D-FBFCCAA096D9}"/>
              </a:ext>
            </a:extLst>
          </p:cNvPr>
          <p:cNvSpPr>
            <a:spLocks xmlns:a="http://schemas.openxmlformats.org/drawingml/2006/main" noGrp="1"/>
          </p:cNvSpPr>
          <p:nvPr/>
        </p:nvSpPr>
        <p:spPr>
          <a:xfrm xmlns:a="http://schemas.openxmlformats.org/drawingml/2006/main">
            <a:off x="762000" y="7991475"/>
            <a:ext cx="1304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276"/>
                </a:solidFill>
                <a:latin typeface="Arial"/>
                <a:ea typeface="Arial"/>
                <a:cs typeface="Arial"/>
              </a:defRPr>
            </a:defPPr>
            <a:lvl1pPr algn="l">
              <a:defRPr sz="1725" b="0">
                <a:solidFill>
                  <a:srgbClr val="526276"/>
                </a:solidFill>
                <a:latin typeface="Arial"/>
                <a:ea typeface="Arial"/>
                <a:cs typeface="Arial"/>
              </a:defRPr>
            </a:lvl1pPr>
            <a:lvl2pPr algn="l">
              <a:defRPr sz="1725" b="0">
                <a:solidFill>
                  <a:srgbClr val="526276"/>
                </a:solidFill>
                <a:latin typeface="Arial"/>
                <a:ea typeface="Arial"/>
                <a:cs typeface="Arial"/>
              </a:defRPr>
            </a:lvl2pPr>
            <a:lvl3pPr algn="l">
              <a:defRPr sz="1725" b="0">
                <a:solidFill>
                  <a:srgbClr val="526276"/>
                </a:solidFill>
                <a:latin typeface="Arial"/>
                <a:ea typeface="Arial"/>
                <a:cs typeface="Arial"/>
              </a:defRPr>
            </a:lvl3pPr>
            <a:lvl4pPr algn="l">
              <a:defRPr sz="1725" b="0">
                <a:solidFill>
                  <a:srgbClr val="526276"/>
                </a:solidFill>
                <a:latin typeface="Arial"/>
                <a:ea typeface="Arial"/>
                <a:cs typeface="Arial"/>
              </a:defRPr>
            </a:lvl4pPr>
            <a:lvl5pPr algn="l">
              <a:defRPr sz="1725" b="0">
                <a:solidFill>
                  <a:srgbClr val="526276"/>
                </a:solidFill>
                <a:latin typeface="Arial"/>
                <a:ea typeface="Arial"/>
                <a:cs typeface="Arial"/>
              </a:defRPr>
            </a:lvl5pPr>
            <a:lvl6pPr algn="l">
              <a:defRPr sz="1725" b="0">
                <a:solidFill>
                  <a:srgbClr val="526276"/>
                </a:solidFill>
                <a:latin typeface="Arial"/>
                <a:ea typeface="Arial"/>
                <a:cs typeface="Arial"/>
              </a:defRPr>
            </a:lvl6pPr>
            <a:lvl7pPr algn="l">
              <a:defRPr sz="1725" b="0">
                <a:solidFill>
                  <a:srgbClr val="526276"/>
                </a:solidFill>
                <a:latin typeface="Arial"/>
                <a:ea typeface="Arial"/>
                <a:cs typeface="Arial"/>
              </a:defRPr>
            </a:lvl7pPr>
            <a:lvl8pPr algn="l">
              <a:defRPr sz="1725" b="0">
                <a:solidFill>
                  <a:srgbClr val="526276"/>
                </a:solidFill>
                <a:latin typeface="Arial"/>
                <a:ea typeface="Arial"/>
                <a:cs typeface="Arial"/>
              </a:defRPr>
            </a:lvl8pPr>
            <a:lvl9pPr algn="l">
              <a:defRPr sz="1725" b="0">
                <a:solidFill>
                  <a:srgbClr val="526276"/>
                </a:solidFill>
                <a:latin typeface="Arial"/>
                <a:ea typeface="Arial"/>
                <a:cs typeface="Arial"/>
              </a:defRPr>
            </a:lvl9pPr>
          </a:lstStyle>
          <a:p xmlns:a="http://schemas.openxmlformats.org/drawingml/2006/main">
            <a:pPr algn="l">
              <a:defRPr sz="1725" b="0">
                <a:solidFill>
                  <a:srgbClr val="526276"/>
                </a:solidFill>
                <a:latin typeface="Arial"/>
                <a:ea typeface="Arial"/>
                <a:cs typeface="Arial"/>
              </a:defRPr>
            </a:pPr>
            <a:r>
              <a:rPr sz="1725" b="0">
                <a:solidFill>
                  <a:srgbClr val="526276"/>
                </a:solidFill>
                <a:latin typeface="Arial"/>
                <a:ea typeface="Arial"/>
                <a:cs typeface="Arial"/>
              </a:rPr>
              <a:t>Chapters 1–3</a:t>
            </a:r>
          </a:p>
        </p:txBody>
      </p:sp>
      <p:sp>
        <p:nvSpPr>
          <p:cNvPr id="5" name="page">
            <a:extLst xmlns:a="http://schemas.openxmlformats.org/drawingml/2006/main">
              <a:ext uri="{FF2B5EF4-FFF2-40B4-BE49-F238E27FC236}">
                <a16:creationId xmlns:a16="http://schemas.microsoft.com/office/drawing/2014/main" id="{8DA56FE7-64BF-4697-9E3E-49D68EA56A98}"/>
              </a:ext>
            </a:extLst>
          </p:cNvPr>
          <p:cNvSpPr>
            <a:spLocks xmlns:a="http://schemas.openxmlformats.org/drawingml/2006/main" noGrp="1"/>
          </p:cNvSpPr>
          <p:nvPr/>
        </p:nvSpPr>
        <p:spPr>
          <a:xfrm xmlns:a="http://schemas.openxmlformats.org/drawingml/2006/main">
            <a:off x="13954125" y="79914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725" b="0">
                <a:solidFill>
                  <a:srgbClr val="526276"/>
                </a:solidFill>
                <a:latin typeface="Arial"/>
                <a:ea typeface="Arial"/>
                <a:cs typeface="Arial"/>
              </a:defRPr>
            </a:defPPr>
            <a:lvl1pPr algn="r">
              <a:defRPr sz="1725" b="0">
                <a:solidFill>
                  <a:srgbClr val="526276"/>
                </a:solidFill>
                <a:latin typeface="Arial"/>
                <a:ea typeface="Arial"/>
                <a:cs typeface="Arial"/>
              </a:defRPr>
            </a:lvl1pPr>
            <a:lvl2pPr algn="r">
              <a:defRPr sz="1725" b="0">
                <a:solidFill>
                  <a:srgbClr val="526276"/>
                </a:solidFill>
                <a:latin typeface="Arial"/>
                <a:ea typeface="Arial"/>
                <a:cs typeface="Arial"/>
              </a:defRPr>
            </a:lvl2pPr>
            <a:lvl3pPr algn="r">
              <a:defRPr sz="1725" b="0">
                <a:solidFill>
                  <a:srgbClr val="526276"/>
                </a:solidFill>
                <a:latin typeface="Arial"/>
                <a:ea typeface="Arial"/>
                <a:cs typeface="Arial"/>
              </a:defRPr>
            </a:lvl3pPr>
            <a:lvl4pPr algn="r">
              <a:defRPr sz="1725" b="0">
                <a:solidFill>
                  <a:srgbClr val="526276"/>
                </a:solidFill>
                <a:latin typeface="Arial"/>
                <a:ea typeface="Arial"/>
                <a:cs typeface="Arial"/>
              </a:defRPr>
            </a:lvl4pPr>
            <a:lvl5pPr algn="r">
              <a:defRPr sz="1725" b="0">
                <a:solidFill>
                  <a:srgbClr val="526276"/>
                </a:solidFill>
                <a:latin typeface="Arial"/>
                <a:ea typeface="Arial"/>
                <a:cs typeface="Arial"/>
              </a:defRPr>
            </a:lvl5pPr>
            <a:lvl6pPr algn="r">
              <a:defRPr sz="1725" b="0">
                <a:solidFill>
                  <a:srgbClr val="526276"/>
                </a:solidFill>
                <a:latin typeface="Arial"/>
                <a:ea typeface="Arial"/>
                <a:cs typeface="Arial"/>
              </a:defRPr>
            </a:lvl6pPr>
            <a:lvl7pPr algn="r">
              <a:defRPr sz="1725" b="0">
                <a:solidFill>
                  <a:srgbClr val="526276"/>
                </a:solidFill>
                <a:latin typeface="Arial"/>
                <a:ea typeface="Arial"/>
                <a:cs typeface="Arial"/>
              </a:defRPr>
            </a:lvl7pPr>
            <a:lvl8pPr algn="r">
              <a:defRPr sz="1725" b="0">
                <a:solidFill>
                  <a:srgbClr val="526276"/>
                </a:solidFill>
                <a:latin typeface="Arial"/>
                <a:ea typeface="Arial"/>
                <a:cs typeface="Arial"/>
              </a:defRPr>
            </a:lvl8pPr>
            <a:lvl9pPr algn="r">
              <a:defRPr sz="1725" b="0">
                <a:solidFill>
                  <a:srgbClr val="526276"/>
                </a:solidFill>
                <a:latin typeface="Arial"/>
                <a:ea typeface="Arial"/>
                <a:cs typeface="Arial"/>
              </a:defRPr>
            </a:lvl9pPr>
          </a:lstStyle>
          <a:p xmlns:a="http://schemas.openxmlformats.org/drawingml/2006/main">
            <a:pPr algn="r">
              <a:defRPr sz="1725" b="0">
                <a:solidFill>
                  <a:srgbClr val="526276"/>
                </a:solidFill>
                <a:latin typeface="Arial"/>
                <a:ea typeface="Arial"/>
                <a:cs typeface="Arial"/>
              </a:defRPr>
            </a:pPr>
            <a:r>
              <a:rPr sz="1725" b="0">
                <a:solidFill>
                  <a:srgbClr val="526276"/>
                </a:solidFill>
                <a:latin typeface="Arial"/>
                <a:ea typeface="Arial"/>
                <a:cs typeface="Arial"/>
              </a:rPr>
              <a:t>51</a:t>
            </a:r>
          </a:p>
        </p:txBody>
      </p:sp>
      <p:sp>
        <p:nvSpPr>
          <p:cNvPr id="6" name="research-focus">
            <a:extLst xmlns:a="http://schemas.openxmlformats.org/drawingml/2006/main">
              <a:ext uri="{FF2B5EF4-FFF2-40B4-BE49-F238E27FC236}">
                <a16:creationId xmlns:a16="http://schemas.microsoft.com/office/drawing/2014/main" id="{4743C2BB-CDA8-4025-8EA4-54D89E7D69EB}"/>
              </a:ext>
            </a:extLst>
          </p:cNvPr>
          <p:cNvSpPr>
            <a:spLocks xmlns:a="http://schemas.openxmlformats.org/drawingml/2006/main" noGrp="1"/>
          </p:cNvSpPr>
          <p:nvPr/>
        </p:nvSpPr>
        <p:spPr>
          <a:xfrm xmlns:a="http://schemas.openxmlformats.org/drawingml/2006/main">
            <a:off x="762000" y="2952750"/>
            <a:ext cx="13716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0">
                <a:solidFill>
                  <a:srgbClr val="182B45"/>
                </a:solidFill>
                <a:latin typeface="Arial"/>
                <a:ea typeface="Arial"/>
                <a:cs typeface="Arial"/>
              </a:defRPr>
            </a:defPPr>
            <a:lvl1pPr algn="l">
              <a:defRPr sz="3600" b="0">
                <a:solidFill>
                  <a:srgbClr val="182B45"/>
                </a:solidFill>
                <a:latin typeface="Arial"/>
                <a:ea typeface="Arial"/>
                <a:cs typeface="Arial"/>
              </a:defRPr>
            </a:lvl1pPr>
            <a:lvl2pPr algn="l">
              <a:defRPr sz="3600" b="0">
                <a:solidFill>
                  <a:srgbClr val="182B45"/>
                </a:solidFill>
                <a:latin typeface="Arial"/>
                <a:ea typeface="Arial"/>
                <a:cs typeface="Arial"/>
              </a:defRPr>
            </a:lvl2pPr>
            <a:lvl3pPr algn="l">
              <a:defRPr sz="3600" b="0">
                <a:solidFill>
                  <a:srgbClr val="182B45"/>
                </a:solidFill>
                <a:latin typeface="Arial"/>
                <a:ea typeface="Arial"/>
                <a:cs typeface="Arial"/>
              </a:defRPr>
            </a:lvl3pPr>
            <a:lvl4pPr algn="l">
              <a:defRPr sz="3600" b="0">
                <a:solidFill>
                  <a:srgbClr val="182B45"/>
                </a:solidFill>
                <a:latin typeface="Arial"/>
                <a:ea typeface="Arial"/>
                <a:cs typeface="Arial"/>
              </a:defRPr>
            </a:lvl4pPr>
            <a:lvl5pPr algn="l">
              <a:defRPr sz="3600" b="0">
                <a:solidFill>
                  <a:srgbClr val="182B45"/>
                </a:solidFill>
                <a:latin typeface="Arial"/>
                <a:ea typeface="Arial"/>
                <a:cs typeface="Arial"/>
              </a:defRPr>
            </a:lvl5pPr>
            <a:lvl6pPr algn="l">
              <a:defRPr sz="3600" b="0">
                <a:solidFill>
                  <a:srgbClr val="182B45"/>
                </a:solidFill>
                <a:latin typeface="Arial"/>
                <a:ea typeface="Arial"/>
                <a:cs typeface="Arial"/>
              </a:defRPr>
            </a:lvl6pPr>
            <a:lvl7pPr algn="l">
              <a:defRPr sz="3600" b="0">
                <a:solidFill>
                  <a:srgbClr val="182B45"/>
                </a:solidFill>
                <a:latin typeface="Arial"/>
                <a:ea typeface="Arial"/>
                <a:cs typeface="Arial"/>
              </a:defRPr>
            </a:lvl7pPr>
            <a:lvl8pPr algn="l">
              <a:defRPr sz="3600" b="0">
                <a:solidFill>
                  <a:srgbClr val="182B45"/>
                </a:solidFill>
                <a:latin typeface="Arial"/>
                <a:ea typeface="Arial"/>
                <a:cs typeface="Arial"/>
              </a:defRPr>
            </a:lvl8pPr>
            <a:lvl9pPr algn="l">
              <a:defRPr sz="3600" b="0">
                <a:solidFill>
                  <a:srgbClr val="182B45"/>
                </a:solidFill>
                <a:latin typeface="Arial"/>
                <a:ea typeface="Arial"/>
                <a:cs typeface="Arial"/>
              </a:defRPr>
            </a:lvl9pPr>
          </a:lstStyle>
          <a:p xmlns:a="http://schemas.openxmlformats.org/drawingml/2006/main">
            <a:pPr algn="l">
              <a:defRPr sz="3600" b="0">
                <a:solidFill>
                  <a:srgbClr val="182B45"/>
                </a:solidFill>
                <a:latin typeface="Arial"/>
                <a:ea typeface="Arial"/>
                <a:cs typeface="Arial"/>
              </a:defRPr>
            </a:pPr>
            <a:r>
              <a:rPr sz="3600" b="0">
                <a:solidFill>
                  <a:srgbClr val="182B45"/>
                </a:solidFill>
                <a:latin typeface="Arial"/>
                <a:ea typeface="Arial"/>
                <a:cs typeface="Arial"/>
              </a:rPr>
              <a:t>Explainable, user-requested susceptibility assessment and pre-event preparedness support in Bacoor City</a:t>
            </a:r>
          </a:p>
        </p:txBody>
      </p:sp>
      <p:sp>
        <p:nvSpPr>
          <p:cNvPr id="7" name="questions">
            <a:extLst xmlns:a="http://schemas.openxmlformats.org/drawingml/2006/main">
              <a:ext uri="{FF2B5EF4-FFF2-40B4-BE49-F238E27FC236}">
                <a16:creationId xmlns:a16="http://schemas.microsoft.com/office/drawing/2014/main" id="{75F7D79E-B9D8-479E-9A4A-CD39A56C8003}"/>
              </a:ext>
            </a:extLst>
          </p:cNvPr>
          <p:cNvSpPr>
            <a:spLocks xmlns:a="http://schemas.openxmlformats.org/drawingml/2006/main" noGrp="1"/>
          </p:cNvSpPr>
          <p:nvPr/>
        </p:nvSpPr>
        <p:spPr>
          <a:xfrm xmlns:a="http://schemas.openxmlformats.org/drawingml/2006/main">
            <a:off x="762000" y="6372225"/>
            <a:ext cx="1371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64E91"/>
                </a:solidFill>
                <a:latin typeface="Arial"/>
                <a:ea typeface="Arial"/>
                <a:cs typeface="Arial"/>
              </a:defRPr>
            </a:defPPr>
            <a:lvl1pPr algn="l">
              <a:defRPr sz="4050" b="1">
                <a:solidFill>
                  <a:srgbClr val="164E91"/>
                </a:solidFill>
                <a:latin typeface="Arial"/>
                <a:ea typeface="Arial"/>
                <a:cs typeface="Arial"/>
              </a:defRPr>
            </a:lvl1pPr>
            <a:lvl2pPr algn="l">
              <a:defRPr sz="4050" b="1">
                <a:solidFill>
                  <a:srgbClr val="164E91"/>
                </a:solidFill>
                <a:latin typeface="Arial"/>
                <a:ea typeface="Arial"/>
                <a:cs typeface="Arial"/>
              </a:defRPr>
            </a:lvl2pPr>
            <a:lvl3pPr algn="l">
              <a:defRPr sz="4050" b="1">
                <a:solidFill>
                  <a:srgbClr val="164E91"/>
                </a:solidFill>
                <a:latin typeface="Arial"/>
                <a:ea typeface="Arial"/>
                <a:cs typeface="Arial"/>
              </a:defRPr>
            </a:lvl3pPr>
            <a:lvl4pPr algn="l">
              <a:defRPr sz="4050" b="1">
                <a:solidFill>
                  <a:srgbClr val="164E91"/>
                </a:solidFill>
                <a:latin typeface="Arial"/>
                <a:ea typeface="Arial"/>
                <a:cs typeface="Arial"/>
              </a:defRPr>
            </a:lvl4pPr>
            <a:lvl5pPr algn="l">
              <a:defRPr sz="4050" b="1">
                <a:solidFill>
                  <a:srgbClr val="164E91"/>
                </a:solidFill>
                <a:latin typeface="Arial"/>
                <a:ea typeface="Arial"/>
                <a:cs typeface="Arial"/>
              </a:defRPr>
            </a:lvl5pPr>
            <a:lvl6pPr algn="l">
              <a:defRPr sz="4050" b="1">
                <a:solidFill>
                  <a:srgbClr val="164E91"/>
                </a:solidFill>
                <a:latin typeface="Arial"/>
                <a:ea typeface="Arial"/>
                <a:cs typeface="Arial"/>
              </a:defRPr>
            </a:lvl6pPr>
            <a:lvl7pPr algn="l">
              <a:defRPr sz="4050" b="1">
                <a:solidFill>
                  <a:srgbClr val="164E91"/>
                </a:solidFill>
                <a:latin typeface="Arial"/>
                <a:ea typeface="Arial"/>
                <a:cs typeface="Arial"/>
              </a:defRPr>
            </a:lvl7pPr>
            <a:lvl8pPr algn="l">
              <a:defRPr sz="4050" b="1">
                <a:solidFill>
                  <a:srgbClr val="164E91"/>
                </a:solidFill>
                <a:latin typeface="Arial"/>
                <a:ea typeface="Arial"/>
                <a:cs typeface="Arial"/>
              </a:defRPr>
            </a:lvl8pPr>
            <a:lvl9pPr algn="l">
              <a:defRPr sz="4050" b="1">
                <a:solidFill>
                  <a:srgbClr val="164E91"/>
                </a:solidFill>
                <a:latin typeface="Arial"/>
                <a:ea typeface="Arial"/>
                <a:cs typeface="Arial"/>
              </a:defRPr>
            </a:lvl9pPr>
          </a:lstStyle>
          <a:p xmlns:a="http://schemas.openxmlformats.org/drawingml/2006/main">
            <a:pPr algn="l">
              <a:defRPr sz="4050" b="1">
                <a:solidFill>
                  <a:srgbClr val="164E91"/>
                </a:solidFill>
                <a:latin typeface="Arial"/>
                <a:ea typeface="Arial"/>
                <a:cs typeface="Arial"/>
              </a:defRPr>
            </a:pPr>
            <a:r>
              <a:rPr sz="4050" b="1">
                <a:solidFill>
                  <a:srgbClr val="164E91"/>
                </a:solidFill>
                <a:latin typeface="Arial"/>
                <a:ea typeface="Arial"/>
                <a:cs typeface="Arial"/>
              </a:rPr>
              <a:t>Questions</a:t>
            </a:r>
          </a:p>
        </p:txBody>
      </p:sp>
    </p:spTree>
    <p:extLst>
      <p:ext uri="{BB962C8B-B14F-4D97-AF65-F5344CB8AC3E}">
        <p14:creationId xmlns:p14="http://schemas.microsoft.com/office/powerpoint/2010/main" val="2084781004"/>
      </p:ext>
    </p:extLst>
  </p:cSld>
</p:sld>
</file>

<file path=ppt/theme/theme1.xml><?xml version="1.0" encoding="utf-8"?>
<a:theme xmlns:a="http://schemas.openxmlformats.org/drawingml/2006/main" name="ChatGPT">
  <a:themeElements>
    <a:clrScheme name="FloodSense Defense">
      <a:dk1>
        <a:srgbClr val="000000"/>
      </a:dk1>
      <a:lt1>
        <a:srgbClr val="FFFFFF"/>
      </a:lt1>
      <a:dk2>
        <a:srgbClr val="182B45"/>
      </a:dk2>
      <a:lt2>
        <a:srgbClr val="E8EEF5"/>
      </a:lt2>
      <a:accent1>
        <a:srgbClr val="164E91"/>
      </a:accent1>
      <a:accent2>
        <a:srgbClr val="EDC54A"/>
      </a:accent2>
      <a:accent3>
        <a:srgbClr val="447AA9"/>
      </a:accent3>
      <a:accent4>
        <a:srgbClr val="7F99B5"/>
      </a:accent4>
      <a:accent5>
        <a:srgbClr val="B8C8D9"/>
      </a:accent5>
      <a:accent6>
        <a:srgbClr val="64768D"/>
      </a:accent6>
      <a:hlink>
        <a:srgbClr val="164E91"/>
      </a:hlink>
      <a:folHlink>
        <a:srgbClr val="164E91"/>
      </a:folHlink>
    </a:clrScheme>
    <a:fontScheme name="">
      <a:majorFont>
        <a:latin typeface="Arial"/>
        <a:ea typeface=""/>
        <a:cs typeface=""/>
      </a:majorFont>
      <a:minorFont>
        <a:latin typeface="Arial"/>
        <a:ea typeface=""/>
        <a:cs typeface=""/>
      </a:minorFont>
    </a:fontScheme>
    <a:fmtScheme name="FloodSense Defens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2026-10-25T17:16:27.6520000Z</dcterms:created>
  <dcterms:modified xsi:type="dcterms:W3CDTF">2026-10-25T17:16:27.6520000Z</dcterms:modified>
</coreProperties>
</file>